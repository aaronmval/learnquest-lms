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528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3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2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8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80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60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58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1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30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86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05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7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Design Concepts and Principles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6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0674"/>
            <a:ext cx="8596668" cy="4785017"/>
          </a:xfrm>
        </p:spPr>
        <p:txBody>
          <a:bodyPr>
            <a:normAutofit/>
          </a:bodyPr>
          <a:lstStyle/>
          <a:p>
            <a:r>
              <a:rPr lang="en-US" dirty="0"/>
              <a:t> lies at the technical kernel of the </a:t>
            </a:r>
            <a:r>
              <a:rPr lang="en-US" dirty="0" smtClean="0"/>
              <a:t>software engineering </a:t>
            </a:r>
            <a:r>
              <a:rPr lang="en-US" dirty="0"/>
              <a:t>process and is applied </a:t>
            </a:r>
            <a:r>
              <a:rPr lang="en-US" dirty="0" smtClean="0"/>
              <a:t>regardless of </a:t>
            </a:r>
            <a:r>
              <a:rPr lang="en-US" dirty="0"/>
              <a:t>the software process model used</a:t>
            </a:r>
          </a:p>
          <a:p>
            <a:r>
              <a:rPr lang="en-US" dirty="0"/>
              <a:t> the first of three technical activities — </a:t>
            </a:r>
            <a:r>
              <a:rPr lang="en-US" dirty="0" smtClean="0"/>
              <a:t>design, code </a:t>
            </a:r>
            <a:r>
              <a:rPr lang="en-US" dirty="0"/>
              <a:t>generation, and testing — required </a:t>
            </a:r>
            <a:r>
              <a:rPr lang="en-US" dirty="0" smtClean="0"/>
              <a:t>in building </a:t>
            </a:r>
            <a:r>
              <a:rPr lang="en-US" dirty="0"/>
              <a:t>and verifying the software</a:t>
            </a:r>
          </a:p>
          <a:p>
            <a:r>
              <a:rPr lang="en-US" dirty="0"/>
              <a:t>iterative process through which </a:t>
            </a:r>
            <a:r>
              <a:rPr lang="en-US" dirty="0" smtClean="0"/>
              <a:t>requirements are </a:t>
            </a:r>
            <a:r>
              <a:rPr lang="en-US" dirty="0"/>
              <a:t>translated into a “blueprint” </a:t>
            </a:r>
            <a:r>
              <a:rPr lang="en-US" dirty="0" smtClean="0"/>
              <a:t>for constructing </a:t>
            </a:r>
            <a:r>
              <a:rPr lang="en-US" dirty="0"/>
              <a:t>the software</a:t>
            </a:r>
          </a:p>
        </p:txBody>
      </p:sp>
    </p:spTree>
    <p:extLst>
      <p:ext uri="{BB962C8B-B14F-4D97-AF65-F5344CB8AC3E}">
        <p14:creationId xmlns:p14="http://schemas.microsoft.com/office/powerpoint/2010/main" val="48810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 descr="http://image.slidesharecdn.com/softwaredesign-120623142511-phpapp02/95/software-design-4-728.jpg?cb=134046158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1260415"/>
            <a:ext cx="7382578" cy="553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76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it is the first of four design </a:t>
            </a:r>
            <a:r>
              <a:rPr lang="en-US" dirty="0" smtClean="0"/>
              <a:t>activities conducted </a:t>
            </a:r>
            <a:r>
              <a:rPr lang="en-US" dirty="0"/>
              <a:t>during software engineering</a:t>
            </a:r>
          </a:p>
          <a:p>
            <a:r>
              <a:rPr lang="en-US" dirty="0"/>
              <a:t> the impact of data structure on </a:t>
            </a:r>
            <a:r>
              <a:rPr lang="en-US" dirty="0" smtClean="0"/>
              <a:t>program structure </a:t>
            </a:r>
            <a:r>
              <a:rPr lang="en-US" dirty="0"/>
              <a:t>and procedural complexity causes </a:t>
            </a:r>
            <a:r>
              <a:rPr lang="en-US" dirty="0" smtClean="0"/>
              <a:t>it to </a:t>
            </a:r>
            <a:r>
              <a:rPr lang="en-US" dirty="0"/>
              <a:t>have a profound influence on </a:t>
            </a:r>
            <a:r>
              <a:rPr lang="en-US" dirty="0" smtClean="0"/>
              <a:t>software quality</a:t>
            </a:r>
            <a:endParaRPr lang="en-US" dirty="0"/>
          </a:p>
          <a:p>
            <a:r>
              <a:rPr lang="en-US" dirty="0"/>
              <a:t>its primary activity is to select </a:t>
            </a:r>
            <a:r>
              <a:rPr lang="en-US" dirty="0" smtClean="0"/>
              <a:t>logical representations </a:t>
            </a:r>
            <a:r>
              <a:rPr lang="en-US" dirty="0"/>
              <a:t>of data objects (</a:t>
            </a:r>
            <a:r>
              <a:rPr lang="en-US" dirty="0" smtClean="0"/>
              <a:t>data structures</a:t>
            </a:r>
            <a:r>
              <a:rPr lang="en-US" dirty="0"/>
              <a:t>) identified during the </a:t>
            </a:r>
            <a:r>
              <a:rPr lang="en-US" dirty="0" smtClean="0"/>
              <a:t>requirements definition </a:t>
            </a:r>
            <a:r>
              <a:rPr lang="en-US" dirty="0"/>
              <a:t>and specification phase</a:t>
            </a:r>
          </a:p>
        </p:txBody>
      </p:sp>
    </p:spTree>
    <p:extLst>
      <p:ext uri="{BB962C8B-B14F-4D97-AF65-F5344CB8AC3E}">
        <p14:creationId xmlns:p14="http://schemas.microsoft.com/office/powerpoint/2010/main" val="262560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its objective is to develop a modular </a:t>
            </a:r>
            <a:r>
              <a:rPr lang="en-US" dirty="0" smtClean="0"/>
              <a:t>program structure </a:t>
            </a:r>
            <a:r>
              <a:rPr lang="en-US" dirty="0"/>
              <a:t>and represent the </a:t>
            </a:r>
            <a:r>
              <a:rPr lang="en-US" dirty="0" smtClean="0"/>
              <a:t>control relationships </a:t>
            </a:r>
            <a:r>
              <a:rPr lang="en-US" dirty="0"/>
              <a:t>between modules</a:t>
            </a:r>
          </a:p>
          <a:p>
            <a:r>
              <a:rPr lang="en-US" dirty="0"/>
              <a:t>melds program structure and data </a:t>
            </a:r>
            <a:r>
              <a:rPr lang="en-US" dirty="0" smtClean="0"/>
              <a:t>structure, defining </a:t>
            </a:r>
            <a:r>
              <a:rPr lang="en-US" dirty="0"/>
              <a:t>interfaces that enable data to </a:t>
            </a:r>
            <a:r>
              <a:rPr lang="en-US" dirty="0" smtClean="0"/>
              <a:t>flow throughout </a:t>
            </a:r>
            <a:r>
              <a:rPr lang="en-US" dirty="0"/>
              <a:t>the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06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focuses on three areas of concern:</a:t>
            </a:r>
          </a:p>
          <a:p>
            <a:r>
              <a:rPr lang="en-US" dirty="0"/>
              <a:t>1. the design of interfaces between </a:t>
            </a:r>
            <a:r>
              <a:rPr lang="en-US" dirty="0" smtClean="0"/>
              <a:t>software modules</a:t>
            </a:r>
            <a:endParaRPr lang="en-US" dirty="0"/>
          </a:p>
          <a:p>
            <a:r>
              <a:rPr lang="en-US" dirty="0"/>
              <a:t>2. the design of interfaces between </a:t>
            </a:r>
            <a:r>
              <a:rPr lang="en-US" dirty="0" smtClean="0"/>
              <a:t>the software </a:t>
            </a:r>
            <a:r>
              <a:rPr lang="en-US" dirty="0"/>
              <a:t>and other nonhuman </a:t>
            </a:r>
            <a:r>
              <a:rPr lang="en-US" dirty="0" smtClean="0"/>
              <a:t>producers and </a:t>
            </a:r>
            <a:r>
              <a:rPr lang="en-US" dirty="0"/>
              <a:t>consumers information</a:t>
            </a:r>
          </a:p>
          <a:p>
            <a:r>
              <a:rPr lang="en-US" dirty="0"/>
              <a:t>3. the design of the interface between </a:t>
            </a:r>
            <a:r>
              <a:rPr lang="en-US" dirty="0" smtClean="0"/>
              <a:t>a human </a:t>
            </a:r>
            <a:r>
              <a:rPr lang="en-US" dirty="0"/>
              <a:t>(the user) and the computer</a:t>
            </a:r>
          </a:p>
        </p:txBody>
      </p:sp>
    </p:spTree>
    <p:extLst>
      <p:ext uri="{BB962C8B-B14F-4D97-AF65-F5344CB8AC3E}">
        <p14:creationId xmlns:p14="http://schemas.microsoft.com/office/powerpoint/2010/main" val="416742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dirty="0" smtClean="0"/>
              <a:t>occurs after data, architectural, and interface designs have been established</a:t>
            </a:r>
          </a:p>
          <a:p>
            <a:r>
              <a:rPr lang="en-US" dirty="0"/>
              <a:t>constructs are composed of the following:</a:t>
            </a:r>
          </a:p>
          <a:p>
            <a:r>
              <a:rPr lang="en-US" dirty="0"/>
              <a:t> sequence — implements processing steps </a:t>
            </a:r>
            <a:r>
              <a:rPr lang="en-US" dirty="0" smtClean="0"/>
              <a:t>that are </a:t>
            </a:r>
            <a:r>
              <a:rPr lang="en-US" dirty="0"/>
              <a:t>essential in the specification of </a:t>
            </a:r>
            <a:r>
              <a:rPr lang="en-US" dirty="0" smtClean="0"/>
              <a:t>any algorithm</a:t>
            </a:r>
            <a:endParaRPr lang="en-US" dirty="0"/>
          </a:p>
          <a:p>
            <a:r>
              <a:rPr lang="en-US" dirty="0"/>
              <a:t> condition — provides the facility for </a:t>
            </a:r>
            <a:r>
              <a:rPr lang="en-US" dirty="0" smtClean="0"/>
              <a:t>selected processing </a:t>
            </a:r>
            <a:r>
              <a:rPr lang="en-US" dirty="0"/>
              <a:t>based on some logical occurrence</a:t>
            </a:r>
          </a:p>
          <a:p>
            <a:r>
              <a:rPr lang="en-US" dirty="0"/>
              <a:t> repetition — provides for looping</a:t>
            </a:r>
          </a:p>
          <a:p>
            <a:r>
              <a:rPr lang="en-US" dirty="0"/>
              <a:t> structured programming — an </a:t>
            </a:r>
            <a:r>
              <a:rPr lang="en-US" dirty="0" smtClean="0"/>
              <a:t>important procedural </a:t>
            </a:r>
            <a:r>
              <a:rPr lang="en-US" dirty="0"/>
              <a:t>design technique</a:t>
            </a:r>
          </a:p>
        </p:txBody>
      </p:sp>
    </p:spTree>
    <p:extLst>
      <p:ext uri="{BB962C8B-B14F-4D97-AF65-F5344CB8AC3E}">
        <p14:creationId xmlns:p14="http://schemas.microsoft.com/office/powerpoint/2010/main" val="3270535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/>
              <a:t> </a:t>
            </a:r>
            <a:r>
              <a:rPr lang="en-US" dirty="0" smtClean="0"/>
              <a:t>Abstraction</a:t>
            </a:r>
            <a:endParaRPr lang="en-US" dirty="0"/>
          </a:p>
          <a:p>
            <a:pPr algn="ctr"/>
            <a:r>
              <a:rPr lang="en-US" dirty="0"/>
              <a:t> Modularity</a:t>
            </a:r>
          </a:p>
          <a:p>
            <a:pPr algn="ctr"/>
            <a:r>
              <a:rPr lang="en-US" dirty="0"/>
              <a:t> Software Architecture</a:t>
            </a:r>
          </a:p>
          <a:p>
            <a:pPr algn="ctr"/>
            <a:r>
              <a:rPr lang="en-US" dirty="0"/>
              <a:t> Control Hierarchy</a:t>
            </a:r>
          </a:p>
          <a:p>
            <a:pPr algn="ctr"/>
            <a:r>
              <a:rPr lang="en-US" dirty="0" smtClean="0"/>
              <a:t> Structural Partitioning</a:t>
            </a:r>
          </a:p>
          <a:p>
            <a:pPr algn="ctr"/>
            <a:r>
              <a:rPr lang="en-US" dirty="0" smtClean="0"/>
              <a:t> Data Structure</a:t>
            </a:r>
          </a:p>
          <a:p>
            <a:pPr algn="ctr"/>
            <a:r>
              <a:rPr lang="en-US" i="1" dirty="0" smtClean="0"/>
              <a:t>Design </a:t>
            </a:r>
            <a:r>
              <a:rPr lang="en-US" i="1" dirty="0"/>
              <a:t>Concepts</a:t>
            </a:r>
          </a:p>
          <a:p>
            <a:pPr algn="ctr"/>
            <a:r>
              <a:rPr lang="en-US" dirty="0" smtClean="0"/>
              <a:t>Software </a:t>
            </a:r>
            <a:r>
              <a:rPr lang="en-US" dirty="0"/>
              <a:t>Procedure</a:t>
            </a:r>
          </a:p>
          <a:p>
            <a:pPr algn="ctr"/>
            <a:r>
              <a:rPr lang="en-US" dirty="0"/>
              <a:t> Information Hiding</a:t>
            </a:r>
          </a:p>
        </p:txBody>
      </p:sp>
    </p:spTree>
    <p:extLst>
      <p:ext uri="{BB962C8B-B14F-4D97-AF65-F5344CB8AC3E}">
        <p14:creationId xmlns:p14="http://schemas.microsoft.com/office/powerpoint/2010/main" val="1394298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Procedural abstraction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named </a:t>
            </a:r>
            <a:r>
              <a:rPr lang="en-US" dirty="0"/>
              <a:t>sequence of instructions that has </a:t>
            </a:r>
            <a:r>
              <a:rPr lang="en-US" dirty="0" smtClean="0"/>
              <a:t>a specific </a:t>
            </a:r>
            <a:r>
              <a:rPr lang="en-US" dirty="0"/>
              <a:t>and limited function</a:t>
            </a:r>
          </a:p>
          <a:p>
            <a:r>
              <a:rPr lang="en-US" dirty="0"/>
              <a:t>Data abstraction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named </a:t>
            </a:r>
            <a:r>
              <a:rPr lang="en-US" dirty="0"/>
              <a:t>collection of data that describes a </a:t>
            </a:r>
            <a:r>
              <a:rPr lang="en-US" dirty="0" smtClean="0"/>
              <a:t>data object</a:t>
            </a:r>
            <a:endParaRPr lang="en-US" dirty="0"/>
          </a:p>
          <a:p>
            <a:r>
              <a:rPr lang="en-US" dirty="0" smtClean="0"/>
              <a:t>Control </a:t>
            </a:r>
            <a:r>
              <a:rPr lang="en-US" dirty="0"/>
              <a:t>abstraction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implies </a:t>
            </a:r>
            <a:r>
              <a:rPr lang="en-US" dirty="0"/>
              <a:t>a program control mechanism </a:t>
            </a:r>
            <a:r>
              <a:rPr lang="en-US" dirty="0" smtClean="0"/>
              <a:t>without specifying </a:t>
            </a:r>
            <a:r>
              <a:rPr lang="en-US" dirty="0"/>
              <a:t>internal details</a:t>
            </a:r>
          </a:p>
        </p:txBody>
      </p:sp>
    </p:spTree>
    <p:extLst>
      <p:ext uri="{BB962C8B-B14F-4D97-AF65-F5344CB8AC3E}">
        <p14:creationId xmlns:p14="http://schemas.microsoft.com/office/powerpoint/2010/main" val="421666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Stepwise refinement is a top-down </a:t>
            </a:r>
            <a:r>
              <a:rPr lang="en-US" dirty="0" smtClean="0"/>
              <a:t>design strategy </a:t>
            </a:r>
            <a:r>
              <a:rPr lang="en-US" dirty="0"/>
              <a:t>originally proposed by </a:t>
            </a:r>
            <a:r>
              <a:rPr lang="en-US" dirty="0" err="1"/>
              <a:t>Niklaus</a:t>
            </a:r>
            <a:r>
              <a:rPr lang="en-US" dirty="0"/>
              <a:t> Wirth</a:t>
            </a:r>
          </a:p>
          <a:p>
            <a:r>
              <a:rPr lang="en-US" dirty="0" smtClean="0"/>
              <a:t>causes </a:t>
            </a:r>
            <a:r>
              <a:rPr lang="en-US" dirty="0"/>
              <a:t>the designer to elaborate on </a:t>
            </a:r>
            <a:r>
              <a:rPr lang="en-US" dirty="0" smtClean="0"/>
              <a:t>the original </a:t>
            </a:r>
            <a:r>
              <a:rPr lang="en-US" dirty="0"/>
              <a:t>statement, providing more and </a:t>
            </a:r>
            <a:r>
              <a:rPr lang="en-US" dirty="0" smtClean="0"/>
              <a:t>more detail </a:t>
            </a:r>
            <a:r>
              <a:rPr lang="en-US" dirty="0"/>
              <a:t>as each successive refinement occurs</a:t>
            </a:r>
          </a:p>
          <a:p>
            <a:r>
              <a:rPr lang="en-US" dirty="0" smtClean="0"/>
              <a:t>helps </a:t>
            </a:r>
            <a:r>
              <a:rPr lang="en-US" dirty="0"/>
              <a:t>the designer to reveal low-level </a:t>
            </a:r>
            <a:r>
              <a:rPr lang="en-US" dirty="0" smtClean="0"/>
              <a:t>details as </a:t>
            </a:r>
            <a:r>
              <a:rPr lang="en-US" dirty="0"/>
              <a:t>design </a:t>
            </a:r>
            <a:r>
              <a:rPr lang="en-US" dirty="0" smtClean="0"/>
              <a:t>progresses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6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division of software into separately </a:t>
            </a:r>
            <a:r>
              <a:rPr lang="en-US" dirty="0" smtClean="0"/>
              <a:t>named and </a:t>
            </a:r>
            <a:r>
              <a:rPr lang="en-US" dirty="0"/>
              <a:t>addressable components (</a:t>
            </a:r>
            <a:r>
              <a:rPr lang="en-US" dirty="0" smtClean="0"/>
              <a:t>modules) integrated </a:t>
            </a:r>
            <a:r>
              <a:rPr lang="en-US" dirty="0"/>
              <a:t>to satisfy problem requirements</a:t>
            </a:r>
          </a:p>
          <a:p>
            <a:r>
              <a:rPr lang="en-US" dirty="0"/>
              <a:t> the single attribute of software that allows </a:t>
            </a:r>
            <a:r>
              <a:rPr lang="en-US" dirty="0" smtClean="0"/>
              <a:t>a program </a:t>
            </a:r>
            <a:r>
              <a:rPr lang="en-US" dirty="0"/>
              <a:t>to be intellectually manageable</a:t>
            </a:r>
          </a:p>
        </p:txBody>
      </p:sp>
    </p:spTree>
    <p:extLst>
      <p:ext uri="{BB962C8B-B14F-4D97-AF65-F5344CB8AC3E}">
        <p14:creationId xmlns:p14="http://schemas.microsoft.com/office/powerpoint/2010/main" val="3397920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alludes to “the overall structure of </a:t>
            </a:r>
            <a:r>
              <a:rPr lang="en-US" dirty="0" smtClean="0"/>
              <a:t>the software </a:t>
            </a:r>
            <a:r>
              <a:rPr lang="en-US" dirty="0"/>
              <a:t>and the ways in which that </a:t>
            </a:r>
            <a:r>
              <a:rPr lang="en-US" dirty="0" smtClean="0"/>
              <a:t>structure provides </a:t>
            </a:r>
            <a:r>
              <a:rPr lang="en-US" dirty="0"/>
              <a:t>conceptual integrity for a system”</a:t>
            </a:r>
          </a:p>
          <a:p>
            <a:r>
              <a:rPr lang="en-US" dirty="0"/>
              <a:t> the hierarchical structure of </a:t>
            </a:r>
            <a:r>
              <a:rPr lang="en-US" dirty="0" smtClean="0"/>
              <a:t>program components </a:t>
            </a:r>
            <a:r>
              <a:rPr lang="en-US" dirty="0"/>
              <a:t>(modules), the manner in </a:t>
            </a:r>
            <a:r>
              <a:rPr lang="en-US" dirty="0" smtClean="0"/>
              <a:t>which these </a:t>
            </a:r>
            <a:r>
              <a:rPr lang="en-US" dirty="0"/>
              <a:t>components interact, and the </a:t>
            </a:r>
            <a:r>
              <a:rPr lang="en-US" dirty="0" smtClean="0"/>
              <a:t>structure of </a:t>
            </a:r>
            <a:r>
              <a:rPr lang="en-US" dirty="0"/>
              <a:t>the data that are used by the components</a:t>
            </a:r>
          </a:p>
        </p:txBody>
      </p:sp>
    </p:spTree>
    <p:extLst>
      <p:ext uri="{BB962C8B-B14F-4D97-AF65-F5344CB8AC3E}">
        <p14:creationId xmlns:p14="http://schemas.microsoft.com/office/powerpoint/2010/main" val="136638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also called program structure</a:t>
            </a:r>
          </a:p>
          <a:p>
            <a:r>
              <a:rPr lang="en-US" dirty="0"/>
              <a:t> represents the organization (</a:t>
            </a:r>
            <a:r>
              <a:rPr lang="en-US" dirty="0" smtClean="0"/>
              <a:t>often hierarchical</a:t>
            </a:r>
            <a:r>
              <a:rPr lang="en-US" dirty="0"/>
              <a:t>) of program </a:t>
            </a:r>
            <a:r>
              <a:rPr lang="en-US" dirty="0" smtClean="0"/>
              <a:t>components (modules</a:t>
            </a:r>
            <a:r>
              <a:rPr lang="en-US" dirty="0"/>
              <a:t>) and implies a hierarchy of control</a:t>
            </a:r>
          </a:p>
          <a:p>
            <a:r>
              <a:rPr lang="en-US" dirty="0"/>
              <a:t> does not represent procedural aspects </a:t>
            </a:r>
            <a:r>
              <a:rPr lang="en-US" dirty="0" smtClean="0"/>
              <a:t>of software </a:t>
            </a:r>
            <a:r>
              <a:rPr lang="en-US" dirty="0"/>
              <a:t>such as sequence of </a:t>
            </a:r>
            <a:r>
              <a:rPr lang="en-US" dirty="0" smtClean="0"/>
              <a:t>processes, occurrence/order </a:t>
            </a:r>
            <a:r>
              <a:rPr lang="en-US" dirty="0"/>
              <a:t>of decisions, or repetition </a:t>
            </a:r>
            <a:r>
              <a:rPr lang="en-US" dirty="0" smtClean="0"/>
              <a:t>of operations</a:t>
            </a:r>
            <a:endParaRPr lang="en-US" dirty="0"/>
          </a:p>
          <a:p>
            <a:r>
              <a:rPr lang="en-US" dirty="0"/>
              <a:t> also represents two subtly </a:t>
            </a:r>
            <a:r>
              <a:rPr lang="en-US" dirty="0" smtClean="0"/>
              <a:t>different characteristics </a:t>
            </a:r>
            <a:r>
              <a:rPr lang="en-US" dirty="0"/>
              <a:t>of the software </a:t>
            </a:r>
            <a:r>
              <a:rPr lang="en-US" dirty="0" smtClean="0"/>
              <a:t>architecture: visibility </a:t>
            </a:r>
            <a:r>
              <a:rPr lang="en-US" dirty="0"/>
              <a:t>and connectivity</a:t>
            </a:r>
          </a:p>
        </p:txBody>
      </p:sp>
    </p:spTree>
    <p:extLst>
      <p:ext uri="{BB962C8B-B14F-4D97-AF65-F5344CB8AC3E}">
        <p14:creationId xmlns:p14="http://schemas.microsoft.com/office/powerpoint/2010/main" val="1116613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Structural Partitioning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Horizontal partitioning defines </a:t>
            </a:r>
            <a:r>
              <a:rPr lang="en-US" dirty="0" smtClean="0"/>
              <a:t>separate branches </a:t>
            </a:r>
            <a:r>
              <a:rPr lang="en-US" dirty="0"/>
              <a:t>of the modular hierarchy for </a:t>
            </a:r>
            <a:r>
              <a:rPr lang="en-US" dirty="0" smtClean="0"/>
              <a:t>each major </a:t>
            </a:r>
            <a:r>
              <a:rPr lang="en-US" dirty="0"/>
              <a:t>program function.</a:t>
            </a:r>
          </a:p>
          <a:p>
            <a:r>
              <a:rPr lang="en-US" dirty="0"/>
              <a:t> Vertical partitioning, often called </a:t>
            </a:r>
            <a:r>
              <a:rPr lang="en-US" dirty="0" smtClean="0"/>
              <a:t>factoring, suggests </a:t>
            </a:r>
            <a:r>
              <a:rPr lang="en-US" dirty="0"/>
              <a:t>that control (decision making) </a:t>
            </a:r>
            <a:r>
              <a:rPr lang="en-US" dirty="0" smtClean="0"/>
              <a:t>and work </a:t>
            </a:r>
            <a:r>
              <a:rPr lang="en-US" dirty="0"/>
              <a:t>should be distributed top-down in </a:t>
            </a:r>
            <a:r>
              <a:rPr lang="en-US" dirty="0" smtClean="0"/>
              <a:t>the program </a:t>
            </a:r>
            <a:r>
              <a:rPr lang="en-US" dirty="0"/>
              <a:t>architecture.</a:t>
            </a:r>
          </a:p>
        </p:txBody>
      </p:sp>
    </p:spTree>
    <p:extLst>
      <p:ext uri="{BB962C8B-B14F-4D97-AF65-F5344CB8AC3E}">
        <p14:creationId xmlns:p14="http://schemas.microsoft.com/office/powerpoint/2010/main" val="891282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representation of the logical </a:t>
            </a:r>
            <a:r>
              <a:rPr lang="en-US" dirty="0" smtClean="0"/>
              <a:t>relationship among </a:t>
            </a:r>
            <a:r>
              <a:rPr lang="en-US" dirty="0"/>
              <a:t>individual elements of data</a:t>
            </a:r>
          </a:p>
          <a:p>
            <a:r>
              <a:rPr lang="en-US" dirty="0"/>
              <a:t> as important as program structure to </a:t>
            </a:r>
            <a:r>
              <a:rPr lang="en-US" dirty="0" smtClean="0"/>
              <a:t>the representation </a:t>
            </a:r>
            <a:r>
              <a:rPr lang="en-US" dirty="0"/>
              <a:t>of software architecture</a:t>
            </a:r>
          </a:p>
          <a:p>
            <a:r>
              <a:rPr lang="en-US" dirty="0"/>
              <a:t> dictates the organization, methods of </a:t>
            </a:r>
            <a:r>
              <a:rPr lang="en-US" dirty="0" smtClean="0"/>
              <a:t>access, degree </a:t>
            </a:r>
            <a:r>
              <a:rPr lang="en-US" dirty="0"/>
              <a:t>of associativity, and </a:t>
            </a:r>
            <a:r>
              <a:rPr lang="en-US" dirty="0" smtClean="0"/>
              <a:t>processing alternatives </a:t>
            </a:r>
            <a:r>
              <a:rPr lang="en-US" dirty="0"/>
              <a:t>for information</a:t>
            </a:r>
          </a:p>
          <a:p>
            <a:r>
              <a:rPr lang="en-US" dirty="0" smtClean="0"/>
              <a:t>its </a:t>
            </a:r>
            <a:r>
              <a:rPr lang="en-US" dirty="0"/>
              <a:t>organization and complexity are </a:t>
            </a:r>
            <a:r>
              <a:rPr lang="en-US" dirty="0" smtClean="0"/>
              <a:t>limited only </a:t>
            </a:r>
            <a:r>
              <a:rPr lang="en-US" dirty="0"/>
              <a:t>by the ingenuity of the designer</a:t>
            </a:r>
          </a:p>
        </p:txBody>
      </p:sp>
    </p:spTree>
    <p:extLst>
      <p:ext uri="{BB962C8B-B14F-4D97-AF65-F5344CB8AC3E}">
        <p14:creationId xmlns:p14="http://schemas.microsoft.com/office/powerpoint/2010/main" val="2774813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focuses on the processing details of </a:t>
            </a:r>
            <a:r>
              <a:rPr lang="en-US" dirty="0" smtClean="0"/>
              <a:t>each module </a:t>
            </a:r>
            <a:r>
              <a:rPr lang="en-US" dirty="0"/>
              <a:t>individually</a:t>
            </a:r>
          </a:p>
          <a:p>
            <a:r>
              <a:rPr lang="en-US" dirty="0"/>
              <a:t> must provide a precise specification </a:t>
            </a:r>
            <a:r>
              <a:rPr lang="en-US" dirty="0" smtClean="0"/>
              <a:t>of processing</a:t>
            </a:r>
            <a:r>
              <a:rPr lang="en-US" dirty="0"/>
              <a:t>, including sequence of </a:t>
            </a:r>
            <a:r>
              <a:rPr lang="en-US" dirty="0" smtClean="0"/>
              <a:t>events, exact </a:t>
            </a:r>
            <a:r>
              <a:rPr lang="en-US" dirty="0"/>
              <a:t>decision points, repetitive </a:t>
            </a:r>
            <a:r>
              <a:rPr lang="en-US" dirty="0" smtClean="0"/>
              <a:t>operations, and </a:t>
            </a:r>
            <a:r>
              <a:rPr lang="en-US" dirty="0"/>
              <a:t>even data organization/structure</a:t>
            </a:r>
          </a:p>
        </p:txBody>
      </p:sp>
    </p:spTree>
    <p:extLst>
      <p:ext uri="{BB962C8B-B14F-4D97-AF65-F5344CB8AC3E}">
        <p14:creationId xmlns:p14="http://schemas.microsoft.com/office/powerpoint/2010/main" val="2592961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Hiding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modules should be specified and designed </a:t>
            </a:r>
            <a:r>
              <a:rPr lang="en-US" dirty="0" smtClean="0"/>
              <a:t>so that </a:t>
            </a:r>
            <a:r>
              <a:rPr lang="en-US" dirty="0"/>
              <a:t>information (procedure and </a:t>
            </a:r>
            <a:r>
              <a:rPr lang="en-US" dirty="0" smtClean="0"/>
              <a:t>data) contained </a:t>
            </a:r>
            <a:r>
              <a:rPr lang="en-US" dirty="0"/>
              <a:t>within a module is inaccessible </a:t>
            </a:r>
            <a:r>
              <a:rPr lang="en-US" dirty="0" smtClean="0"/>
              <a:t>to other </a:t>
            </a:r>
            <a:r>
              <a:rPr lang="en-US" dirty="0"/>
              <a:t>modules that have no need for </a:t>
            </a:r>
            <a:r>
              <a:rPr lang="en-US" dirty="0" smtClean="0"/>
              <a:t>such information</a:t>
            </a:r>
            <a:endParaRPr lang="en-US" dirty="0"/>
          </a:p>
          <a:p>
            <a:r>
              <a:rPr lang="en-US" dirty="0"/>
              <a:t> implies that effective modularity can </a:t>
            </a:r>
            <a:r>
              <a:rPr lang="en-US" dirty="0" smtClean="0"/>
              <a:t>be achieved </a:t>
            </a:r>
            <a:r>
              <a:rPr lang="en-US" dirty="0"/>
              <a:t>by defining a set of </a:t>
            </a:r>
            <a:r>
              <a:rPr lang="en-US" dirty="0" smtClean="0"/>
              <a:t>independent modules </a:t>
            </a:r>
            <a:r>
              <a:rPr lang="en-US" dirty="0"/>
              <a:t>that communicate with one </a:t>
            </a:r>
            <a:r>
              <a:rPr lang="en-US" dirty="0" smtClean="0"/>
              <a:t>another only </a:t>
            </a:r>
            <a:r>
              <a:rPr lang="en-US" dirty="0"/>
              <a:t>that information that is necessary </a:t>
            </a:r>
            <a:r>
              <a:rPr lang="en-US" dirty="0" smtClean="0"/>
              <a:t>to achieve </a:t>
            </a:r>
            <a:r>
              <a:rPr lang="en-US" dirty="0"/>
              <a:t>software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9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cohesive module performs a single task </a:t>
            </a:r>
            <a:r>
              <a:rPr lang="en-US" dirty="0" smtClean="0"/>
              <a:t>within a </a:t>
            </a:r>
            <a:r>
              <a:rPr lang="en-US" dirty="0"/>
              <a:t>software procedure, requiring </a:t>
            </a:r>
            <a:r>
              <a:rPr lang="en-US" dirty="0" smtClean="0"/>
              <a:t>little interaction </a:t>
            </a:r>
            <a:r>
              <a:rPr lang="en-US" dirty="0"/>
              <a:t>with procedures being </a:t>
            </a:r>
            <a:r>
              <a:rPr lang="en-US" dirty="0" smtClean="0"/>
              <a:t>performed in </a:t>
            </a:r>
            <a:r>
              <a:rPr lang="en-US" dirty="0"/>
              <a:t>other parts of a program</a:t>
            </a:r>
          </a:p>
          <a:p>
            <a:r>
              <a:rPr lang="en-US" dirty="0"/>
              <a:t>may be represented as a “spectrum”</a:t>
            </a:r>
          </a:p>
          <a:p>
            <a:r>
              <a:rPr lang="en-US" dirty="0" smtClean="0"/>
              <a:t>A </a:t>
            </a:r>
            <a:r>
              <a:rPr lang="en-US" dirty="0"/>
              <a:t>module that performs a set of tasks </a:t>
            </a:r>
            <a:r>
              <a:rPr lang="en-US" dirty="0" smtClean="0"/>
              <a:t>that relate </a:t>
            </a:r>
            <a:r>
              <a:rPr lang="en-US" dirty="0"/>
              <a:t>to each other loosely, if at all, is </a:t>
            </a:r>
            <a:r>
              <a:rPr lang="en-US" dirty="0" smtClean="0"/>
              <a:t>termed coincidentally </a:t>
            </a:r>
            <a:r>
              <a:rPr lang="en-US" dirty="0"/>
              <a:t>cohesive.</a:t>
            </a:r>
          </a:p>
        </p:txBody>
      </p:sp>
    </p:spTree>
    <p:extLst>
      <p:ext uri="{BB962C8B-B14F-4D97-AF65-F5344CB8AC3E}">
        <p14:creationId xmlns:p14="http://schemas.microsoft.com/office/powerpoint/2010/main" val="2700797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://www.cs.unc.edu/%7Estotts/COMP145/cohesio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061451"/>
            <a:ext cx="8596668" cy="514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438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measure of interconnection among modules </a:t>
            </a:r>
            <a:r>
              <a:rPr lang="en-US" dirty="0" smtClean="0"/>
              <a:t>in a </a:t>
            </a:r>
            <a:r>
              <a:rPr lang="en-US" dirty="0"/>
              <a:t>program structure</a:t>
            </a:r>
          </a:p>
          <a:p>
            <a:r>
              <a:rPr lang="en-US" dirty="0"/>
              <a:t> may also be represented on a spectrum</a:t>
            </a:r>
          </a:p>
          <a:p>
            <a:r>
              <a:rPr lang="en-US" dirty="0"/>
              <a:t> depends on the interface complexity </a:t>
            </a:r>
            <a:r>
              <a:rPr lang="en-US" dirty="0" smtClean="0"/>
              <a:t>between modules</a:t>
            </a:r>
            <a:r>
              <a:rPr lang="en-US" dirty="0"/>
              <a:t>, the point at which entry or </a:t>
            </a:r>
            <a:r>
              <a:rPr lang="en-US" dirty="0" smtClean="0"/>
              <a:t>reference is </a:t>
            </a:r>
            <a:r>
              <a:rPr lang="en-US" dirty="0"/>
              <a:t>made to a module, and what data </a:t>
            </a:r>
            <a:r>
              <a:rPr lang="en-US" dirty="0" smtClean="0"/>
              <a:t>pass across </a:t>
            </a:r>
            <a:r>
              <a:rPr lang="en-US" dirty="0"/>
              <a:t>the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7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upload.wikimedia.org/wikipedia/commons/thumb/9/9c/Coupling_sketches_cropped_1.svg/300px-Coupling_sketches_cropped_1.svg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61" y="609600"/>
            <a:ext cx="7760813" cy="582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8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855</Words>
  <Application>Microsoft Office PowerPoint</Application>
  <PresentationFormat>Widescreen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Software Engineering</vt:lpstr>
      <vt:lpstr>Software Design</vt:lpstr>
      <vt:lpstr>Software Design </vt:lpstr>
      <vt:lpstr>Data Design</vt:lpstr>
      <vt:lpstr>Architectural Design</vt:lpstr>
      <vt:lpstr>Interface Design</vt:lpstr>
      <vt:lpstr>Procedural Design</vt:lpstr>
      <vt:lpstr>Design Concepts</vt:lpstr>
      <vt:lpstr>Levels of Abstraction</vt:lpstr>
      <vt:lpstr>Refinement</vt:lpstr>
      <vt:lpstr>Modularity</vt:lpstr>
      <vt:lpstr>Software Architecture</vt:lpstr>
      <vt:lpstr>Control Hierarchy</vt:lpstr>
      <vt:lpstr>Structural Partitioning </vt:lpstr>
      <vt:lpstr>Data Structure</vt:lpstr>
      <vt:lpstr>Software Procedure</vt:lpstr>
      <vt:lpstr>Information Hiding</vt:lpstr>
      <vt:lpstr>Cohesion</vt:lpstr>
      <vt:lpstr>PowerPoint Presentation</vt:lpstr>
      <vt:lpstr>Coupling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Gabby</dc:creator>
  <cp:lastModifiedBy>lenovo</cp:lastModifiedBy>
  <cp:revision>76</cp:revision>
  <dcterms:created xsi:type="dcterms:W3CDTF">2016-06-21T23:41:49Z</dcterms:created>
  <dcterms:modified xsi:type="dcterms:W3CDTF">2020-07-11T05:57:42Z</dcterms:modified>
</cp:coreProperties>
</file>