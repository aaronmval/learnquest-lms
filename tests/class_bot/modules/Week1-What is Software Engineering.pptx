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8" r:id="rId1"/>
  </p:sldMasterIdLst>
  <p:notesMasterIdLst>
    <p:notesMasterId r:id="rId27"/>
  </p:notesMasterIdLst>
  <p:sldIdLst>
    <p:sldId id="256" r:id="rId2"/>
    <p:sldId id="273" r:id="rId3"/>
    <p:sldId id="257" r:id="rId4"/>
    <p:sldId id="258" r:id="rId5"/>
    <p:sldId id="260" r:id="rId6"/>
    <p:sldId id="261" r:id="rId7"/>
    <p:sldId id="263" r:id="rId8"/>
    <p:sldId id="284" r:id="rId9"/>
    <p:sldId id="264" r:id="rId10"/>
    <p:sldId id="265" r:id="rId11"/>
    <p:sldId id="266" r:id="rId12"/>
    <p:sldId id="277" r:id="rId13"/>
    <p:sldId id="278" r:id="rId14"/>
    <p:sldId id="279" r:id="rId15"/>
    <p:sldId id="274" r:id="rId16"/>
    <p:sldId id="275" r:id="rId17"/>
    <p:sldId id="267" r:id="rId18"/>
    <p:sldId id="268" r:id="rId19"/>
    <p:sldId id="269" r:id="rId20"/>
    <p:sldId id="271" r:id="rId21"/>
    <p:sldId id="272" r:id="rId22"/>
    <p:sldId id="283" r:id="rId23"/>
    <p:sldId id="285" r:id="rId24"/>
    <p:sldId id="286" r:id="rId25"/>
    <p:sldId id="287"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89" autoAdjust="0"/>
    <p:restoredTop sz="76633" autoAdjust="0"/>
  </p:normalViewPr>
  <p:slideViewPr>
    <p:cSldViewPr snapToGrid="0">
      <p:cViewPr>
        <p:scale>
          <a:sx n="80" d="100"/>
          <a:sy n="80" d="100"/>
        </p:scale>
        <p:origin x="648" y="-3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B084D6-AF37-40C9-B32C-F48D2A73D08D}" type="datetimeFigureOut">
              <a:rPr lang="en-US" smtClean="0"/>
              <a:t>8/30/2024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18707B-B2F6-45B1-ADDD-9F9AD0FE37CF}" type="slidenum">
              <a:rPr lang="en-US" smtClean="0"/>
              <a:t>‹#›</a:t>
            </a:fld>
            <a:endParaRPr lang="en-US"/>
          </a:p>
        </p:txBody>
      </p:sp>
    </p:spTree>
    <p:extLst>
      <p:ext uri="{BB962C8B-B14F-4D97-AF65-F5344CB8AC3E}">
        <p14:creationId xmlns:p14="http://schemas.microsoft.com/office/powerpoint/2010/main" val="7824611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b="1" i="0" dirty="0">
                <a:effectLst/>
                <a:latin typeface="Söhne"/>
              </a:rPr>
              <a:t>Underutilization of Hardware - </a:t>
            </a:r>
            <a:r>
              <a:rPr lang="en-US" b="0" i="0" dirty="0">
                <a:solidFill>
                  <a:srgbClr val="374151"/>
                </a:solidFill>
                <a:effectLst/>
                <a:latin typeface="Söhne"/>
              </a:rPr>
              <a:t>For example, a powerful multicore processor might not be fully utilized by software that cannot effectively parallelize tasks.</a:t>
            </a:r>
          </a:p>
          <a:p>
            <a:pPr marL="228600" indent="-228600">
              <a:buAutoNum type="arabicPeriod"/>
            </a:pPr>
            <a:r>
              <a:rPr lang="en-US" b="1" i="0" dirty="0">
                <a:effectLst/>
                <a:latin typeface="Söhne"/>
              </a:rPr>
              <a:t>Inadequate Development Speed:</a:t>
            </a:r>
            <a:r>
              <a:rPr lang="en-US" b="0" i="0" dirty="0">
                <a:solidFill>
                  <a:srgbClr val="374151"/>
                </a:solidFill>
                <a:effectLst/>
                <a:latin typeface="Söhne"/>
              </a:rPr>
              <a:t> It suggests that the rate at which software programs are being developed is not fast enough to meet the growing demand for new software applications. This could be due to various factors such as limited resources, complex development processes, or a shortage of skilled developers.</a:t>
            </a:r>
            <a:endParaRPr lang="en-US" dirty="0"/>
          </a:p>
        </p:txBody>
      </p:sp>
      <p:sp>
        <p:nvSpPr>
          <p:cNvPr id="4" name="Slide Number Placeholder 3"/>
          <p:cNvSpPr>
            <a:spLocks noGrp="1"/>
          </p:cNvSpPr>
          <p:nvPr>
            <p:ph type="sldNum" sz="quarter" idx="5"/>
          </p:nvPr>
        </p:nvSpPr>
        <p:spPr/>
        <p:txBody>
          <a:bodyPr/>
          <a:lstStyle/>
          <a:p>
            <a:fld id="{7218707B-B2F6-45B1-ADDD-9F9AD0FE37CF}" type="slidenum">
              <a:rPr lang="en-US" smtClean="0"/>
              <a:t>4</a:t>
            </a:fld>
            <a:endParaRPr lang="en-US"/>
          </a:p>
        </p:txBody>
      </p:sp>
    </p:spTree>
    <p:extLst>
      <p:ext uri="{BB962C8B-B14F-4D97-AF65-F5344CB8AC3E}">
        <p14:creationId xmlns:p14="http://schemas.microsoft.com/office/powerpoint/2010/main" val="28045942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software does not degrade or deteriorate over time simply due to its continued use. </a:t>
            </a:r>
          </a:p>
          <a:p>
            <a:r>
              <a:rPr lang="en-US" b="0" i="0" dirty="0">
                <a:solidFill>
                  <a:srgbClr val="374151"/>
                </a:solidFill>
                <a:effectLst/>
                <a:latin typeface="Söhne"/>
              </a:rPr>
              <a:t>Software </a:t>
            </a:r>
            <a:r>
              <a:rPr lang="en-US" b="1" i="0" dirty="0">
                <a:solidFill>
                  <a:srgbClr val="374151"/>
                </a:solidFill>
                <a:effectLst/>
                <a:latin typeface="Söhne"/>
              </a:rPr>
              <a:t>can be copied and executed without any loss of quality or functionality</a:t>
            </a:r>
            <a:r>
              <a:rPr lang="en-US" b="0" i="0" dirty="0">
                <a:solidFill>
                  <a:srgbClr val="374151"/>
                </a:solidFill>
                <a:effectLst/>
                <a:latin typeface="Söhne"/>
              </a:rPr>
              <a:t>. When you run a software program</a:t>
            </a:r>
            <a:r>
              <a:rPr lang="en-US" b="1" i="0" dirty="0">
                <a:solidFill>
                  <a:srgbClr val="374151"/>
                </a:solidFill>
                <a:effectLst/>
                <a:latin typeface="Söhne"/>
              </a:rPr>
              <a:t>, it operates in the same way </a:t>
            </a:r>
            <a:r>
              <a:rPr lang="en-US" b="0" i="0" dirty="0">
                <a:solidFill>
                  <a:srgbClr val="374151"/>
                </a:solidFill>
                <a:effectLst/>
                <a:latin typeface="Söhne"/>
              </a:rPr>
              <a:t>as it did when it was first created, assuming there are no software defects or compatibility issues.</a:t>
            </a:r>
            <a:endParaRPr lang="en-US" dirty="0"/>
          </a:p>
        </p:txBody>
      </p:sp>
      <p:sp>
        <p:nvSpPr>
          <p:cNvPr id="4" name="Slide Number Placeholder 3"/>
          <p:cNvSpPr>
            <a:spLocks noGrp="1"/>
          </p:cNvSpPr>
          <p:nvPr>
            <p:ph type="sldNum" sz="quarter" idx="5"/>
          </p:nvPr>
        </p:nvSpPr>
        <p:spPr/>
        <p:txBody>
          <a:bodyPr/>
          <a:lstStyle/>
          <a:p>
            <a:fld id="{7218707B-B2F6-45B1-ADDD-9F9AD0FE37CF}" type="slidenum">
              <a:rPr lang="en-US" smtClean="0"/>
              <a:t>6</a:t>
            </a:fld>
            <a:endParaRPr lang="en-US"/>
          </a:p>
        </p:txBody>
      </p:sp>
    </p:spTree>
    <p:extLst>
      <p:ext uri="{BB962C8B-B14F-4D97-AF65-F5344CB8AC3E}">
        <p14:creationId xmlns:p14="http://schemas.microsoft.com/office/powerpoint/2010/main" val="5053114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None/>
            </a:pPr>
            <a:r>
              <a:rPr lang="en-US" b="1" i="0" dirty="0">
                <a:solidFill>
                  <a:srgbClr val="374151"/>
                </a:solidFill>
                <a:effectLst/>
                <a:latin typeface="Söhne"/>
              </a:rPr>
              <a:t>REAL-TIME SOFTWARE</a:t>
            </a:r>
          </a:p>
          <a:p>
            <a:pPr algn="l">
              <a:buFont typeface="+mj-lt"/>
              <a:buAutoNum type="arabicPeriod"/>
            </a:pPr>
            <a:r>
              <a:rPr lang="en-US" b="1" i="0" dirty="0">
                <a:solidFill>
                  <a:srgbClr val="374151"/>
                </a:solidFill>
                <a:effectLst/>
                <a:latin typeface="Söhne"/>
              </a:rPr>
              <a:t>Traffic Control Systems:</a:t>
            </a:r>
            <a:r>
              <a:rPr lang="en-US" b="0" i="0" dirty="0">
                <a:solidFill>
                  <a:srgbClr val="374151"/>
                </a:solidFill>
                <a:effectLst/>
                <a:latin typeface="Söhne"/>
              </a:rPr>
              <a:t> Real-time software is used in traffic management and signal control systems to optimize traffic flow, reduce congestion, and improve road safety.</a:t>
            </a:r>
          </a:p>
          <a:p>
            <a:pPr algn="l">
              <a:buFont typeface="+mj-lt"/>
              <a:buAutoNum type="arabicPeriod"/>
            </a:pPr>
            <a:r>
              <a:rPr lang="en-US" b="1" i="0" dirty="0">
                <a:solidFill>
                  <a:srgbClr val="374151"/>
                </a:solidFill>
                <a:effectLst/>
                <a:latin typeface="Söhne"/>
              </a:rPr>
              <a:t>Aerospace and Spacecraft Control:</a:t>
            </a:r>
            <a:r>
              <a:rPr lang="en-US" b="0" i="0" dirty="0">
                <a:solidFill>
                  <a:srgbClr val="374151"/>
                </a:solidFill>
                <a:effectLst/>
                <a:latin typeface="Söhne"/>
              </a:rPr>
              <a:t> Spacecraft rely on real-time software for navigation, propulsion, and communication with Earth. It ensures precise control during space missions.</a:t>
            </a:r>
          </a:p>
          <a:p>
            <a:r>
              <a:rPr lang="en-US" b="1" dirty="0"/>
              <a:t>Engineering and Scientific Software</a:t>
            </a:r>
          </a:p>
          <a:p>
            <a:pPr marL="228600" indent="-228600">
              <a:buAutoNum type="arabicPeriod"/>
            </a:pPr>
            <a:r>
              <a:rPr lang="en-US" b="1" i="0" dirty="0">
                <a:effectLst/>
                <a:latin typeface="Söhne"/>
              </a:rPr>
              <a:t>MATLAB:</a:t>
            </a:r>
            <a:r>
              <a:rPr lang="en-US" b="0" i="0" dirty="0">
                <a:solidFill>
                  <a:srgbClr val="374151"/>
                </a:solidFill>
                <a:effectLst/>
                <a:latin typeface="Söhne"/>
              </a:rPr>
              <a:t> MATLAB is a high-level programming environment widely used in engineering and scientific research for tasks such as data analysis, numerical simulations, and algorithm development. It offers specialized toolboxes for various applications.</a:t>
            </a:r>
          </a:p>
          <a:p>
            <a:pPr marL="228600" indent="-228600">
              <a:buAutoNum type="arabicPeriod"/>
            </a:pPr>
            <a:r>
              <a:rPr lang="en-US" b="1" i="0" dirty="0">
                <a:solidFill>
                  <a:srgbClr val="374151"/>
                </a:solidFill>
                <a:effectLst/>
                <a:latin typeface="Söhne"/>
              </a:rPr>
              <a:t>AUTOCAD, </a:t>
            </a:r>
          </a:p>
          <a:p>
            <a:pPr marL="0" indent="0">
              <a:buNone/>
            </a:pPr>
            <a:endParaRPr lang="en-US" b="1" i="0" dirty="0">
              <a:solidFill>
                <a:srgbClr val="374151"/>
              </a:solidFill>
              <a:effectLst/>
              <a:latin typeface="Söhne"/>
            </a:endParaRPr>
          </a:p>
          <a:p>
            <a:pPr marL="0" indent="0">
              <a:buNone/>
            </a:pPr>
            <a:endParaRPr lang="en-US" b="1" dirty="0"/>
          </a:p>
        </p:txBody>
      </p:sp>
      <p:sp>
        <p:nvSpPr>
          <p:cNvPr id="4" name="Slide Number Placeholder 3"/>
          <p:cNvSpPr>
            <a:spLocks noGrp="1"/>
          </p:cNvSpPr>
          <p:nvPr>
            <p:ph type="sldNum" sz="quarter" idx="5"/>
          </p:nvPr>
        </p:nvSpPr>
        <p:spPr/>
        <p:txBody>
          <a:bodyPr/>
          <a:lstStyle/>
          <a:p>
            <a:fld id="{7218707B-B2F6-45B1-ADDD-9F9AD0FE37CF}" type="slidenum">
              <a:rPr lang="en-US" smtClean="0"/>
              <a:t>7</a:t>
            </a:fld>
            <a:endParaRPr lang="en-US"/>
          </a:p>
        </p:txBody>
      </p:sp>
    </p:spTree>
    <p:extLst>
      <p:ext uri="{BB962C8B-B14F-4D97-AF65-F5344CB8AC3E}">
        <p14:creationId xmlns:p14="http://schemas.microsoft.com/office/powerpoint/2010/main" val="5164083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02124"/>
                </a:solidFill>
                <a:effectLst/>
                <a:latin typeface="arial" panose="020B0604020202020204" pitchFamily="34" charset="0"/>
              </a:rPr>
              <a:t>IEEE - Institute of Electrical and Electronics Engineers</a:t>
            </a:r>
            <a:endParaRPr lang="en-US" dirty="0"/>
          </a:p>
        </p:txBody>
      </p:sp>
      <p:sp>
        <p:nvSpPr>
          <p:cNvPr id="4" name="Slide Number Placeholder 3"/>
          <p:cNvSpPr>
            <a:spLocks noGrp="1"/>
          </p:cNvSpPr>
          <p:nvPr>
            <p:ph type="sldNum" sz="quarter" idx="5"/>
          </p:nvPr>
        </p:nvSpPr>
        <p:spPr/>
        <p:txBody>
          <a:bodyPr/>
          <a:lstStyle/>
          <a:p>
            <a:fld id="{7218707B-B2F6-45B1-ADDD-9F9AD0FE37CF}" type="slidenum">
              <a:rPr lang="en-US" smtClean="0"/>
              <a:t>9</a:t>
            </a:fld>
            <a:endParaRPr lang="en-US"/>
          </a:p>
        </p:txBody>
      </p:sp>
    </p:spTree>
    <p:extLst>
      <p:ext uri="{BB962C8B-B14F-4D97-AF65-F5344CB8AC3E}">
        <p14:creationId xmlns:p14="http://schemas.microsoft.com/office/powerpoint/2010/main" val="30609276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218707B-B2F6-45B1-ADDD-9F9AD0FE37CF}" type="slidenum">
              <a:rPr lang="en-US" smtClean="0"/>
              <a:t>25</a:t>
            </a:fld>
            <a:endParaRPr lang="en-US"/>
          </a:p>
        </p:txBody>
      </p:sp>
    </p:spTree>
    <p:extLst>
      <p:ext uri="{BB962C8B-B14F-4D97-AF65-F5344CB8AC3E}">
        <p14:creationId xmlns:p14="http://schemas.microsoft.com/office/powerpoint/2010/main" val="34616804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8/30/2024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4859" y="6029325"/>
            <a:ext cx="986682" cy="692150"/>
          </a:xfrm>
          <a:prstGeom prst="rect">
            <a:avLst/>
          </a:prstGeom>
        </p:spPr>
      </p:pic>
    </p:spTree>
    <p:extLst>
      <p:ext uri="{BB962C8B-B14F-4D97-AF65-F5344CB8AC3E}">
        <p14:creationId xmlns:p14="http://schemas.microsoft.com/office/powerpoint/2010/main" val="28174568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8/30/2024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4859" y="6029325"/>
            <a:ext cx="986682" cy="692150"/>
          </a:xfrm>
          <a:prstGeom prst="rect">
            <a:avLst/>
          </a:prstGeom>
        </p:spPr>
      </p:pic>
    </p:spTree>
    <p:extLst>
      <p:ext uri="{BB962C8B-B14F-4D97-AF65-F5344CB8AC3E}">
        <p14:creationId xmlns:p14="http://schemas.microsoft.com/office/powerpoint/2010/main" val="41169339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8/30/2024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517189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B712588-04B1-427B-82EE-E8DB90309F08}" type="datetimeFigureOut">
              <a:rPr lang="en-US" smtClean="0"/>
              <a:t>8/30/2024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38556946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smtClean="0"/>
              <a:pPr/>
              <a:t>8/30/2024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8484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smtClean="0"/>
              <a:pPr/>
              <a:t>8/30/2024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059787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8/30/2024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7491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8/30/2024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23616949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8/30/2024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562052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5C6B4A9-1611-4792-9094-5F34BCA07E0B}" type="datetimeFigureOut">
              <a:rPr lang="en-US" smtClean="0"/>
              <a:t>8/30/2024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17958781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8/30/2024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852910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8/30/2024</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80607320"/>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jpeg"/><Relationship Id="rId7" Type="http://schemas.openxmlformats.org/officeDocument/2006/relationships/image" Target="../media/image16.jpeg"/><Relationship Id="rId2" Type="http://schemas.openxmlformats.org/officeDocument/2006/relationships/image" Target="../media/image11.jpe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jpeg"/><Relationship Id="rId9"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Software Engineering</a:t>
            </a:r>
          </a:p>
        </p:txBody>
      </p:sp>
      <p:sp>
        <p:nvSpPr>
          <p:cNvPr id="3" name="Subtitle 2"/>
          <p:cNvSpPr>
            <a:spLocks noGrp="1"/>
          </p:cNvSpPr>
          <p:nvPr>
            <p:ph type="subTitle" idx="1"/>
          </p:nvPr>
        </p:nvSpPr>
        <p:spPr/>
        <p:txBody>
          <a:bodyPr/>
          <a:lstStyle/>
          <a:p>
            <a:r>
              <a:rPr lang="en-US" dirty="0"/>
              <a:t>Software Engineering</a:t>
            </a:r>
          </a:p>
          <a:p>
            <a:r>
              <a:rPr lang="en-US" dirty="0"/>
              <a:t>The Product and the Process</a:t>
            </a:r>
          </a:p>
        </p:txBody>
      </p:sp>
    </p:spTree>
    <p:extLst>
      <p:ext uri="{BB962C8B-B14F-4D97-AF65-F5344CB8AC3E}">
        <p14:creationId xmlns:p14="http://schemas.microsoft.com/office/powerpoint/2010/main" val="5937698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Objectives:</a:t>
            </a:r>
          </a:p>
        </p:txBody>
      </p:sp>
      <p:sp>
        <p:nvSpPr>
          <p:cNvPr id="3" name="Content Placeholder 2"/>
          <p:cNvSpPr>
            <a:spLocks noGrp="1"/>
          </p:cNvSpPr>
          <p:nvPr>
            <p:ph idx="1"/>
          </p:nvPr>
        </p:nvSpPr>
        <p:spPr/>
        <p:txBody>
          <a:bodyPr/>
          <a:lstStyle/>
          <a:p>
            <a:r>
              <a:rPr lang="en-US" dirty="0"/>
              <a:t>What is computer software… really?</a:t>
            </a:r>
          </a:p>
          <a:p>
            <a:r>
              <a:rPr lang="en-US" dirty="0"/>
              <a:t>Why do we struggle to build high quality computer-based systems?</a:t>
            </a:r>
          </a:p>
          <a:p>
            <a:r>
              <a:rPr lang="en-US" dirty="0"/>
              <a:t>How can we categorize application domains for computer software?</a:t>
            </a:r>
          </a:p>
          <a:p>
            <a:r>
              <a:rPr lang="en-US" dirty="0"/>
              <a:t>What myths about software still exist?</a:t>
            </a:r>
          </a:p>
          <a:p>
            <a:r>
              <a:rPr lang="en-US" dirty="0"/>
              <a:t>What is a ‘software process’?</a:t>
            </a:r>
          </a:p>
          <a:p>
            <a:r>
              <a:rPr lang="en-US" dirty="0"/>
              <a:t>What are classic software engineering paradigms, its strengths and weaknesses</a:t>
            </a:r>
          </a:p>
        </p:txBody>
      </p:sp>
    </p:spTree>
    <p:extLst>
      <p:ext uri="{BB962C8B-B14F-4D97-AF65-F5344CB8AC3E}">
        <p14:creationId xmlns:p14="http://schemas.microsoft.com/office/powerpoint/2010/main" val="7395974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a:t>
            </a:r>
          </a:p>
        </p:txBody>
      </p:sp>
      <p:sp>
        <p:nvSpPr>
          <p:cNvPr id="3" name="Content Placeholder 2"/>
          <p:cNvSpPr>
            <a:spLocks noGrp="1"/>
          </p:cNvSpPr>
          <p:nvPr>
            <p:ph idx="1"/>
          </p:nvPr>
        </p:nvSpPr>
        <p:spPr/>
        <p:txBody>
          <a:bodyPr/>
          <a:lstStyle/>
          <a:p>
            <a:r>
              <a:rPr lang="en-US" dirty="0"/>
              <a:t> Computer instructions that when executed provide desired function and performance.</a:t>
            </a:r>
          </a:p>
          <a:p>
            <a:r>
              <a:rPr lang="en-US" dirty="0"/>
              <a:t> Data structures that enable the programs to adequately manipulate information.</a:t>
            </a:r>
          </a:p>
          <a:p>
            <a:r>
              <a:rPr lang="en-US" dirty="0"/>
              <a:t> Documents that describe the operation and use of programs.</a:t>
            </a:r>
          </a:p>
        </p:txBody>
      </p:sp>
    </p:spTree>
    <p:extLst>
      <p:ext uri="{BB962C8B-B14F-4D97-AF65-F5344CB8AC3E}">
        <p14:creationId xmlns:p14="http://schemas.microsoft.com/office/powerpoint/2010/main" val="4881044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Software-related Problems</a:t>
            </a:r>
          </a:p>
        </p:txBody>
      </p:sp>
      <p:sp>
        <p:nvSpPr>
          <p:cNvPr id="3" name="Content Placeholder 2"/>
          <p:cNvSpPr>
            <a:spLocks noGrp="1"/>
          </p:cNvSpPr>
          <p:nvPr>
            <p:ph idx="1"/>
          </p:nvPr>
        </p:nvSpPr>
        <p:spPr>
          <a:xfrm>
            <a:off x="677334" y="1753850"/>
            <a:ext cx="10676466" cy="4722228"/>
          </a:xfrm>
        </p:spPr>
        <p:txBody>
          <a:bodyPr>
            <a:normAutofit lnSpcReduction="10000"/>
          </a:bodyPr>
          <a:lstStyle/>
          <a:p>
            <a:r>
              <a:rPr lang="en-US" dirty="0"/>
              <a:t>1. Hardware advances continue to outpace our ability to build software to tap hardware’s potential.</a:t>
            </a:r>
          </a:p>
          <a:p>
            <a:r>
              <a:rPr lang="en-US" dirty="0"/>
              <a:t>2. Our ability to build new programs cannot keep pace with the demand for new programs, nor can we build programs rapidly enough to meet business and market needs.</a:t>
            </a:r>
          </a:p>
          <a:p>
            <a:r>
              <a:rPr lang="en-US" dirty="0"/>
              <a:t>3. The widespread use of computers has made society increasingly dependent on reliable operation of software.</a:t>
            </a:r>
          </a:p>
          <a:p>
            <a:r>
              <a:rPr lang="en-US" dirty="0"/>
              <a:t>4. We struggle to build computer software that has high reliability and quality.</a:t>
            </a:r>
          </a:p>
          <a:p>
            <a:r>
              <a:rPr lang="en-US" dirty="0"/>
              <a:t>5. Our ability to support and enhance existing programs is threatened by poor design and inadequate resources.</a:t>
            </a:r>
          </a:p>
        </p:txBody>
      </p:sp>
    </p:spTree>
    <p:extLst>
      <p:ext uri="{BB962C8B-B14F-4D97-AF65-F5344CB8AC3E}">
        <p14:creationId xmlns:p14="http://schemas.microsoft.com/office/powerpoint/2010/main" val="12626039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Characteristics</a:t>
            </a:r>
          </a:p>
        </p:txBody>
      </p:sp>
      <p:sp>
        <p:nvSpPr>
          <p:cNvPr id="3" name="Content Placeholder 2"/>
          <p:cNvSpPr>
            <a:spLocks noGrp="1"/>
          </p:cNvSpPr>
          <p:nvPr>
            <p:ph idx="1"/>
          </p:nvPr>
        </p:nvSpPr>
        <p:spPr>
          <a:xfrm>
            <a:off x="677334" y="2353455"/>
            <a:ext cx="9520766" cy="3687907"/>
          </a:xfrm>
        </p:spPr>
        <p:txBody>
          <a:bodyPr>
            <a:normAutofit/>
          </a:bodyPr>
          <a:lstStyle/>
          <a:p>
            <a:r>
              <a:rPr lang="en-US" dirty="0"/>
              <a:t> Software is developed or engineered, it is not manufactured in the classical sense.</a:t>
            </a:r>
          </a:p>
          <a:p>
            <a:r>
              <a:rPr lang="en-US" dirty="0"/>
              <a:t> Most software is custom-built, rather than being assembled from existing components.</a:t>
            </a:r>
          </a:p>
        </p:txBody>
      </p:sp>
    </p:spTree>
    <p:extLst>
      <p:ext uri="{BB962C8B-B14F-4D97-AF65-F5344CB8AC3E}">
        <p14:creationId xmlns:p14="http://schemas.microsoft.com/office/powerpoint/2010/main" val="42501610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Characteristics</a:t>
            </a:r>
          </a:p>
        </p:txBody>
      </p:sp>
      <p:pic>
        <p:nvPicPr>
          <p:cNvPr id="4" name="Content Placeholder 3"/>
          <p:cNvPicPr>
            <a:picLocks noGrp="1" noChangeAspect="1"/>
          </p:cNvPicPr>
          <p:nvPr>
            <p:ph idx="1"/>
          </p:nvPr>
        </p:nvPicPr>
        <p:blipFill>
          <a:blip r:embed="rId3"/>
          <a:stretch>
            <a:fillRect/>
          </a:stretch>
        </p:blipFill>
        <p:spPr>
          <a:xfrm>
            <a:off x="838200" y="2387600"/>
            <a:ext cx="4433275" cy="3499332"/>
          </a:xfrm>
          <a:prstGeom prst="rect">
            <a:avLst/>
          </a:prstGeom>
        </p:spPr>
      </p:pic>
      <p:pic>
        <p:nvPicPr>
          <p:cNvPr id="5" name="Picture 4"/>
          <p:cNvPicPr>
            <a:picLocks noChangeAspect="1"/>
          </p:cNvPicPr>
          <p:nvPr/>
        </p:nvPicPr>
        <p:blipFill>
          <a:blip r:embed="rId4"/>
          <a:stretch>
            <a:fillRect/>
          </a:stretch>
        </p:blipFill>
        <p:spPr>
          <a:xfrm>
            <a:off x="5733433" y="2387600"/>
            <a:ext cx="5037763" cy="3519372"/>
          </a:xfrm>
          <a:prstGeom prst="rect">
            <a:avLst/>
          </a:prstGeom>
        </p:spPr>
      </p:pic>
      <p:sp>
        <p:nvSpPr>
          <p:cNvPr id="3" name="Rectangle 2"/>
          <p:cNvSpPr/>
          <p:nvPr/>
        </p:nvSpPr>
        <p:spPr>
          <a:xfrm>
            <a:off x="838199" y="1561068"/>
            <a:ext cx="4433275" cy="461665"/>
          </a:xfrm>
          <a:prstGeom prst="rect">
            <a:avLst/>
          </a:prstGeom>
        </p:spPr>
        <p:txBody>
          <a:bodyPr wrap="square">
            <a:spAutoFit/>
          </a:bodyPr>
          <a:lstStyle/>
          <a:p>
            <a:r>
              <a:rPr lang="en-US" sz="2400" dirty="0"/>
              <a:t> Software doesn’t “wear out.”</a:t>
            </a:r>
          </a:p>
        </p:txBody>
      </p:sp>
    </p:spTree>
    <p:extLst>
      <p:ext uri="{BB962C8B-B14F-4D97-AF65-F5344CB8AC3E}">
        <p14:creationId xmlns:p14="http://schemas.microsoft.com/office/powerpoint/2010/main" val="5333859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Sample Software Applications</a:t>
            </a:r>
          </a:p>
        </p:txBody>
      </p:sp>
      <p:sp>
        <p:nvSpPr>
          <p:cNvPr id="3" name="Content Placeholder 2"/>
          <p:cNvSpPr>
            <a:spLocks noGrp="1"/>
          </p:cNvSpPr>
          <p:nvPr>
            <p:ph idx="1"/>
          </p:nvPr>
        </p:nvSpPr>
        <p:spPr/>
        <p:txBody>
          <a:bodyPr/>
          <a:lstStyle/>
          <a:p>
            <a:r>
              <a:rPr lang="en-US" dirty="0"/>
              <a:t> </a:t>
            </a:r>
            <a:r>
              <a:rPr lang="en-US" b="1" dirty="0"/>
              <a:t>System Software</a:t>
            </a:r>
          </a:p>
          <a:p>
            <a:r>
              <a:rPr lang="en-US" dirty="0"/>
              <a:t> </a:t>
            </a:r>
            <a:r>
              <a:rPr lang="en-US" b="1" dirty="0"/>
              <a:t>Real-Time Software</a:t>
            </a:r>
          </a:p>
          <a:p>
            <a:r>
              <a:rPr lang="en-US" dirty="0"/>
              <a:t> </a:t>
            </a:r>
            <a:r>
              <a:rPr lang="en-US" b="1" dirty="0"/>
              <a:t>Business Software</a:t>
            </a:r>
          </a:p>
          <a:p>
            <a:r>
              <a:rPr lang="en-US" dirty="0"/>
              <a:t> </a:t>
            </a:r>
            <a:r>
              <a:rPr lang="en-US" b="1" dirty="0"/>
              <a:t>Engineering and Scientific Software</a:t>
            </a:r>
          </a:p>
          <a:p>
            <a:r>
              <a:rPr lang="en-US" dirty="0"/>
              <a:t> </a:t>
            </a:r>
            <a:r>
              <a:rPr lang="en-US" b="1" dirty="0"/>
              <a:t>Embedded Software</a:t>
            </a:r>
          </a:p>
          <a:p>
            <a:r>
              <a:rPr lang="en-US" dirty="0"/>
              <a:t> </a:t>
            </a:r>
            <a:r>
              <a:rPr lang="en-US" b="1" dirty="0"/>
              <a:t>Personal Computer Software</a:t>
            </a:r>
          </a:p>
          <a:p>
            <a:r>
              <a:rPr lang="en-US" dirty="0"/>
              <a:t> </a:t>
            </a:r>
            <a:r>
              <a:rPr lang="en-US" b="1" dirty="0"/>
              <a:t>Artificial Intelligence Software</a:t>
            </a:r>
            <a:endParaRPr lang="en-US" dirty="0"/>
          </a:p>
        </p:txBody>
      </p:sp>
    </p:spTree>
    <p:extLst>
      <p:ext uri="{BB962C8B-B14F-4D97-AF65-F5344CB8AC3E}">
        <p14:creationId xmlns:p14="http://schemas.microsoft.com/office/powerpoint/2010/main" val="2483882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C38F32B-FFD9-460C-C814-71B25E4CB063}"/>
              </a:ext>
            </a:extLst>
          </p:cNvPr>
          <p:cNvPicPr>
            <a:picLocks noGrp="1" noChangeAspect="1"/>
          </p:cNvPicPr>
          <p:nvPr>
            <p:ph idx="1"/>
          </p:nvPr>
        </p:nvPicPr>
        <p:blipFill>
          <a:blip r:embed="rId2"/>
          <a:stretch>
            <a:fillRect/>
          </a:stretch>
        </p:blipFill>
        <p:spPr>
          <a:xfrm>
            <a:off x="185194" y="489538"/>
            <a:ext cx="4184730" cy="3147806"/>
          </a:xfrm>
        </p:spPr>
      </p:pic>
      <p:pic>
        <p:nvPicPr>
          <p:cNvPr id="7" name="Picture 6">
            <a:extLst>
              <a:ext uri="{FF2B5EF4-FFF2-40B4-BE49-F238E27FC236}">
                <a16:creationId xmlns:a16="http://schemas.microsoft.com/office/drawing/2014/main" id="{186E84C7-ECF6-3BAB-0402-CA2583B0A848}"/>
              </a:ext>
            </a:extLst>
          </p:cNvPr>
          <p:cNvPicPr>
            <a:picLocks noChangeAspect="1"/>
          </p:cNvPicPr>
          <p:nvPr/>
        </p:nvPicPr>
        <p:blipFill>
          <a:blip r:embed="rId3"/>
          <a:stretch>
            <a:fillRect/>
          </a:stretch>
        </p:blipFill>
        <p:spPr>
          <a:xfrm>
            <a:off x="4479521" y="572914"/>
            <a:ext cx="4582611" cy="3961083"/>
          </a:xfrm>
          <a:prstGeom prst="rect">
            <a:avLst/>
          </a:prstGeom>
        </p:spPr>
      </p:pic>
      <p:pic>
        <p:nvPicPr>
          <p:cNvPr id="9" name="Picture 8">
            <a:extLst>
              <a:ext uri="{FF2B5EF4-FFF2-40B4-BE49-F238E27FC236}">
                <a16:creationId xmlns:a16="http://schemas.microsoft.com/office/drawing/2014/main" id="{4BC66B6C-962A-B991-370A-EB8DA3D0618D}"/>
              </a:ext>
            </a:extLst>
          </p:cNvPr>
          <p:cNvPicPr>
            <a:picLocks noChangeAspect="1"/>
          </p:cNvPicPr>
          <p:nvPr/>
        </p:nvPicPr>
        <p:blipFill>
          <a:blip r:embed="rId4"/>
          <a:stretch>
            <a:fillRect/>
          </a:stretch>
        </p:blipFill>
        <p:spPr>
          <a:xfrm>
            <a:off x="9062132" y="708808"/>
            <a:ext cx="2944674" cy="3825189"/>
          </a:xfrm>
          <a:prstGeom prst="rect">
            <a:avLst/>
          </a:prstGeom>
        </p:spPr>
      </p:pic>
    </p:spTree>
    <p:extLst>
      <p:ext uri="{BB962C8B-B14F-4D97-AF65-F5344CB8AC3E}">
        <p14:creationId xmlns:p14="http://schemas.microsoft.com/office/powerpoint/2010/main" val="4178499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Engineering</a:t>
            </a:r>
          </a:p>
        </p:txBody>
      </p:sp>
      <p:sp>
        <p:nvSpPr>
          <p:cNvPr id="3" name="Content Placeholder 2"/>
          <p:cNvSpPr>
            <a:spLocks noGrp="1"/>
          </p:cNvSpPr>
          <p:nvPr>
            <p:ph idx="1"/>
          </p:nvPr>
        </p:nvSpPr>
        <p:spPr/>
        <p:txBody>
          <a:bodyPr>
            <a:normAutofit/>
          </a:bodyPr>
          <a:lstStyle/>
          <a:p>
            <a:r>
              <a:rPr lang="en-US" dirty="0"/>
              <a:t> According to Fritz Bauer, software engineering is the establishment and use of sound engineering principles in order to obtain economically software that is reliable and works efficiently on real machines.</a:t>
            </a:r>
          </a:p>
          <a:p>
            <a:r>
              <a:rPr lang="en-US" dirty="0"/>
              <a:t> According to IEEE, software engineering is the application of a systematic, disciplined, quantifiable approach to the development, operation, and maintenance of software – that is, the application of engineering to software.</a:t>
            </a:r>
          </a:p>
        </p:txBody>
      </p:sp>
    </p:spTree>
    <p:extLst>
      <p:ext uri="{BB962C8B-B14F-4D97-AF65-F5344CB8AC3E}">
        <p14:creationId xmlns:p14="http://schemas.microsoft.com/office/powerpoint/2010/main" val="28047108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Engineering Layers</a:t>
            </a:r>
          </a:p>
        </p:txBody>
      </p:sp>
      <p:pic>
        <p:nvPicPr>
          <p:cNvPr id="1026" name="Picture 2" descr="http://1.bp.blogspot.com/-y_AFI3rN9tg/VZ8bmBYilYI/AAAAAAAAAdM/RzMvE0eSslU/s1600/swengglayer.png"/>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695100" y="2400870"/>
            <a:ext cx="6801799" cy="3200847"/>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1371600" y="1647736"/>
            <a:ext cx="6096000" cy="923330"/>
          </a:xfrm>
          <a:prstGeom prst="rect">
            <a:avLst/>
          </a:prstGeom>
        </p:spPr>
        <p:txBody>
          <a:bodyPr>
            <a:spAutoFit/>
          </a:bodyPr>
          <a:lstStyle/>
          <a:p>
            <a:r>
              <a:rPr lang="en-US" dirty="0"/>
              <a:t>Software engineering is a layered technology. Any engineering approach must rest on an organizational commitment to quality. </a:t>
            </a:r>
          </a:p>
        </p:txBody>
      </p:sp>
    </p:spTree>
    <p:extLst>
      <p:ext uri="{BB962C8B-B14F-4D97-AF65-F5344CB8AC3E}">
        <p14:creationId xmlns:p14="http://schemas.microsoft.com/office/powerpoint/2010/main" val="31132901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876301"/>
            <a:ext cx="8596668" cy="4542762"/>
          </a:xfrm>
        </p:spPr>
        <p:txBody>
          <a:bodyPr/>
          <a:lstStyle/>
          <a:p>
            <a:r>
              <a:rPr lang="en-US" b="1" dirty="0"/>
              <a:t>Tools</a:t>
            </a:r>
            <a:r>
              <a:rPr lang="en-US" dirty="0"/>
              <a:t> — It offer support for the framework and the method each software engineering project will follow.</a:t>
            </a:r>
          </a:p>
        </p:txBody>
      </p:sp>
      <p:pic>
        <p:nvPicPr>
          <p:cNvPr id="5" name="Picture 4"/>
          <p:cNvPicPr>
            <a:picLocks noChangeAspect="1"/>
          </p:cNvPicPr>
          <p:nvPr/>
        </p:nvPicPr>
        <p:blipFill>
          <a:blip r:embed="rId2"/>
          <a:stretch>
            <a:fillRect/>
          </a:stretch>
        </p:blipFill>
        <p:spPr>
          <a:xfrm>
            <a:off x="2616200" y="2325687"/>
            <a:ext cx="5886450" cy="3920376"/>
          </a:xfrm>
          <a:prstGeom prst="rect">
            <a:avLst/>
          </a:prstGeom>
        </p:spPr>
      </p:pic>
    </p:spTree>
    <p:extLst>
      <p:ext uri="{BB962C8B-B14F-4D97-AF65-F5344CB8AC3E}">
        <p14:creationId xmlns:p14="http://schemas.microsoft.com/office/powerpoint/2010/main" val="25217630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8434" y="1320801"/>
            <a:ext cx="8596668" cy="4542762"/>
          </a:xfrm>
        </p:spPr>
        <p:txBody>
          <a:bodyPr/>
          <a:lstStyle/>
          <a:p>
            <a:r>
              <a:rPr lang="en-US" b="1" dirty="0"/>
              <a:t>Methods</a:t>
            </a:r>
            <a:r>
              <a:rPr lang="en-US" dirty="0"/>
              <a:t> — provide the technical “how </a:t>
            </a:r>
            <a:r>
              <a:rPr lang="en-US" dirty="0" err="1"/>
              <a:t>to’s</a:t>
            </a:r>
            <a:r>
              <a:rPr lang="en-US" dirty="0"/>
              <a:t>” for building software</a:t>
            </a:r>
          </a:p>
        </p:txBody>
      </p:sp>
      <p:pic>
        <p:nvPicPr>
          <p:cNvPr id="2" name="Picture 1"/>
          <p:cNvPicPr>
            <a:picLocks noChangeAspect="1"/>
          </p:cNvPicPr>
          <p:nvPr/>
        </p:nvPicPr>
        <p:blipFill>
          <a:blip r:embed="rId2"/>
          <a:stretch>
            <a:fillRect/>
          </a:stretch>
        </p:blipFill>
        <p:spPr>
          <a:xfrm>
            <a:off x="3113393" y="2757487"/>
            <a:ext cx="6579882" cy="2335213"/>
          </a:xfrm>
          <a:prstGeom prst="rect">
            <a:avLst/>
          </a:prstGeom>
        </p:spPr>
      </p:pic>
    </p:spTree>
    <p:extLst>
      <p:ext uri="{BB962C8B-B14F-4D97-AF65-F5344CB8AC3E}">
        <p14:creationId xmlns:p14="http://schemas.microsoft.com/office/powerpoint/2010/main" val="35228184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876301"/>
            <a:ext cx="8596668" cy="4542762"/>
          </a:xfrm>
        </p:spPr>
        <p:txBody>
          <a:bodyPr/>
          <a:lstStyle/>
          <a:p>
            <a:r>
              <a:rPr lang="en-US" b="1" dirty="0"/>
              <a:t>Process</a:t>
            </a:r>
            <a:r>
              <a:rPr lang="en-US" dirty="0"/>
              <a:t> — the glue that holds the technology layers together and enables rational and timely development of computer software. This layer consists of the framework that must be established for the effective delivery of software.</a:t>
            </a:r>
          </a:p>
        </p:txBody>
      </p:sp>
      <p:pic>
        <p:nvPicPr>
          <p:cNvPr id="2" name="Picture 1"/>
          <p:cNvPicPr>
            <a:picLocks noChangeAspect="1"/>
          </p:cNvPicPr>
          <p:nvPr/>
        </p:nvPicPr>
        <p:blipFill>
          <a:blip r:embed="rId2"/>
          <a:stretch>
            <a:fillRect/>
          </a:stretch>
        </p:blipFill>
        <p:spPr>
          <a:xfrm>
            <a:off x="2895600" y="2890837"/>
            <a:ext cx="6086475" cy="3067106"/>
          </a:xfrm>
          <a:prstGeom prst="rect">
            <a:avLst/>
          </a:prstGeom>
        </p:spPr>
      </p:pic>
    </p:spTree>
    <p:extLst>
      <p:ext uri="{BB962C8B-B14F-4D97-AF65-F5344CB8AC3E}">
        <p14:creationId xmlns:p14="http://schemas.microsoft.com/office/powerpoint/2010/main" val="36357392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876301"/>
            <a:ext cx="10524066" cy="4542762"/>
          </a:xfrm>
        </p:spPr>
        <p:txBody>
          <a:bodyPr/>
          <a:lstStyle/>
          <a:p>
            <a:r>
              <a:rPr lang="en-US" dirty="0"/>
              <a:t>Quality Focus - This layer is the fundamental layer for software engineering. As stated above it is of great importance to test the end product to see if it meets its specifications. Efficiency, usability, maintenance and reusability are some of the requirements that need to be met by new software.</a:t>
            </a:r>
          </a:p>
        </p:txBody>
      </p:sp>
      <p:sp>
        <p:nvSpPr>
          <p:cNvPr id="4" name="Rectangle 3"/>
          <p:cNvSpPr/>
          <p:nvPr/>
        </p:nvSpPr>
        <p:spPr>
          <a:xfrm>
            <a:off x="3165302" y="3384371"/>
            <a:ext cx="6423198" cy="2308324"/>
          </a:xfrm>
          <a:prstGeom prst="rect">
            <a:avLst/>
          </a:prstGeom>
        </p:spPr>
        <p:txBody>
          <a:bodyPr wrap="square">
            <a:spAutoFit/>
          </a:bodyPr>
          <a:lstStyle/>
          <a:p>
            <a:r>
              <a:rPr lang="en-US" sz="2400" dirty="0"/>
              <a:t>Having Tools, Methods and Processes laid out from the beginning of any software engineering process makes it an easier task for both developers and project managers to check the quality of the end product and deliver a more complex software on time by staying on budget.</a:t>
            </a:r>
          </a:p>
        </p:txBody>
      </p:sp>
    </p:spTree>
    <p:extLst>
      <p:ext uri="{BB962C8B-B14F-4D97-AF65-F5344CB8AC3E}">
        <p14:creationId xmlns:p14="http://schemas.microsoft.com/office/powerpoint/2010/main" val="28569028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Tools</a:t>
            </a:r>
          </a:p>
        </p:txBody>
      </p:sp>
      <p:pic>
        <p:nvPicPr>
          <p:cNvPr id="1026" name="Picture 2" descr="Cloud 9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5975" y="3284536"/>
            <a:ext cx="2800350" cy="46672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Git Hub Lo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5975" y="1357311"/>
            <a:ext cx="1657350" cy="71437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NetBeans Log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5975" y="2449511"/>
            <a:ext cx="1695450" cy="4572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2609234" y="1270000"/>
            <a:ext cx="6096000" cy="954107"/>
          </a:xfrm>
          <a:prstGeom prst="rect">
            <a:avLst/>
          </a:prstGeom>
        </p:spPr>
        <p:txBody>
          <a:bodyPr>
            <a:spAutoFit/>
          </a:bodyPr>
          <a:lstStyle/>
          <a:p>
            <a:r>
              <a:rPr lang="en-US" sz="1400" dirty="0"/>
              <a:t>GitHub is a powerful collaboration tool and development platform for code review and code management. With this GitHub, the users can build applications and software, manage the projects, host the code, review the code etc.</a:t>
            </a:r>
          </a:p>
        </p:txBody>
      </p:sp>
      <p:sp>
        <p:nvSpPr>
          <p:cNvPr id="5" name="Rectangle 4"/>
          <p:cNvSpPr/>
          <p:nvPr/>
        </p:nvSpPr>
        <p:spPr>
          <a:xfrm>
            <a:off x="2609234" y="2286554"/>
            <a:ext cx="6096000" cy="738664"/>
          </a:xfrm>
          <a:prstGeom prst="rect">
            <a:avLst/>
          </a:prstGeom>
        </p:spPr>
        <p:txBody>
          <a:bodyPr>
            <a:spAutoFit/>
          </a:bodyPr>
          <a:lstStyle/>
          <a:p>
            <a:r>
              <a:rPr lang="en-US" sz="1400" dirty="0">
                <a:solidFill>
                  <a:srgbClr val="3A3A3A"/>
                </a:solidFill>
                <a:latin typeface="Work Sans"/>
              </a:rPr>
              <a:t>NetBeans is an open source and a free software development tool written in Java that develops world-class web, mobile, and desktop applications easily and quickly. It uses C / C++, PHP, JavaScript, Java etc.</a:t>
            </a:r>
            <a:endParaRPr lang="en-US" sz="1400" dirty="0"/>
          </a:p>
        </p:txBody>
      </p:sp>
      <p:sp>
        <p:nvSpPr>
          <p:cNvPr id="6" name="Rectangle 5"/>
          <p:cNvSpPr/>
          <p:nvPr/>
        </p:nvSpPr>
        <p:spPr>
          <a:xfrm>
            <a:off x="3771466" y="3284536"/>
            <a:ext cx="6431223" cy="1169551"/>
          </a:xfrm>
          <a:prstGeom prst="rect">
            <a:avLst/>
          </a:prstGeom>
        </p:spPr>
        <p:txBody>
          <a:bodyPr wrap="square">
            <a:spAutoFit/>
          </a:bodyPr>
          <a:lstStyle/>
          <a:p>
            <a:r>
              <a:rPr lang="en-US" sz="1400" dirty="0"/>
              <a:t>Initially in 2010 Cloud 9 was an open source, cloud-based IDE (Integrated Development Environment) that supports various programming languages like C, Perl, Python, JavaScript, PHP etc. Later in 2016, AWS (Amazon Web Service) acquired it for further improvement and made it chargeable as per the usage.</a:t>
            </a:r>
          </a:p>
        </p:txBody>
      </p:sp>
      <p:pic>
        <p:nvPicPr>
          <p:cNvPr id="7" name="Picture 6"/>
          <p:cNvPicPr>
            <a:picLocks noChangeAspect="1"/>
          </p:cNvPicPr>
          <p:nvPr/>
        </p:nvPicPr>
        <p:blipFill>
          <a:blip r:embed="rId5"/>
          <a:stretch>
            <a:fillRect/>
          </a:stretch>
        </p:blipFill>
        <p:spPr>
          <a:xfrm>
            <a:off x="835025" y="4444978"/>
            <a:ext cx="2781300" cy="733425"/>
          </a:xfrm>
          <a:prstGeom prst="rect">
            <a:avLst/>
          </a:prstGeom>
        </p:spPr>
      </p:pic>
      <p:sp>
        <p:nvSpPr>
          <p:cNvPr id="8" name="Rectangle 7"/>
          <p:cNvSpPr/>
          <p:nvPr/>
        </p:nvSpPr>
        <p:spPr>
          <a:xfrm>
            <a:off x="3703376" y="4439739"/>
            <a:ext cx="6096000" cy="738664"/>
          </a:xfrm>
          <a:prstGeom prst="rect">
            <a:avLst/>
          </a:prstGeom>
        </p:spPr>
        <p:txBody>
          <a:bodyPr>
            <a:spAutoFit/>
          </a:bodyPr>
          <a:lstStyle/>
          <a:p>
            <a:r>
              <a:rPr lang="en-US" sz="1400" dirty="0"/>
              <a:t>Bootstrap is an open source and free framework for developing responsive websites and mobile-first projects using CSS, HTML, and JS. Bootstrap is widely used to design faster and simpler websites.</a:t>
            </a:r>
          </a:p>
        </p:txBody>
      </p:sp>
      <p:pic>
        <p:nvPicPr>
          <p:cNvPr id="9" name="Picture 8"/>
          <p:cNvPicPr>
            <a:picLocks noChangeAspect="1"/>
          </p:cNvPicPr>
          <p:nvPr/>
        </p:nvPicPr>
        <p:blipFill>
          <a:blip r:embed="rId6"/>
          <a:stretch>
            <a:fillRect/>
          </a:stretch>
        </p:blipFill>
        <p:spPr>
          <a:xfrm>
            <a:off x="815975" y="5462544"/>
            <a:ext cx="1381125" cy="819150"/>
          </a:xfrm>
          <a:prstGeom prst="rect">
            <a:avLst/>
          </a:prstGeom>
        </p:spPr>
      </p:pic>
      <p:sp>
        <p:nvSpPr>
          <p:cNvPr id="10" name="Rectangle 9"/>
          <p:cNvSpPr/>
          <p:nvPr/>
        </p:nvSpPr>
        <p:spPr>
          <a:xfrm>
            <a:off x="2473325" y="5462544"/>
            <a:ext cx="6096000" cy="738664"/>
          </a:xfrm>
          <a:prstGeom prst="rect">
            <a:avLst/>
          </a:prstGeom>
        </p:spPr>
        <p:txBody>
          <a:bodyPr>
            <a:spAutoFit/>
          </a:bodyPr>
          <a:lstStyle/>
          <a:p>
            <a:r>
              <a:rPr lang="en-US" sz="1400" dirty="0"/>
              <a:t>Node.js is an open source, cross-platform and JavaScript run-time environment that is built to design a variety of web applications and to create web servers and networking tools.</a:t>
            </a:r>
          </a:p>
        </p:txBody>
      </p:sp>
      <p:pic>
        <p:nvPicPr>
          <p:cNvPr id="1032" name="Picture 8" descr="Eclipse Logo"/>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274002" y="2128878"/>
            <a:ext cx="1857375" cy="61912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p:cNvPicPr>
            <a:picLocks noChangeAspect="1"/>
          </p:cNvPicPr>
          <p:nvPr/>
        </p:nvPicPr>
        <p:blipFill>
          <a:blip r:embed="rId8"/>
          <a:stretch>
            <a:fillRect/>
          </a:stretch>
        </p:blipFill>
        <p:spPr>
          <a:xfrm>
            <a:off x="8569325" y="5561303"/>
            <a:ext cx="2828925" cy="895350"/>
          </a:xfrm>
          <a:prstGeom prst="rect">
            <a:avLst/>
          </a:prstGeom>
        </p:spPr>
      </p:pic>
      <p:pic>
        <p:nvPicPr>
          <p:cNvPr id="12" name="Picture 11"/>
          <p:cNvPicPr>
            <a:picLocks noChangeAspect="1"/>
          </p:cNvPicPr>
          <p:nvPr/>
        </p:nvPicPr>
        <p:blipFill>
          <a:blip r:embed="rId9"/>
          <a:stretch>
            <a:fillRect/>
          </a:stretch>
        </p:blipFill>
        <p:spPr>
          <a:xfrm>
            <a:off x="8701136" y="786635"/>
            <a:ext cx="1714500" cy="666750"/>
          </a:xfrm>
          <a:prstGeom prst="rect">
            <a:avLst/>
          </a:prstGeom>
        </p:spPr>
      </p:pic>
    </p:spTree>
    <p:extLst>
      <p:ext uri="{BB962C8B-B14F-4D97-AF65-F5344CB8AC3E}">
        <p14:creationId xmlns:p14="http://schemas.microsoft.com/office/powerpoint/2010/main" val="42074288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 and Process</a:t>
            </a:r>
          </a:p>
        </p:txBody>
      </p:sp>
      <p:pic>
        <p:nvPicPr>
          <p:cNvPr id="2050" name="Picture 2" descr="Image result for software engineering proces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883400" y="1270000"/>
            <a:ext cx="3022598" cy="5115167"/>
          </a:xfrm>
          <a:prstGeom prst="rect">
            <a:avLst/>
          </a:prstGeom>
          <a:noFill/>
          <a:extLst>
            <a:ext uri="{909E8E84-426E-40DD-AFC4-6F175D3DCCD1}">
              <a14:hiddenFill xmlns:a14="http://schemas.microsoft.com/office/drawing/2010/main">
                <a:solidFill>
                  <a:srgbClr val="FFFFFF"/>
                </a:solidFill>
              </a14:hiddenFill>
            </a:ext>
          </a:extLst>
        </p:spPr>
      </p:pic>
      <p:sp>
        <p:nvSpPr>
          <p:cNvPr id="4" name="AutoShape 4" descr="Image result for software engineering proces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p:cNvPicPr>
            <a:picLocks noChangeAspect="1"/>
          </p:cNvPicPr>
          <p:nvPr/>
        </p:nvPicPr>
        <p:blipFill>
          <a:blip r:embed="rId3"/>
          <a:stretch>
            <a:fillRect/>
          </a:stretch>
        </p:blipFill>
        <p:spPr>
          <a:xfrm>
            <a:off x="3464984" y="1420033"/>
            <a:ext cx="3119438" cy="2943885"/>
          </a:xfrm>
          <a:prstGeom prst="rect">
            <a:avLst/>
          </a:prstGeom>
        </p:spPr>
      </p:pic>
      <p:pic>
        <p:nvPicPr>
          <p:cNvPr id="6" name="Picture 5"/>
          <p:cNvPicPr>
            <a:picLocks noChangeAspect="1"/>
          </p:cNvPicPr>
          <p:nvPr/>
        </p:nvPicPr>
        <p:blipFill>
          <a:blip r:embed="rId4"/>
          <a:stretch>
            <a:fillRect/>
          </a:stretch>
        </p:blipFill>
        <p:spPr>
          <a:xfrm>
            <a:off x="1274762" y="4730721"/>
            <a:ext cx="3333750" cy="1247775"/>
          </a:xfrm>
          <a:prstGeom prst="rect">
            <a:avLst/>
          </a:prstGeom>
        </p:spPr>
      </p:pic>
      <p:pic>
        <p:nvPicPr>
          <p:cNvPr id="7" name="Picture 6"/>
          <p:cNvPicPr>
            <a:picLocks noChangeAspect="1"/>
          </p:cNvPicPr>
          <p:nvPr/>
        </p:nvPicPr>
        <p:blipFill>
          <a:blip r:embed="rId5"/>
          <a:stretch>
            <a:fillRect/>
          </a:stretch>
        </p:blipFill>
        <p:spPr>
          <a:xfrm>
            <a:off x="514880" y="1270000"/>
            <a:ext cx="2787650" cy="2800321"/>
          </a:xfrm>
          <a:prstGeom prst="rect">
            <a:avLst/>
          </a:prstGeom>
        </p:spPr>
      </p:pic>
    </p:spTree>
    <p:extLst>
      <p:ext uri="{BB962C8B-B14F-4D97-AF65-F5344CB8AC3E}">
        <p14:creationId xmlns:p14="http://schemas.microsoft.com/office/powerpoint/2010/main" val="31069487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Engineering Paradigms</a:t>
            </a:r>
          </a:p>
        </p:txBody>
      </p:sp>
      <p:sp>
        <p:nvSpPr>
          <p:cNvPr id="3" name="Content Placeholder 2"/>
          <p:cNvSpPr>
            <a:spLocks noGrp="1"/>
          </p:cNvSpPr>
          <p:nvPr>
            <p:ph idx="1"/>
          </p:nvPr>
        </p:nvSpPr>
        <p:spPr>
          <a:xfrm>
            <a:off x="677334" y="3409027"/>
            <a:ext cx="8596668" cy="3880773"/>
          </a:xfrm>
        </p:spPr>
        <p:txBody>
          <a:bodyPr/>
          <a:lstStyle/>
          <a:p>
            <a:pPr algn="ctr"/>
            <a:r>
              <a:rPr lang="en-US" dirty="0"/>
              <a:t>Classic Life Cycle</a:t>
            </a:r>
          </a:p>
          <a:p>
            <a:pPr algn="ctr"/>
            <a:r>
              <a:rPr lang="en-US" dirty="0"/>
              <a:t>Prototyping</a:t>
            </a:r>
          </a:p>
          <a:p>
            <a:pPr algn="ctr"/>
            <a:r>
              <a:rPr lang="en-US" dirty="0"/>
              <a:t>Spiral Model</a:t>
            </a:r>
          </a:p>
          <a:p>
            <a:pPr algn="ctr"/>
            <a:r>
              <a:rPr lang="en-US" dirty="0"/>
              <a:t>Fourth Generation Technique</a:t>
            </a:r>
          </a:p>
          <a:p>
            <a:pPr algn="ctr"/>
            <a:r>
              <a:rPr lang="en-US" dirty="0"/>
              <a:t>Object-Oriented Model</a:t>
            </a:r>
          </a:p>
        </p:txBody>
      </p:sp>
      <p:sp>
        <p:nvSpPr>
          <p:cNvPr id="4" name="Rectangle 3"/>
          <p:cNvSpPr/>
          <p:nvPr/>
        </p:nvSpPr>
        <p:spPr>
          <a:xfrm>
            <a:off x="1212234" y="1739900"/>
            <a:ext cx="9227166" cy="1200329"/>
          </a:xfrm>
          <a:prstGeom prst="rect">
            <a:avLst/>
          </a:prstGeom>
        </p:spPr>
        <p:txBody>
          <a:bodyPr wrap="square">
            <a:spAutoFit/>
          </a:bodyPr>
          <a:lstStyle/>
          <a:p>
            <a:r>
              <a:rPr lang="en-US" dirty="0"/>
              <a:t>Software is more than just a program code. A program is an executable code, which serves some computational purpose. Software is considered to be a collection of executable programming code, associated libraries and documentations. Software, when made for a specific requirement is called a software product.</a:t>
            </a:r>
          </a:p>
        </p:txBody>
      </p:sp>
    </p:spTree>
    <p:extLst>
      <p:ext uri="{BB962C8B-B14F-4D97-AF65-F5344CB8AC3E}">
        <p14:creationId xmlns:p14="http://schemas.microsoft.com/office/powerpoint/2010/main" val="14751185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Waterfall Lifecycle</a:t>
            </a:r>
          </a:p>
        </p:txBody>
      </p:sp>
      <p:pic>
        <p:nvPicPr>
          <p:cNvPr id="2050" name="Picture 2" descr="http://2010.igem.org/wiki/images/c/c8/Newcastle_workflows_waterfall.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81466" y="3476579"/>
            <a:ext cx="6379301" cy="258892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677334" y="1270000"/>
            <a:ext cx="10587566" cy="2031325"/>
          </a:xfrm>
          <a:prstGeom prst="rect">
            <a:avLst/>
          </a:prstGeom>
        </p:spPr>
        <p:txBody>
          <a:bodyPr wrap="square">
            <a:spAutoFit/>
          </a:bodyPr>
          <a:lstStyle/>
          <a:p>
            <a:r>
              <a:rPr lang="en-US" dirty="0"/>
              <a:t>The Waterfall Model was the first Process Model to be introduced. It is very simple to understand and use. In a Waterfall model, each phase must be completed before the next phase can begin and there is no overlapping in the phases. The waterfall model is the earliest SDLC approach that was used for software development.</a:t>
            </a:r>
          </a:p>
          <a:p>
            <a:endParaRPr lang="en-US" dirty="0"/>
          </a:p>
          <a:p>
            <a:r>
              <a:rPr lang="en-US" dirty="0"/>
              <a:t>In “The Waterfall” approach, the whole process of software development is divided into separate phases. The outcome of one phase acts as the input for the next phase sequentially. This means that any phase in the development process begins only if the previous phase is complete.</a:t>
            </a:r>
          </a:p>
        </p:txBody>
      </p:sp>
    </p:spTree>
    <p:extLst>
      <p:ext uri="{BB962C8B-B14F-4D97-AF65-F5344CB8AC3E}">
        <p14:creationId xmlns:p14="http://schemas.microsoft.com/office/powerpoint/2010/main" val="23766817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Prototyping Model</a:t>
            </a:r>
          </a:p>
        </p:txBody>
      </p:sp>
      <p:pic>
        <p:nvPicPr>
          <p:cNvPr id="3074" name="Picture 2" descr="http://www.1stconsulting.biz/images/process.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70552" y="2794000"/>
            <a:ext cx="4038048" cy="471105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677334" y="1373138"/>
            <a:ext cx="8961966" cy="1754326"/>
          </a:xfrm>
          <a:prstGeom prst="rect">
            <a:avLst/>
          </a:prstGeom>
        </p:spPr>
        <p:txBody>
          <a:bodyPr wrap="square">
            <a:spAutoFit/>
          </a:bodyPr>
          <a:lstStyle/>
          <a:p>
            <a:r>
              <a:rPr lang="en-US" dirty="0"/>
              <a:t>Prototype Model is an early sample, model, or release of a product built to test a concept or process. It is a term used in a variety of contexts, including semantics, design, electronics, and software programming. A prototype is designed to test and try a new design to enhance precision by system analysts and users. Prototyping serves to provide specifications for a real, working system rather than a theoretical one.</a:t>
            </a:r>
          </a:p>
        </p:txBody>
      </p:sp>
      <p:sp>
        <p:nvSpPr>
          <p:cNvPr id="4" name="Rectangle 3"/>
          <p:cNvSpPr/>
          <p:nvPr/>
        </p:nvSpPr>
        <p:spPr>
          <a:xfrm>
            <a:off x="5901818" y="3569038"/>
            <a:ext cx="6096000" cy="2031325"/>
          </a:xfrm>
          <a:prstGeom prst="rect">
            <a:avLst/>
          </a:prstGeom>
        </p:spPr>
        <p:txBody>
          <a:bodyPr>
            <a:spAutoFit/>
          </a:bodyPr>
          <a:lstStyle/>
          <a:p>
            <a:r>
              <a:rPr lang="en-US" dirty="0">
                <a:solidFill>
                  <a:srgbClr val="303030"/>
                </a:solidFill>
                <a:latin typeface="Verdana" panose="020B0604030504040204" pitchFamily="34" charset="0"/>
              </a:rPr>
              <a:t>The basic idea here is that instead of freezing the requirements before a design or coding can proceed, a throwaway prototype is built to understand the requirements. This prototype is developed based on the currently known requirements. By using this prototype, the client can get a model or sample of the product.</a:t>
            </a:r>
            <a:endParaRPr lang="en-US" dirty="0"/>
          </a:p>
        </p:txBody>
      </p:sp>
    </p:spTree>
    <p:extLst>
      <p:ext uri="{BB962C8B-B14F-4D97-AF65-F5344CB8AC3E}">
        <p14:creationId xmlns:p14="http://schemas.microsoft.com/office/powerpoint/2010/main" val="24894249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Spiral Model</a:t>
            </a:r>
          </a:p>
        </p:txBody>
      </p:sp>
      <p:pic>
        <p:nvPicPr>
          <p:cNvPr id="5122" name="Picture 2" descr="http://skysoftwaresystem.com/Image/SpiralModel.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594969" y="3575923"/>
            <a:ext cx="5002061" cy="2760753"/>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677334" y="1270000"/>
            <a:ext cx="10295466" cy="2031325"/>
          </a:xfrm>
          <a:prstGeom prst="rect">
            <a:avLst/>
          </a:prstGeom>
        </p:spPr>
        <p:txBody>
          <a:bodyPr wrap="square">
            <a:spAutoFit/>
          </a:bodyPr>
          <a:lstStyle/>
          <a:p>
            <a:r>
              <a:rPr lang="en-US" dirty="0"/>
              <a:t>Spiral Model is a combination of Iterative Development Model and Waterfall Model with very high emphasis on risk analysis. It allows for incremental releases of the product, or incremental refinement through each iteration around the spiral.</a:t>
            </a:r>
          </a:p>
          <a:p>
            <a:endParaRPr lang="en-US" dirty="0"/>
          </a:p>
          <a:p>
            <a:r>
              <a:rPr lang="en-US" dirty="0"/>
              <a:t>This model is best used for large projects which involves continuous enhancements. There are specific activities which are done in one iteration (spiral) where the output is a small prototype of the large software. The same activities are then repeated for all the spirals till the entire software is build.</a:t>
            </a:r>
          </a:p>
        </p:txBody>
      </p:sp>
    </p:spTree>
    <p:extLst>
      <p:ext uri="{BB962C8B-B14F-4D97-AF65-F5344CB8AC3E}">
        <p14:creationId xmlns:p14="http://schemas.microsoft.com/office/powerpoint/2010/main" val="41212495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 Model</a:t>
            </a:r>
          </a:p>
        </p:txBody>
      </p:sp>
      <p:pic>
        <p:nvPicPr>
          <p:cNvPr id="4" name="Picture 3"/>
          <p:cNvPicPr>
            <a:picLocks noChangeAspect="1"/>
          </p:cNvPicPr>
          <p:nvPr/>
        </p:nvPicPr>
        <p:blipFill>
          <a:blip r:embed="rId2"/>
          <a:stretch>
            <a:fillRect/>
          </a:stretch>
        </p:blipFill>
        <p:spPr>
          <a:xfrm>
            <a:off x="4622006" y="3331738"/>
            <a:ext cx="2947988" cy="2845226"/>
          </a:xfrm>
          <a:prstGeom prst="rect">
            <a:avLst/>
          </a:prstGeom>
        </p:spPr>
      </p:pic>
      <p:sp>
        <p:nvSpPr>
          <p:cNvPr id="5" name="Rectangle 4"/>
          <p:cNvSpPr/>
          <p:nvPr/>
        </p:nvSpPr>
        <p:spPr>
          <a:xfrm>
            <a:off x="677334" y="1413639"/>
            <a:ext cx="10257366" cy="1477328"/>
          </a:xfrm>
          <a:prstGeom prst="rect">
            <a:avLst/>
          </a:prstGeom>
        </p:spPr>
        <p:txBody>
          <a:bodyPr wrap="square">
            <a:spAutoFit/>
          </a:bodyPr>
          <a:lstStyle/>
          <a:p>
            <a:r>
              <a:rPr lang="en-US" dirty="0"/>
              <a:t>The V-Model is SDLC model where execution of processes happens in a sequential manner in V-shape. It is also known as Verification and Validation Model. V-Model is an extension of the Waterfall Model and is based on association of a testing phase for each corresponding development stage. This means that for every single phase in the development cycle there is a directly associated testing phase. This is a highly disciplined model and next phase starts only after completion of the previous phase.</a:t>
            </a:r>
          </a:p>
        </p:txBody>
      </p:sp>
    </p:spTree>
    <p:extLst>
      <p:ext uri="{BB962C8B-B14F-4D97-AF65-F5344CB8AC3E}">
        <p14:creationId xmlns:p14="http://schemas.microsoft.com/office/powerpoint/2010/main" val="29710850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Iterative Model</a:t>
            </a:r>
          </a:p>
        </p:txBody>
      </p:sp>
      <p:sp>
        <p:nvSpPr>
          <p:cNvPr id="3" name="Rectangle 2"/>
          <p:cNvSpPr/>
          <p:nvPr/>
        </p:nvSpPr>
        <p:spPr>
          <a:xfrm>
            <a:off x="774700" y="1521937"/>
            <a:ext cx="10363200" cy="923330"/>
          </a:xfrm>
          <a:prstGeom prst="rect">
            <a:avLst/>
          </a:prstGeom>
        </p:spPr>
        <p:txBody>
          <a:bodyPr wrap="square">
            <a:spAutoFit/>
          </a:bodyPr>
          <a:lstStyle/>
          <a:p>
            <a:r>
              <a:rPr lang="en-US" dirty="0"/>
              <a:t>The Incremental Model is a method of software development where the product is designed, implemented and tested incrementally. Little more is added each time until the product is finished. It involves both development and maintenance.</a:t>
            </a:r>
          </a:p>
        </p:txBody>
      </p:sp>
      <p:pic>
        <p:nvPicPr>
          <p:cNvPr id="3074" name="Picture 2" descr="Image result for iterative mode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44000" y="3441700"/>
            <a:ext cx="4703999" cy="2489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71147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4D59466-1912-8271-86E3-F477E18B5B1C}"/>
              </a:ext>
            </a:extLst>
          </p:cNvPr>
          <p:cNvPicPr>
            <a:picLocks noGrp="1" noChangeAspect="1"/>
          </p:cNvPicPr>
          <p:nvPr>
            <p:ph sz="half" idx="1"/>
          </p:nvPr>
        </p:nvPicPr>
        <p:blipFill>
          <a:blip r:embed="rId2"/>
          <a:srcRect b="7025"/>
          <a:stretch/>
        </p:blipFill>
        <p:spPr>
          <a:xfrm>
            <a:off x="20" y="10"/>
            <a:ext cx="12191980" cy="6857990"/>
          </a:xfrm>
          <a:noFill/>
        </p:spPr>
      </p:pic>
    </p:spTree>
    <p:extLst>
      <p:ext uri="{BB962C8B-B14F-4D97-AF65-F5344CB8AC3E}">
        <p14:creationId xmlns:p14="http://schemas.microsoft.com/office/powerpoint/2010/main" val="8020571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Content Placeholder 9">
            <a:extLst>
              <a:ext uri="{FF2B5EF4-FFF2-40B4-BE49-F238E27FC236}">
                <a16:creationId xmlns:a16="http://schemas.microsoft.com/office/drawing/2014/main" id="{6BA2F099-DB6A-441B-194B-CF554D13AF6C}"/>
              </a:ext>
            </a:extLst>
          </p:cNvPr>
          <p:cNvPicPr>
            <a:picLocks noGrp="1" noChangeAspect="1"/>
          </p:cNvPicPr>
          <p:nvPr>
            <p:ph sz="half" idx="1"/>
          </p:nvPr>
        </p:nvPicPr>
        <p:blipFill>
          <a:blip r:embed="rId2"/>
          <a:stretch>
            <a:fillRect/>
          </a:stretch>
        </p:blipFill>
        <p:spPr>
          <a:xfrm>
            <a:off x="643467" y="661839"/>
            <a:ext cx="10905066" cy="5534321"/>
          </a:xfrm>
          <a:prstGeom prst="rect">
            <a:avLst/>
          </a:prstGeom>
        </p:spPr>
      </p:pic>
    </p:spTree>
    <p:extLst>
      <p:ext uri="{BB962C8B-B14F-4D97-AF65-F5344CB8AC3E}">
        <p14:creationId xmlns:p14="http://schemas.microsoft.com/office/powerpoint/2010/main" val="10963182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6" name="Content Placeholder 5" descr="A screenshot of a computer&#10;&#10;Description automatically generated">
            <a:extLst>
              <a:ext uri="{FF2B5EF4-FFF2-40B4-BE49-F238E27FC236}">
                <a16:creationId xmlns:a16="http://schemas.microsoft.com/office/drawing/2014/main" id="{B713182A-53A2-BA66-B0A1-2FAAFA65246E}"/>
              </a:ext>
            </a:extLst>
          </p:cNvPr>
          <p:cNvPicPr>
            <a:picLocks noGrp="1" noChangeAspect="1"/>
          </p:cNvPicPr>
          <p:nvPr>
            <p:ph sz="half" idx="1"/>
          </p:nvPr>
        </p:nvPicPr>
        <p:blipFill>
          <a:blip r:embed="rId3"/>
          <a:srcRect r="4428" b="1"/>
          <a:stretch/>
        </p:blipFill>
        <p:spPr>
          <a:xfrm>
            <a:off x="20" y="1282"/>
            <a:ext cx="12191980" cy="6856718"/>
          </a:xfrm>
          <a:prstGeom prst="rect">
            <a:avLst/>
          </a:prstGeom>
        </p:spPr>
      </p:pic>
    </p:spTree>
    <p:extLst>
      <p:ext uri="{BB962C8B-B14F-4D97-AF65-F5344CB8AC3E}">
        <p14:creationId xmlns:p14="http://schemas.microsoft.com/office/powerpoint/2010/main" val="36945622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475</TotalTime>
  <Words>1548</Words>
  <Application>Microsoft Office PowerPoint</Application>
  <PresentationFormat>Widescreen</PresentationFormat>
  <Paragraphs>88</Paragraphs>
  <Slides>25</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Arial</vt:lpstr>
      <vt:lpstr>Arial</vt:lpstr>
      <vt:lpstr>Calibri</vt:lpstr>
      <vt:lpstr>Calibri Light</vt:lpstr>
      <vt:lpstr>Söhne</vt:lpstr>
      <vt:lpstr>Verdana</vt:lpstr>
      <vt:lpstr>Work Sans</vt:lpstr>
      <vt:lpstr>Office Theme</vt:lpstr>
      <vt:lpstr>Software Engineering</vt:lpstr>
      <vt:lpstr>Objectives:</vt:lpstr>
      <vt:lpstr>Software</vt:lpstr>
      <vt:lpstr>Software-related Problems</vt:lpstr>
      <vt:lpstr>Software Characteristics</vt:lpstr>
      <vt:lpstr>Software Characteristics</vt:lpstr>
      <vt:lpstr>Sample Software Applications</vt:lpstr>
      <vt:lpstr>PowerPoint Presentation</vt:lpstr>
      <vt:lpstr>Software Engineering</vt:lpstr>
      <vt:lpstr>Software Engineering Layers</vt:lpstr>
      <vt:lpstr>PowerPoint Presentation</vt:lpstr>
      <vt:lpstr>PowerPoint Presentation</vt:lpstr>
      <vt:lpstr>PowerPoint Presentation</vt:lpstr>
      <vt:lpstr>PowerPoint Presentation</vt:lpstr>
      <vt:lpstr>Tools</vt:lpstr>
      <vt:lpstr>Method and Process</vt:lpstr>
      <vt:lpstr>Software Engineering Paradigms</vt:lpstr>
      <vt:lpstr>Waterfall Lifecycle</vt:lpstr>
      <vt:lpstr>Prototyping Model</vt:lpstr>
      <vt:lpstr>Spiral Model</vt:lpstr>
      <vt:lpstr>V Model</vt:lpstr>
      <vt:lpstr>Iterative Model</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dc:title>
  <dc:creator>Gabby</dc:creator>
  <cp:lastModifiedBy>laptop 16</cp:lastModifiedBy>
  <cp:revision>34</cp:revision>
  <dcterms:created xsi:type="dcterms:W3CDTF">2016-06-21T23:41:49Z</dcterms:created>
  <dcterms:modified xsi:type="dcterms:W3CDTF">2024-08-30T10:26:19Z</dcterms:modified>
</cp:coreProperties>
</file>