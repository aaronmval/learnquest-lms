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4" r:id="rId29"/>
    <p:sldId id="283" r:id="rId30"/>
    <p:sldId id="285" r:id="rId31"/>
    <p:sldId id="286" r:id="rId32"/>
    <p:sldId id="295" r:id="rId33"/>
    <p:sldId id="287" r:id="rId34"/>
    <p:sldId id="288" r:id="rId35"/>
    <p:sldId id="289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824" autoAdjust="0"/>
  </p:normalViewPr>
  <p:slideViewPr>
    <p:cSldViewPr snapToGrid="0">
      <p:cViewPr varScale="1">
        <p:scale>
          <a:sx n="77" d="100"/>
          <a:sy n="77" d="100"/>
        </p:scale>
        <p:origin x="1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B5B204-C1D9-4A89-BF30-8F2CFF8F7DAE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F6BDC-D162-4E5E-B828-CCC031644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270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factors that compose the project are dependent on one another. If changes occur, other factors will be affected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0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65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 – accountable for the project to be successful under the 3 constraints ( goal/target, time and money)</a:t>
            </a:r>
          </a:p>
          <a:p>
            <a:r>
              <a:rPr lang="en-US" dirty="0"/>
              <a:t>What id the budget and time are insufficient? PM is responsible to assess, discuss, negotiate and adjust…</a:t>
            </a:r>
          </a:p>
          <a:p>
            <a:r>
              <a:rPr lang="en-US" dirty="0"/>
              <a:t>Target versus Realistic expectation??? – need to utilize the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6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is this </a:t>
            </a:r>
            <a:r>
              <a:rPr lang="en-US" dirty="0" err="1"/>
              <a:t>guy?U.S</a:t>
            </a:r>
            <a:r>
              <a:rPr lang="en-US" dirty="0"/>
              <a:t>. Pres. Harry Truman</a:t>
            </a:r>
          </a:p>
          <a:p>
            <a:r>
              <a:rPr lang="en-US" dirty="0"/>
              <a:t>Accountable means not just to commit but to deliver</a:t>
            </a:r>
          </a:p>
          <a:p>
            <a:r>
              <a:rPr lang="en-US" dirty="0"/>
              <a:t>PM accountable for the tasks of all related parties (managers, vendors, and other stakeholders)</a:t>
            </a:r>
          </a:p>
          <a:p>
            <a:r>
              <a:rPr lang="en-US" dirty="0"/>
              <a:t>PM has full control on the project and solve immediately the problem that arises. Immediately take action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28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Size – complete size of the project</a:t>
            </a:r>
          </a:p>
          <a:p>
            <a:r>
              <a:rPr lang="en-US" dirty="0"/>
              <a:t>Quantity amount or dimension – how many resources – hardware, software , human resources are required for a particular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594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*metric – example total number of errors occur per hour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60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66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Cost per 1,000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81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11111"/>
                </a:solidFill>
                <a:effectLst/>
                <a:latin typeface="Poppins" panose="00000500000000000000" pitchFamily="2" charset="0"/>
              </a:rPr>
              <a:t>Software Developer Objectives</a:t>
            </a:r>
          </a:p>
          <a:p>
            <a:r>
              <a:rPr lang="en-US" b="0" i="0" dirty="0">
                <a:solidFill>
                  <a:srgbClr val="111111"/>
                </a:solidFill>
                <a:effectLst/>
                <a:latin typeface="Poppins" panose="00000500000000000000" pitchFamily="2" charset="0"/>
              </a:rPr>
              <a:t>Software Development team objectives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F6BDC-D162-4E5E-B828-CCC0316444F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0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B0FE-0BF9-9D9D-88FB-2C49F3631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B16E1-1B08-955A-0C1A-08F65C6AB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BF3BF-9F1D-633F-3281-29E079F4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15BD4-E6A3-7F67-1FCF-9C5F0B530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0CD18-0389-EDAA-AD0A-781EEE300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840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FFA0-03CC-F3CD-58F7-7F996A915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C4933-3CD7-B107-127E-C6E613787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AFCEF-4821-A4F4-4D44-48405E10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2E675-540D-1C6B-9ECF-F0F2F310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BDC17-4D2F-0930-4788-E3B9012C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72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1ABD1-3F0D-30E7-8B0F-0DCBBD99A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819C0-0E24-11AB-2786-235F4534E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351CE-1FE3-B995-34EC-309B2805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5326E-712D-E184-D61F-062A4525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480C3-63EA-D06B-095A-35229B93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80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51FE-ACB0-19EE-E803-AF1516A4A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2504D-1850-EC02-2144-4B63A8C58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CCC6E-C017-4C3A-96AF-7804A3F0D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E8EFF-62C3-7031-FF3E-4AC30502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D5391-13D9-8BE0-F179-46EC7C00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199AC-C9A1-820C-412D-B04404D9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7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7F9E-08C5-CC0C-DF1E-DBC86CC0E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2271C-5AD8-FCB0-4D51-D07104D7A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0B5F9-C70B-AD87-0E7E-14691FBC5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19DD4-D49B-79BF-E582-A2B465D634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55D028-35A3-BE7D-5B93-B554C6386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35D29-940B-3864-7306-485BBFD3D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B3C7D6-36E8-D33C-98C6-3A31C046E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C3BDED-761B-2CE6-9CB3-D32D675E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70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AD58-483C-6607-09B6-3BD85EF9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9D19BD-D5F8-B828-1CC1-D51718648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65210-9AE6-A105-25E0-2817AE3C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0D39F-14C1-15C5-2AAD-78F07C4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9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0A77F-A808-4481-B02A-7F05B649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37D2E-2EC1-B468-6017-55E3189D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FD66B-6003-84A1-F7DF-66AE49446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28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7B3D-AFFE-7F9B-7DA4-7522EA53A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B818A-382F-B039-B02F-6426E5430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7EDF9-324D-CE44-157E-81A744FE8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2AE2C-C92C-C69B-5830-F7D125AB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066DE-DD98-E8CF-A52B-543AF05C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AFB0F-975E-136D-668B-E47C1E66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8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AEB7-E728-413A-46F5-28B98DED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15CE8C-020E-AEE6-DA82-EF658666A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226CE-30E5-8779-76D7-3FF52EC32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188A-C588-A0A2-0A6E-4852139B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3493B-4EA9-D92B-1F9C-61CF582E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AAB55-ED80-7579-AF3B-ED2D1FC8F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43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1475-2D87-A77E-FC0F-452C0681A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AF951-F530-DBF9-D556-FA233901C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E9826-E204-D933-2364-F859EE58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B040D-E0A3-84F7-D628-EBA04FDE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22E67-6B1F-CC92-A65F-C01BB9EA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9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28BA31-B6AE-D0D8-6D92-C30A21B92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AE207-1923-7FB9-DBBC-E7AEDD5A6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87BB8-5719-E147-15ED-4610B5EF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E9615-3FD4-8D2D-D9FC-2F6AC50C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830A5-FAFD-6E2F-9EF2-299122E3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66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39486-DF93-44F9-8885-FE7B1D61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C9B8E-228F-B89A-2E12-0CA2FDBE7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E57DE-7230-9627-3821-F530331B1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75AFC-108C-4D08-8B1D-A4BFFA4849BF}" type="datetimeFigureOut">
              <a:rPr lang="en-US" smtClean="0"/>
              <a:t>9/11/2023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7BAE6-1E98-EF7B-7814-55116AF22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ED812-15F7-02E4-B71F-C890BD2C5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5331B-61CC-48E4-AA39-9F7940F48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7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D74C4-6C8E-506A-667D-DA35C2035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8716" y="955309"/>
            <a:ext cx="7074568" cy="2898975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rgbClr val="FFFFFF"/>
                </a:solidFill>
              </a:rPr>
              <a:t>What is a project?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9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6A5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1F2D7-9356-ABCE-7B37-03027CC7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does it mean by a politician when he says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EE80D0-FD2B-FD11-59FD-B493D2797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684448"/>
            <a:ext cx="7347537" cy="349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3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182C109-9E4C-3C96-8794-9411573CB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C864660-C52B-BC40-9AE0-D900B4B67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FD81F2E-754B-ACB7-ECD1-E1DADAD07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B2A2591-0296-4CF4-E75F-51D7CB8E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78A07A2-FD92-5AD1-01EE-9D7AEAB887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680C0C-65E0-05FC-2E13-290D73321E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2687" b="1"/>
          <a:stretch/>
        </p:blipFill>
        <p:spPr>
          <a:xfrm>
            <a:off x="567526" y="559901"/>
            <a:ext cx="11056947" cy="573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87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92BB0C-13FA-9770-9A63-56626EC0E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795" r="9856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9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E8974BA-67ED-BF94-4A2B-8648F7C4B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365" y="1700848"/>
            <a:ext cx="5947410" cy="83180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3F6140-495B-1D02-A1E5-B848FB8A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25" y="365125"/>
            <a:ext cx="5048616" cy="5533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DA5435-55A2-14E4-D55A-6CD6FAB31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365" y="3058454"/>
            <a:ext cx="5947410" cy="74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85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D1D4658-32CD-4903-BDA6-7B54EEA4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7A29A97C-0C3C-4F06-9CA4-68DFD1CE4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0886" y="983228"/>
            <a:ext cx="8301112" cy="5874772"/>
          </a:xfrm>
          <a:custGeom>
            <a:avLst/>
            <a:gdLst>
              <a:gd name="connsiteX0" fmla="*/ 3607511 w 8301112"/>
              <a:gd name="connsiteY0" fmla="*/ 0 h 5874772"/>
              <a:gd name="connsiteX1" fmla="*/ 8106431 w 8301112"/>
              <a:gd name="connsiteY1" fmla="*/ 0 h 5874772"/>
              <a:gd name="connsiteX2" fmla="*/ 8301112 w 8301112"/>
              <a:gd name="connsiteY2" fmla="*/ 0 h 5874772"/>
              <a:gd name="connsiteX3" fmla="*/ 8301112 w 8301112"/>
              <a:gd name="connsiteY3" fmla="*/ 5874772 h 5874772"/>
              <a:gd name="connsiteX4" fmla="*/ 27685 w 8301112"/>
              <a:gd name="connsiteY4" fmla="*/ 5874772 h 5874772"/>
              <a:gd name="connsiteX5" fmla="*/ 24376 w 8301112"/>
              <a:gd name="connsiteY5" fmla="*/ 5862584 h 5874772"/>
              <a:gd name="connsiteX6" fmla="*/ 97502 w 8301112"/>
              <a:gd name="connsiteY6" fmla="*/ 5167850 h 5874772"/>
              <a:gd name="connsiteX7" fmla="*/ 2827510 w 8301112"/>
              <a:gd name="connsiteY7" fmla="*/ 438782 h 5874772"/>
              <a:gd name="connsiteX8" fmla="*/ 3607511 w 8301112"/>
              <a:gd name="connsiteY8" fmla="*/ 0 h 587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301112" h="5874772">
                <a:moveTo>
                  <a:pt x="3607511" y="0"/>
                </a:moveTo>
                <a:cubicBezTo>
                  <a:pt x="3607511" y="0"/>
                  <a:pt x="3607511" y="0"/>
                  <a:pt x="8106431" y="0"/>
                </a:cubicBezTo>
                <a:lnTo>
                  <a:pt x="8301112" y="0"/>
                </a:lnTo>
                <a:lnTo>
                  <a:pt x="8301112" y="5874772"/>
                </a:lnTo>
                <a:lnTo>
                  <a:pt x="27685" y="5874772"/>
                </a:lnTo>
                <a:lnTo>
                  <a:pt x="24376" y="5862584"/>
                </a:lnTo>
                <a:cubicBezTo>
                  <a:pt x="-24375" y="5631005"/>
                  <a:pt x="0" y="5362863"/>
                  <a:pt x="97502" y="5167850"/>
                </a:cubicBezTo>
                <a:cubicBezTo>
                  <a:pt x="97502" y="5167850"/>
                  <a:pt x="97502" y="5167850"/>
                  <a:pt x="2827510" y="438782"/>
                </a:cubicBezTo>
                <a:cubicBezTo>
                  <a:pt x="2973760" y="195014"/>
                  <a:pt x="3331265" y="0"/>
                  <a:pt x="3607511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01292C1-8B12-4AF2-9B59-8851A132E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6700" y="360023"/>
            <a:ext cx="5342806" cy="4453168"/>
          </a:xfrm>
          <a:custGeom>
            <a:avLst/>
            <a:gdLst>
              <a:gd name="connsiteX0" fmla="*/ 313737 w 5342806"/>
              <a:gd name="connsiteY0" fmla="*/ 2699726 h 4453168"/>
              <a:gd name="connsiteX1" fmla="*/ 775980 w 5342806"/>
              <a:gd name="connsiteY1" fmla="*/ 2699726 h 4453168"/>
              <a:gd name="connsiteX2" fmla="*/ 846865 w 5342806"/>
              <a:gd name="connsiteY2" fmla="*/ 2741502 h 4453168"/>
              <a:gd name="connsiteX3" fmla="*/ 1078485 w 5342806"/>
              <a:gd name="connsiteY3" fmla="*/ 3140369 h 4453168"/>
              <a:gd name="connsiteX4" fmla="*/ 1078485 w 5342806"/>
              <a:gd name="connsiteY4" fmla="*/ 3221933 h 4453168"/>
              <a:gd name="connsiteX5" fmla="*/ 846865 w 5342806"/>
              <a:gd name="connsiteY5" fmla="*/ 3620799 h 4453168"/>
              <a:gd name="connsiteX6" fmla="*/ 775980 w 5342806"/>
              <a:gd name="connsiteY6" fmla="*/ 3662576 h 4453168"/>
              <a:gd name="connsiteX7" fmla="*/ 313737 w 5342806"/>
              <a:gd name="connsiteY7" fmla="*/ 3662576 h 4453168"/>
              <a:gd name="connsiteX8" fmla="*/ 241855 w 5342806"/>
              <a:gd name="connsiteY8" fmla="*/ 3620799 h 4453168"/>
              <a:gd name="connsiteX9" fmla="*/ 11232 w 5342806"/>
              <a:gd name="connsiteY9" fmla="*/ 3221933 h 4453168"/>
              <a:gd name="connsiteX10" fmla="*/ 11232 w 5342806"/>
              <a:gd name="connsiteY10" fmla="*/ 3140369 h 4453168"/>
              <a:gd name="connsiteX11" fmla="*/ 241855 w 5342806"/>
              <a:gd name="connsiteY11" fmla="*/ 2741502 h 4453168"/>
              <a:gd name="connsiteX12" fmla="*/ 313737 w 5342806"/>
              <a:gd name="connsiteY12" fmla="*/ 2699726 h 4453168"/>
              <a:gd name="connsiteX13" fmla="*/ 2150770 w 5342806"/>
              <a:gd name="connsiteY13" fmla="*/ 492430 h 4453168"/>
              <a:gd name="connsiteX14" fmla="*/ 2388454 w 5342806"/>
              <a:gd name="connsiteY14" fmla="*/ 492430 h 4453168"/>
              <a:gd name="connsiteX15" fmla="*/ 2416181 w 5342806"/>
              <a:gd name="connsiteY15" fmla="*/ 492430 h 4453168"/>
              <a:gd name="connsiteX16" fmla="*/ 2442639 w 5342806"/>
              <a:gd name="connsiteY16" fmla="*/ 537992 h 4453168"/>
              <a:gd name="connsiteX17" fmla="*/ 2572233 w 5342806"/>
              <a:gd name="connsiteY17" fmla="*/ 761161 h 4453168"/>
              <a:gd name="connsiteX18" fmla="*/ 2572233 w 5342806"/>
              <a:gd name="connsiteY18" fmla="*/ 886078 h 4453168"/>
              <a:gd name="connsiteX19" fmla="*/ 2217501 w 5342806"/>
              <a:gd name="connsiteY19" fmla="*/ 1496950 h 4453168"/>
              <a:gd name="connsiteX20" fmla="*/ 2108941 w 5342806"/>
              <a:gd name="connsiteY20" fmla="*/ 1560931 h 4453168"/>
              <a:gd name="connsiteX21" fmla="*/ 1401007 w 5342806"/>
              <a:gd name="connsiteY21" fmla="*/ 1560931 h 4453168"/>
              <a:gd name="connsiteX22" fmla="*/ 1367679 w 5342806"/>
              <a:gd name="connsiteY22" fmla="*/ 1556504 h 4453168"/>
              <a:gd name="connsiteX23" fmla="*/ 1344756 w 5342806"/>
              <a:gd name="connsiteY23" fmla="*/ 1546893 h 4453168"/>
              <a:gd name="connsiteX24" fmla="*/ 1358765 w 5342806"/>
              <a:gd name="connsiteY24" fmla="*/ 1522665 h 4453168"/>
              <a:gd name="connsiteX25" fmla="*/ 1855078 w 5342806"/>
              <a:gd name="connsiteY25" fmla="*/ 664281 h 4453168"/>
              <a:gd name="connsiteX26" fmla="*/ 2150770 w 5342806"/>
              <a:gd name="connsiteY26" fmla="*/ 492430 h 4453168"/>
              <a:gd name="connsiteX27" fmla="*/ 1359084 w 5342806"/>
              <a:gd name="connsiteY27" fmla="*/ 0 h 4453168"/>
              <a:gd name="connsiteX28" fmla="*/ 2157630 w 5342806"/>
              <a:gd name="connsiteY28" fmla="*/ 0 h 4453168"/>
              <a:gd name="connsiteX29" fmla="*/ 2280085 w 5342806"/>
              <a:gd name="connsiteY29" fmla="*/ 72172 h 4453168"/>
              <a:gd name="connsiteX30" fmla="*/ 2494708 w 5342806"/>
              <a:gd name="connsiteY30" fmla="*/ 441767 h 4453168"/>
              <a:gd name="connsiteX31" fmla="*/ 2518954 w 5342806"/>
              <a:gd name="connsiteY31" fmla="*/ 483519 h 4453168"/>
              <a:gd name="connsiteX32" fmla="*/ 2499877 w 5342806"/>
              <a:gd name="connsiteY32" fmla="*/ 483519 h 4453168"/>
              <a:gd name="connsiteX33" fmla="*/ 2409708 w 5342806"/>
              <a:gd name="connsiteY33" fmla="*/ 483519 h 4453168"/>
              <a:gd name="connsiteX34" fmla="*/ 2370537 w 5342806"/>
              <a:gd name="connsiteY34" fmla="*/ 416064 h 4453168"/>
              <a:gd name="connsiteX35" fmla="*/ 2220885 w 5342806"/>
              <a:gd name="connsiteY35" fmla="*/ 158353 h 4453168"/>
              <a:gd name="connsiteX36" fmla="*/ 2112324 w 5342806"/>
              <a:gd name="connsiteY36" fmla="*/ 94371 h 4453168"/>
              <a:gd name="connsiteX37" fmla="*/ 1404390 w 5342806"/>
              <a:gd name="connsiteY37" fmla="*/ 94371 h 4453168"/>
              <a:gd name="connsiteX38" fmla="*/ 1294301 w 5342806"/>
              <a:gd name="connsiteY38" fmla="*/ 158353 h 4453168"/>
              <a:gd name="connsiteX39" fmla="*/ 941098 w 5342806"/>
              <a:gd name="connsiteY39" fmla="*/ 769224 h 4453168"/>
              <a:gd name="connsiteX40" fmla="*/ 941098 w 5342806"/>
              <a:gd name="connsiteY40" fmla="*/ 894141 h 4453168"/>
              <a:gd name="connsiteX41" fmla="*/ 1294301 w 5342806"/>
              <a:gd name="connsiteY41" fmla="*/ 1505013 h 4453168"/>
              <a:gd name="connsiteX42" fmla="*/ 1340745 w 5342806"/>
              <a:gd name="connsiteY42" fmla="*/ 1551856 h 4453168"/>
              <a:gd name="connsiteX43" fmla="*/ 1346119 w 5342806"/>
              <a:gd name="connsiteY43" fmla="*/ 1554109 h 4453168"/>
              <a:gd name="connsiteX44" fmla="*/ 1317310 w 5342806"/>
              <a:gd name="connsiteY44" fmla="*/ 1603934 h 4453168"/>
              <a:gd name="connsiteX45" fmla="*/ 1295884 w 5342806"/>
              <a:gd name="connsiteY45" fmla="*/ 1640991 h 4453168"/>
              <a:gd name="connsiteX46" fmla="*/ 1318107 w 5342806"/>
              <a:gd name="connsiteY46" fmla="*/ 1650309 h 4453168"/>
              <a:gd name="connsiteX47" fmla="*/ 1355700 w 5342806"/>
              <a:gd name="connsiteY47" fmla="*/ 1655302 h 4453168"/>
              <a:gd name="connsiteX48" fmla="*/ 2154247 w 5342806"/>
              <a:gd name="connsiteY48" fmla="*/ 1655302 h 4453168"/>
              <a:gd name="connsiteX49" fmla="*/ 2276701 w 5342806"/>
              <a:gd name="connsiteY49" fmla="*/ 1583132 h 4453168"/>
              <a:gd name="connsiteX50" fmla="*/ 2676837 w 5342806"/>
              <a:gd name="connsiteY50" fmla="*/ 894072 h 4453168"/>
              <a:gd name="connsiteX51" fmla="*/ 2676837 w 5342806"/>
              <a:gd name="connsiteY51" fmla="*/ 753167 h 4453168"/>
              <a:gd name="connsiteX52" fmla="*/ 2544761 w 5342806"/>
              <a:gd name="connsiteY52" fmla="*/ 525724 h 4453168"/>
              <a:gd name="connsiteX53" fmla="*/ 2525427 w 5342806"/>
              <a:gd name="connsiteY53" fmla="*/ 492430 h 4453168"/>
              <a:gd name="connsiteX54" fmla="*/ 2614995 w 5342806"/>
              <a:gd name="connsiteY54" fmla="*/ 492430 h 4453168"/>
              <a:gd name="connsiteX55" fmla="*/ 4052233 w 5342806"/>
              <a:gd name="connsiteY55" fmla="*/ 492430 h 4453168"/>
              <a:gd name="connsiteX56" fmla="*/ 4343819 w 5342806"/>
              <a:gd name="connsiteY56" fmla="*/ 664281 h 4453168"/>
              <a:gd name="connsiteX57" fmla="*/ 5296604 w 5342806"/>
              <a:gd name="connsiteY57" fmla="*/ 2305041 h 4453168"/>
              <a:gd name="connsiteX58" fmla="*/ 5296604 w 5342806"/>
              <a:gd name="connsiteY58" fmla="*/ 2640558 h 4453168"/>
              <a:gd name="connsiteX59" fmla="*/ 4343819 w 5342806"/>
              <a:gd name="connsiteY59" fmla="*/ 4281318 h 4453168"/>
              <a:gd name="connsiteX60" fmla="*/ 4052233 w 5342806"/>
              <a:gd name="connsiteY60" fmla="*/ 4453168 h 4453168"/>
              <a:gd name="connsiteX61" fmla="*/ 2150770 w 5342806"/>
              <a:gd name="connsiteY61" fmla="*/ 4453168 h 4453168"/>
              <a:gd name="connsiteX62" fmla="*/ 1855078 w 5342806"/>
              <a:gd name="connsiteY62" fmla="*/ 4281318 h 4453168"/>
              <a:gd name="connsiteX63" fmla="*/ 906399 w 5342806"/>
              <a:gd name="connsiteY63" fmla="*/ 2640558 h 4453168"/>
              <a:gd name="connsiteX64" fmla="*/ 906399 w 5342806"/>
              <a:gd name="connsiteY64" fmla="*/ 2305041 h 4453168"/>
              <a:gd name="connsiteX65" fmla="*/ 1258651 w 5342806"/>
              <a:gd name="connsiteY65" fmla="*/ 1695815 h 4453168"/>
              <a:gd name="connsiteX66" fmla="*/ 1288338 w 5342806"/>
              <a:gd name="connsiteY66" fmla="*/ 1644472 h 4453168"/>
              <a:gd name="connsiteX67" fmla="*/ 1287293 w 5342806"/>
              <a:gd name="connsiteY67" fmla="*/ 1644034 h 4453168"/>
              <a:gd name="connsiteX68" fmla="*/ 1234904 w 5342806"/>
              <a:gd name="connsiteY68" fmla="*/ 1591195 h 4453168"/>
              <a:gd name="connsiteX69" fmla="*/ 836494 w 5342806"/>
              <a:gd name="connsiteY69" fmla="*/ 902135 h 4453168"/>
              <a:gd name="connsiteX70" fmla="*/ 836494 w 5342806"/>
              <a:gd name="connsiteY70" fmla="*/ 761230 h 4453168"/>
              <a:gd name="connsiteX71" fmla="*/ 1234904 w 5342806"/>
              <a:gd name="connsiteY71" fmla="*/ 72172 h 4453168"/>
              <a:gd name="connsiteX72" fmla="*/ 1359084 w 5342806"/>
              <a:gd name="connsiteY72" fmla="*/ 0 h 4453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5342806" h="4453168">
                <a:moveTo>
                  <a:pt x="313737" y="2699726"/>
                </a:moveTo>
                <a:cubicBezTo>
                  <a:pt x="313737" y="2699726"/>
                  <a:pt x="313737" y="2699726"/>
                  <a:pt x="775980" y="2699726"/>
                </a:cubicBezTo>
                <a:cubicBezTo>
                  <a:pt x="804933" y="2699726"/>
                  <a:pt x="832887" y="2715641"/>
                  <a:pt x="846865" y="2741502"/>
                </a:cubicBezTo>
                <a:cubicBezTo>
                  <a:pt x="846865" y="2741502"/>
                  <a:pt x="846865" y="2741502"/>
                  <a:pt x="1078485" y="3140369"/>
                </a:cubicBezTo>
                <a:cubicBezTo>
                  <a:pt x="1093461" y="3165236"/>
                  <a:pt x="1093461" y="3197066"/>
                  <a:pt x="1078485" y="3221933"/>
                </a:cubicBezTo>
                <a:cubicBezTo>
                  <a:pt x="1078485" y="3221933"/>
                  <a:pt x="1078485" y="3221933"/>
                  <a:pt x="846865" y="3620799"/>
                </a:cubicBezTo>
                <a:cubicBezTo>
                  <a:pt x="832887" y="3646661"/>
                  <a:pt x="804933" y="3662576"/>
                  <a:pt x="775980" y="3662576"/>
                </a:cubicBezTo>
                <a:cubicBezTo>
                  <a:pt x="775980" y="3662576"/>
                  <a:pt x="775980" y="3662576"/>
                  <a:pt x="313737" y="3662576"/>
                </a:cubicBezTo>
                <a:cubicBezTo>
                  <a:pt x="283786" y="3662576"/>
                  <a:pt x="256830" y="3646661"/>
                  <a:pt x="241855" y="3620799"/>
                </a:cubicBezTo>
                <a:cubicBezTo>
                  <a:pt x="241855" y="3620799"/>
                  <a:pt x="241855" y="3620799"/>
                  <a:pt x="11232" y="3221933"/>
                </a:cubicBezTo>
                <a:cubicBezTo>
                  <a:pt x="-3743" y="3197066"/>
                  <a:pt x="-3743" y="3165236"/>
                  <a:pt x="11232" y="3140369"/>
                </a:cubicBezTo>
                <a:cubicBezTo>
                  <a:pt x="11232" y="3140369"/>
                  <a:pt x="11232" y="3140369"/>
                  <a:pt x="241855" y="2741502"/>
                </a:cubicBezTo>
                <a:cubicBezTo>
                  <a:pt x="256830" y="2715641"/>
                  <a:pt x="283786" y="2699726"/>
                  <a:pt x="313737" y="2699726"/>
                </a:cubicBezTo>
                <a:close/>
                <a:moveTo>
                  <a:pt x="2150770" y="492430"/>
                </a:moveTo>
                <a:cubicBezTo>
                  <a:pt x="2150770" y="492430"/>
                  <a:pt x="2150770" y="492430"/>
                  <a:pt x="2388454" y="492430"/>
                </a:cubicBezTo>
                <a:lnTo>
                  <a:pt x="2416181" y="492430"/>
                </a:lnTo>
                <a:lnTo>
                  <a:pt x="2442639" y="537992"/>
                </a:lnTo>
                <a:cubicBezTo>
                  <a:pt x="2479480" y="601434"/>
                  <a:pt x="2522349" y="675258"/>
                  <a:pt x="2572233" y="761161"/>
                </a:cubicBezTo>
                <a:cubicBezTo>
                  <a:pt x="2595168" y="799246"/>
                  <a:pt x="2595168" y="847994"/>
                  <a:pt x="2572233" y="886078"/>
                </a:cubicBezTo>
                <a:cubicBezTo>
                  <a:pt x="2572233" y="886078"/>
                  <a:pt x="2572233" y="886078"/>
                  <a:pt x="2217501" y="1496950"/>
                </a:cubicBezTo>
                <a:cubicBezTo>
                  <a:pt x="2196094" y="1536558"/>
                  <a:pt x="2153283" y="1560931"/>
                  <a:pt x="2108941" y="1560931"/>
                </a:cubicBezTo>
                <a:cubicBezTo>
                  <a:pt x="2108941" y="1560931"/>
                  <a:pt x="2108941" y="1560931"/>
                  <a:pt x="1401007" y="1560931"/>
                </a:cubicBezTo>
                <a:cubicBezTo>
                  <a:pt x="1389539" y="1560931"/>
                  <a:pt x="1378359" y="1559408"/>
                  <a:pt x="1367679" y="1556504"/>
                </a:cubicBezTo>
                <a:lnTo>
                  <a:pt x="1344756" y="1546893"/>
                </a:lnTo>
                <a:lnTo>
                  <a:pt x="1358765" y="1522665"/>
                </a:lnTo>
                <a:cubicBezTo>
                  <a:pt x="1485427" y="1303600"/>
                  <a:pt x="1647555" y="1023197"/>
                  <a:pt x="1855078" y="664281"/>
                </a:cubicBezTo>
                <a:cubicBezTo>
                  <a:pt x="1916680" y="557897"/>
                  <a:pt x="2027565" y="492430"/>
                  <a:pt x="2150770" y="492430"/>
                </a:cubicBezTo>
                <a:close/>
                <a:moveTo>
                  <a:pt x="1359084" y="0"/>
                </a:moveTo>
                <a:cubicBezTo>
                  <a:pt x="1359084" y="0"/>
                  <a:pt x="1359084" y="0"/>
                  <a:pt x="2157630" y="0"/>
                </a:cubicBezTo>
                <a:cubicBezTo>
                  <a:pt x="2207647" y="0"/>
                  <a:pt x="2255938" y="27495"/>
                  <a:pt x="2280085" y="72172"/>
                </a:cubicBezTo>
                <a:cubicBezTo>
                  <a:pt x="2280085" y="72172"/>
                  <a:pt x="2280085" y="72172"/>
                  <a:pt x="2494708" y="441767"/>
                </a:cubicBezTo>
                <a:lnTo>
                  <a:pt x="2518954" y="483519"/>
                </a:lnTo>
                <a:lnTo>
                  <a:pt x="2499877" y="483519"/>
                </a:lnTo>
                <a:lnTo>
                  <a:pt x="2409708" y="483519"/>
                </a:lnTo>
                <a:lnTo>
                  <a:pt x="2370537" y="416064"/>
                </a:lnTo>
                <a:cubicBezTo>
                  <a:pt x="2220885" y="158353"/>
                  <a:pt x="2220885" y="158353"/>
                  <a:pt x="2220885" y="158353"/>
                </a:cubicBezTo>
                <a:cubicBezTo>
                  <a:pt x="2199478" y="118745"/>
                  <a:pt x="2156666" y="94371"/>
                  <a:pt x="2112324" y="94371"/>
                </a:cubicBezTo>
                <a:cubicBezTo>
                  <a:pt x="1404390" y="94371"/>
                  <a:pt x="1404390" y="94371"/>
                  <a:pt x="1404390" y="94371"/>
                </a:cubicBezTo>
                <a:cubicBezTo>
                  <a:pt x="1358520" y="94371"/>
                  <a:pt x="1317236" y="118745"/>
                  <a:pt x="1294301" y="158353"/>
                </a:cubicBezTo>
                <a:cubicBezTo>
                  <a:pt x="941098" y="769224"/>
                  <a:pt x="941098" y="769224"/>
                  <a:pt x="941098" y="769224"/>
                </a:cubicBezTo>
                <a:cubicBezTo>
                  <a:pt x="918163" y="807309"/>
                  <a:pt x="918163" y="856057"/>
                  <a:pt x="941098" y="894141"/>
                </a:cubicBezTo>
                <a:cubicBezTo>
                  <a:pt x="1294301" y="1505013"/>
                  <a:pt x="1294301" y="1505013"/>
                  <a:pt x="1294301" y="1505013"/>
                </a:cubicBezTo>
                <a:cubicBezTo>
                  <a:pt x="1305769" y="1524817"/>
                  <a:pt x="1321823" y="1540812"/>
                  <a:pt x="1340745" y="1551856"/>
                </a:cubicBezTo>
                <a:lnTo>
                  <a:pt x="1346119" y="1554109"/>
                </a:lnTo>
                <a:lnTo>
                  <a:pt x="1317310" y="1603934"/>
                </a:lnTo>
                <a:lnTo>
                  <a:pt x="1295884" y="1640991"/>
                </a:lnTo>
                <a:lnTo>
                  <a:pt x="1318107" y="1650309"/>
                </a:lnTo>
                <a:cubicBezTo>
                  <a:pt x="1330154" y="1653584"/>
                  <a:pt x="1342766" y="1655302"/>
                  <a:pt x="1355700" y="1655302"/>
                </a:cubicBezTo>
                <a:cubicBezTo>
                  <a:pt x="2154247" y="1655302"/>
                  <a:pt x="2154247" y="1655302"/>
                  <a:pt x="2154247" y="1655302"/>
                </a:cubicBezTo>
                <a:cubicBezTo>
                  <a:pt x="2204264" y="1655302"/>
                  <a:pt x="2252555" y="1627810"/>
                  <a:pt x="2276701" y="1583132"/>
                </a:cubicBezTo>
                <a:cubicBezTo>
                  <a:pt x="2676837" y="894072"/>
                  <a:pt x="2676837" y="894072"/>
                  <a:pt x="2676837" y="894072"/>
                </a:cubicBezTo>
                <a:cubicBezTo>
                  <a:pt x="2702708" y="851114"/>
                  <a:pt x="2702708" y="796127"/>
                  <a:pt x="2676837" y="753167"/>
                </a:cubicBezTo>
                <a:cubicBezTo>
                  <a:pt x="2626820" y="667035"/>
                  <a:pt x="2583056" y="591669"/>
                  <a:pt x="2544761" y="525724"/>
                </a:cubicBezTo>
                <a:lnTo>
                  <a:pt x="2525427" y="492430"/>
                </a:lnTo>
                <a:lnTo>
                  <a:pt x="2614995" y="492430"/>
                </a:lnTo>
                <a:cubicBezTo>
                  <a:pt x="2893530" y="492430"/>
                  <a:pt x="3339185" y="492430"/>
                  <a:pt x="4052233" y="492430"/>
                </a:cubicBezTo>
                <a:cubicBezTo>
                  <a:pt x="4171332" y="492430"/>
                  <a:pt x="4286323" y="557897"/>
                  <a:pt x="4343819" y="664281"/>
                </a:cubicBezTo>
                <a:cubicBezTo>
                  <a:pt x="4343819" y="664281"/>
                  <a:pt x="4343819" y="664281"/>
                  <a:pt x="5296604" y="2305041"/>
                </a:cubicBezTo>
                <a:cubicBezTo>
                  <a:pt x="5358207" y="2407332"/>
                  <a:pt x="5358207" y="2538266"/>
                  <a:pt x="5296604" y="2640558"/>
                </a:cubicBezTo>
                <a:cubicBezTo>
                  <a:pt x="5296604" y="2640558"/>
                  <a:pt x="5296604" y="2640558"/>
                  <a:pt x="4343819" y="4281318"/>
                </a:cubicBezTo>
                <a:cubicBezTo>
                  <a:pt x="4286323" y="4387702"/>
                  <a:pt x="4171332" y="4453168"/>
                  <a:pt x="4052233" y="4453168"/>
                </a:cubicBezTo>
                <a:cubicBezTo>
                  <a:pt x="4052233" y="4453168"/>
                  <a:pt x="4052233" y="4453168"/>
                  <a:pt x="2150770" y="4453168"/>
                </a:cubicBezTo>
                <a:cubicBezTo>
                  <a:pt x="2027565" y="4453168"/>
                  <a:pt x="1916680" y="4387702"/>
                  <a:pt x="1855078" y="4281318"/>
                </a:cubicBezTo>
                <a:cubicBezTo>
                  <a:pt x="1855078" y="4281318"/>
                  <a:pt x="1855078" y="4281318"/>
                  <a:pt x="906399" y="2640558"/>
                </a:cubicBezTo>
                <a:cubicBezTo>
                  <a:pt x="844796" y="2538266"/>
                  <a:pt x="844796" y="2407332"/>
                  <a:pt x="906399" y="2305041"/>
                </a:cubicBezTo>
                <a:cubicBezTo>
                  <a:pt x="906399" y="2305041"/>
                  <a:pt x="906399" y="2305041"/>
                  <a:pt x="1258651" y="1695815"/>
                </a:cubicBezTo>
                <a:lnTo>
                  <a:pt x="1288338" y="1644472"/>
                </a:lnTo>
                <a:lnTo>
                  <a:pt x="1287293" y="1644034"/>
                </a:lnTo>
                <a:cubicBezTo>
                  <a:pt x="1265949" y="1631576"/>
                  <a:pt x="1247840" y="1613534"/>
                  <a:pt x="1234904" y="1591195"/>
                </a:cubicBezTo>
                <a:cubicBezTo>
                  <a:pt x="1234904" y="1591195"/>
                  <a:pt x="1234904" y="1591195"/>
                  <a:pt x="836494" y="902135"/>
                </a:cubicBezTo>
                <a:cubicBezTo>
                  <a:pt x="810622" y="859177"/>
                  <a:pt x="810622" y="804190"/>
                  <a:pt x="836494" y="761230"/>
                </a:cubicBezTo>
                <a:cubicBezTo>
                  <a:pt x="836494" y="761230"/>
                  <a:pt x="836494" y="761230"/>
                  <a:pt x="1234904" y="72172"/>
                </a:cubicBezTo>
                <a:cubicBezTo>
                  <a:pt x="1260775" y="27495"/>
                  <a:pt x="1307343" y="0"/>
                  <a:pt x="135908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DC3984-7246-EFAC-8255-000C534F8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6" y="2300016"/>
            <a:ext cx="2531002" cy="117106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70029F-3E4A-0FAE-5A04-3E597A40C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858" y="2300016"/>
            <a:ext cx="6368142" cy="347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71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DF1E-89AE-44FA-4200-356A04CC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scope of a project is always </a:t>
            </a:r>
            <a:r>
              <a:rPr lang="en-US" b="1" dirty="0"/>
              <a:t>unique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CDB4EA-852D-AED6-11F6-8698F90DE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725" y="1825625"/>
            <a:ext cx="9612549" cy="4351338"/>
          </a:xfrm>
        </p:spPr>
      </p:pic>
    </p:spTree>
    <p:extLst>
      <p:ext uri="{BB962C8B-B14F-4D97-AF65-F5344CB8AC3E}">
        <p14:creationId xmlns:p14="http://schemas.microsoft.com/office/powerpoint/2010/main" val="3580601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A6F3F-DCD2-6A22-AC9A-D55DAC291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2BA86-9826-6E1E-0A16-3D7662553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" y="817869"/>
            <a:ext cx="10917735" cy="544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196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F14D-C1A2-8A7A-2326-8C34D983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E801-8F4F-53E1-B81E-03DC27CE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188A0-3197-74E6-5DB7-9B8F2C24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6038"/>
            <a:ext cx="12192000" cy="56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91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8BA807-AF1F-A990-524A-13200BD47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9222" y="118745"/>
            <a:ext cx="5789330" cy="404685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4C9D7-8F4D-2826-4BC8-6E4AF1F82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450" y="2351819"/>
            <a:ext cx="5822515" cy="297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00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252325-085A-5A45-F023-A9B7E2883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14371" y="1825625"/>
            <a:ext cx="8363258" cy="4351338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5DAC3BA-9318-378B-A2FF-5A99FC9D4BA5}"/>
              </a:ext>
            </a:extLst>
          </p:cNvPr>
          <p:cNvSpPr txBox="1"/>
          <p:nvPr/>
        </p:nvSpPr>
        <p:spPr>
          <a:xfrm>
            <a:off x="2032000" y="661034"/>
            <a:ext cx="7965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Why do businesses invest in projects?</a:t>
            </a:r>
          </a:p>
        </p:txBody>
      </p:sp>
    </p:spTree>
    <p:extLst>
      <p:ext uri="{BB962C8B-B14F-4D97-AF65-F5344CB8AC3E}">
        <p14:creationId xmlns:p14="http://schemas.microsoft.com/office/powerpoint/2010/main" val="8382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3D7B93-8D0E-DFB8-1BC6-8DB45EA9B2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7264" y="1690688"/>
            <a:ext cx="9402181" cy="4351338"/>
          </a:xfrm>
        </p:spPr>
      </p:pic>
    </p:spTree>
    <p:extLst>
      <p:ext uri="{BB962C8B-B14F-4D97-AF65-F5344CB8AC3E}">
        <p14:creationId xmlns:p14="http://schemas.microsoft.com/office/powerpoint/2010/main" val="1563427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73F7-EB29-986B-03EA-82E3937A0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a Project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5298D-A080-0F3E-599D-E443036C2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2775"/>
          </a:xfrm>
        </p:spPr>
        <p:txBody>
          <a:bodyPr/>
          <a:lstStyle/>
          <a:p>
            <a:r>
              <a:rPr lang="en-US" dirty="0"/>
              <a:t>CEO of the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EDA8B3-C3E0-6D99-EB56-298A2D4BD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6" y="2781300"/>
            <a:ext cx="3938614" cy="3593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7CB189-0D76-D35B-1001-271FB005F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699" y="2794311"/>
            <a:ext cx="3621729" cy="3593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A85DC6-87F4-C4BA-2FC1-5AD0C9408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290" y="3097211"/>
            <a:ext cx="3691454" cy="314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27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D0CA-01DD-7754-F36D-6ACB8EEB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accountable mean?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94504E-BFF2-2F9C-96D0-7BB1D124B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30332" y="1825625"/>
            <a:ext cx="7731336" cy="4351338"/>
          </a:xfrm>
        </p:spPr>
      </p:pic>
    </p:spTree>
    <p:extLst>
      <p:ext uri="{BB962C8B-B14F-4D97-AF65-F5344CB8AC3E}">
        <p14:creationId xmlns:p14="http://schemas.microsoft.com/office/powerpoint/2010/main" val="3059887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543F0-F137-696B-BF80-FFFC72B1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Attributes of PM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35C15A-D353-129C-EFD5-73FA9ADC4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7881" y="1825625"/>
            <a:ext cx="5256237" cy="4351338"/>
          </a:xfrm>
        </p:spPr>
      </p:pic>
    </p:spTree>
    <p:extLst>
      <p:ext uri="{BB962C8B-B14F-4D97-AF65-F5344CB8AC3E}">
        <p14:creationId xmlns:p14="http://schemas.microsoft.com/office/powerpoint/2010/main" val="2155403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E98883-4F76-CE81-75B7-9BA8D0839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38850"/>
            <a:ext cx="10515600" cy="3724887"/>
          </a:xfrm>
        </p:spPr>
      </p:pic>
    </p:spTree>
    <p:extLst>
      <p:ext uri="{BB962C8B-B14F-4D97-AF65-F5344CB8AC3E}">
        <p14:creationId xmlns:p14="http://schemas.microsoft.com/office/powerpoint/2010/main" val="2681212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B962A-9DC7-8F4B-35FE-74CF6AD3D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FEC562-874C-FBA0-F5B9-E8CE5BE5F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302" y="1825625"/>
            <a:ext cx="9615395" cy="4351338"/>
          </a:xfrm>
        </p:spPr>
      </p:pic>
    </p:spTree>
    <p:extLst>
      <p:ext uri="{BB962C8B-B14F-4D97-AF65-F5344CB8AC3E}">
        <p14:creationId xmlns:p14="http://schemas.microsoft.com/office/powerpoint/2010/main" val="1354338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75EB6-CBC7-A8E9-1233-8DFD0E5F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C798D2-6228-263C-11CA-0867BB2F3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2773"/>
            <a:ext cx="10515600" cy="4197041"/>
          </a:xfrm>
        </p:spPr>
      </p:pic>
    </p:spTree>
    <p:extLst>
      <p:ext uri="{BB962C8B-B14F-4D97-AF65-F5344CB8AC3E}">
        <p14:creationId xmlns:p14="http://schemas.microsoft.com/office/powerpoint/2010/main" val="3774702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8AC7A-6AFB-E3FB-8CEC-C8EB8BBD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34E6C3-F749-AD47-EB82-71E3C15DD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443" y="1825625"/>
            <a:ext cx="7429113" cy="4351338"/>
          </a:xfrm>
        </p:spPr>
      </p:pic>
    </p:spTree>
    <p:extLst>
      <p:ext uri="{BB962C8B-B14F-4D97-AF65-F5344CB8AC3E}">
        <p14:creationId xmlns:p14="http://schemas.microsoft.com/office/powerpoint/2010/main" val="3245624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91C69-631B-5E58-2912-7987CD1C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5942EF-215D-3E0E-292A-A55C1AAC2E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779" y="1825625"/>
            <a:ext cx="8390442" cy="4351338"/>
          </a:xfrm>
        </p:spPr>
      </p:pic>
    </p:spTree>
    <p:extLst>
      <p:ext uri="{BB962C8B-B14F-4D97-AF65-F5344CB8AC3E}">
        <p14:creationId xmlns:p14="http://schemas.microsoft.com/office/powerpoint/2010/main" val="3189043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6AE8-9B97-AE1D-B55A-04FEA650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1DB5CC-BB05-202D-22A8-30D7369A62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4933" y="1825625"/>
            <a:ext cx="8022134" cy="4351338"/>
          </a:xfrm>
        </p:spPr>
      </p:pic>
    </p:spTree>
    <p:extLst>
      <p:ext uri="{BB962C8B-B14F-4D97-AF65-F5344CB8AC3E}">
        <p14:creationId xmlns:p14="http://schemas.microsoft.com/office/powerpoint/2010/main" val="4049283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96D9-2B4C-623C-9632-433B839A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15EA9-A330-6085-5A70-8677E7041F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2035" y="1825625"/>
            <a:ext cx="8447929" cy="4351338"/>
          </a:xfrm>
        </p:spPr>
      </p:pic>
    </p:spTree>
    <p:extLst>
      <p:ext uri="{BB962C8B-B14F-4D97-AF65-F5344CB8AC3E}">
        <p14:creationId xmlns:p14="http://schemas.microsoft.com/office/powerpoint/2010/main" val="2294611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885AB-8CF0-1526-EBA2-87A2340B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2800" b="1" kern="1200" dirty="0">
                <a:latin typeface="+mj-lt"/>
                <a:ea typeface="+mj-ea"/>
                <a:cs typeface="+mj-cs"/>
              </a:rPr>
              <a:t>Software Process and Project Metrics</a:t>
            </a:r>
            <a:br>
              <a:rPr lang="en-US" sz="2800" b="1" kern="1200" dirty="0">
                <a:latin typeface="+mj-lt"/>
                <a:ea typeface="+mj-ea"/>
                <a:cs typeface="+mj-cs"/>
              </a:rPr>
            </a:br>
            <a:r>
              <a:rPr lang="en-US" sz="2800" b="1" kern="1200" dirty="0">
                <a:latin typeface="+mj-lt"/>
                <a:ea typeface="+mj-ea"/>
                <a:cs typeface="+mj-cs"/>
              </a:rPr>
              <a:t>Software Project Estimation</a:t>
            </a:r>
            <a:br>
              <a:rPr lang="en-US" sz="2300" b="1" kern="1200" dirty="0">
                <a:latin typeface="+mj-lt"/>
                <a:ea typeface="+mj-ea"/>
                <a:cs typeface="+mj-cs"/>
              </a:rPr>
            </a:br>
            <a:endParaRPr lang="en-US" sz="2300" b="1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F663CE-F329-1436-5462-9991C3852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055992"/>
            <a:ext cx="10917936" cy="242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046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B33BF7-E376-1999-E77D-94A5BDF57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 b="1" dirty="0"/>
              <a:t>Measures, Metrics and Indicators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B611-C737-1EF4-3390-84C7FFDDB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716" y="828814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i="1" dirty="0"/>
              <a:t>measure </a:t>
            </a:r>
            <a:r>
              <a:rPr lang="en-US" sz="2000" dirty="0"/>
              <a:t>provides a quantitative indication of the extent, amount, dimensions, capacity, or size of some attribute of a product or process</a:t>
            </a:r>
          </a:p>
          <a:p>
            <a:pPr lvl="1"/>
            <a:r>
              <a:rPr lang="en-US" sz="2000" dirty="0"/>
              <a:t>Example: Speed expressed in km/h, or temperature expressed in ºC, or beer as a pint.</a:t>
            </a:r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1E19F4-8753-D083-62EF-952BC8376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401374"/>
            <a:ext cx="11164824" cy="214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9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1D33B-7E87-DE60-7F71-57BABAD3B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92" y="364573"/>
            <a:ext cx="10515600" cy="4351338"/>
          </a:xfrm>
        </p:spPr>
        <p:txBody>
          <a:bodyPr/>
          <a:lstStyle/>
          <a:p>
            <a:r>
              <a:rPr lang="en-US" sz="3200" dirty="0"/>
              <a:t>a </a:t>
            </a:r>
            <a:r>
              <a:rPr lang="en-US" sz="3200" b="1" i="1" dirty="0"/>
              <a:t>metric </a:t>
            </a:r>
            <a:r>
              <a:rPr lang="en-US" sz="3200" dirty="0"/>
              <a:t>is a quantitative measure of the degree to which a system, component, or process possesses a given attribute</a:t>
            </a:r>
          </a:p>
          <a:p>
            <a:pPr marL="0" indent="0">
              <a:buNone/>
            </a:pPr>
            <a:r>
              <a:rPr lang="en-US" sz="3200" dirty="0"/>
              <a:t>	Definition: The term metric has more of a goal or 	performance nuance to it, as opposed to measure, a 	fundamental or unit-specific term.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Example: Speed limit of 50 km/h, or the boiling temperature of 100 ÂºC, or ordering half a pint of beer.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65F03-C379-9871-6449-6D7DE22C8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91" y="3685553"/>
            <a:ext cx="10706055" cy="255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40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3973BA-310E-658B-6D49-B0269DAF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39479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i="1" dirty="0"/>
              <a:t>indicator</a:t>
            </a:r>
            <a:r>
              <a:rPr lang="en-US" dirty="0"/>
              <a:t> is a metric or combination of metrics that provide insight into the software process, a software project, or the project itself; it provides insight that enables the project manager or software engineers to adjust the process, the project, or the product to make things better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107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4784AD-7611-7B95-BEF0-CBAC714FA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Process and Project Indicators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D11EF30-D0E7-2012-62FE-A80BF3E16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Process indicators</a:t>
            </a:r>
          </a:p>
          <a:p>
            <a:r>
              <a:rPr lang="en-US" dirty="0"/>
              <a:t> enable a software engineering organization to gain insight into the efficacy of an existing process</a:t>
            </a:r>
          </a:p>
          <a:p>
            <a:r>
              <a:rPr lang="en-US" b="1" dirty="0"/>
              <a:t>Project indicators</a:t>
            </a:r>
          </a:p>
          <a:p>
            <a:r>
              <a:rPr lang="en-US" dirty="0"/>
              <a:t> enable a software project manager to</a:t>
            </a:r>
          </a:p>
          <a:p>
            <a:pPr lvl="1"/>
            <a:r>
              <a:rPr lang="en-US" dirty="0"/>
              <a:t>1. assess the status of an ongoing project,</a:t>
            </a:r>
          </a:p>
          <a:p>
            <a:pPr lvl="1"/>
            <a:r>
              <a:rPr lang="en-US" dirty="0"/>
              <a:t>2. track potential risks,</a:t>
            </a:r>
          </a:p>
          <a:p>
            <a:pPr lvl="1"/>
            <a:r>
              <a:rPr lang="en-US" dirty="0"/>
              <a:t>3. uncover problem areas before they go critical,</a:t>
            </a:r>
          </a:p>
          <a:p>
            <a:pPr lvl="1"/>
            <a:r>
              <a:rPr lang="en-US" dirty="0"/>
              <a:t>4. adjust work flow or tasks,</a:t>
            </a:r>
          </a:p>
          <a:p>
            <a:pPr lvl="1"/>
            <a:r>
              <a:rPr lang="en-US" dirty="0"/>
              <a:t>5. evaluate the project team’s ability to control quality software engineering work products</a:t>
            </a:r>
          </a:p>
        </p:txBody>
      </p:sp>
    </p:spTree>
    <p:extLst>
      <p:ext uri="{BB962C8B-B14F-4D97-AF65-F5344CB8AC3E}">
        <p14:creationId xmlns:p14="http://schemas.microsoft.com/office/powerpoint/2010/main" val="1818807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C8DC-77F2-F190-711E-067676ED8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Size metric - LOC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493030-9408-2161-4329-1D0C13EAD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896" r="3917" b="6505"/>
          <a:stretch/>
        </p:blipFill>
        <p:spPr>
          <a:xfrm>
            <a:off x="1072710" y="1690689"/>
            <a:ext cx="8588126" cy="4203216"/>
          </a:xfrm>
        </p:spPr>
      </p:pic>
    </p:spTree>
    <p:extLst>
      <p:ext uri="{BB962C8B-B14F-4D97-AF65-F5344CB8AC3E}">
        <p14:creationId xmlns:p14="http://schemas.microsoft.com/office/powerpoint/2010/main" val="29269232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92E940-B090-DDF9-2B08-49D786D3B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44561" t="62887" b="6649"/>
          <a:stretch/>
        </p:blipFill>
        <p:spPr>
          <a:xfrm>
            <a:off x="643467" y="1743643"/>
            <a:ext cx="10905066" cy="337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38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6542A-CD9F-7F41-1166-529325DC3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KPIs are relevant performance metrics that are measurable to industry, department or task. KPIs are evaluated over a specified time period, and compared against acceptable norms, past performance or targets.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6459A6A-788E-9C3A-EA91-21C9BEC3D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is a key performance indicator (KPI)?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684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F39E-297E-14BD-E517-3668083C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893C05-60F0-10E8-C794-6AA42AEBF1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5232" y="1825625"/>
            <a:ext cx="10141536" cy="4351338"/>
          </a:xfrm>
        </p:spPr>
      </p:pic>
    </p:spTree>
    <p:extLst>
      <p:ext uri="{BB962C8B-B14F-4D97-AF65-F5344CB8AC3E}">
        <p14:creationId xmlns:p14="http://schemas.microsoft.com/office/powerpoint/2010/main" val="3014836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269E0-9360-71A9-E22A-C78A33B83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Process Metrics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9FA452F-93B8-1991-A098-9F822E6813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688292"/>
            <a:ext cx="7347537" cy="548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440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8380127-E139-0A9C-3CE0-2958C141C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Estimating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9D2E76-04F1-41FF-278D-9F70B1498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a project and a WBS?</a:t>
            </a:r>
          </a:p>
          <a:p>
            <a:r>
              <a:rPr lang="en-US" dirty="0"/>
              <a:t> Project characteristics</a:t>
            </a:r>
          </a:p>
          <a:p>
            <a:pPr lvl="1"/>
            <a:r>
              <a:rPr lang="en-US" dirty="0"/>
              <a:t> Has start and end dates</a:t>
            </a:r>
          </a:p>
          <a:p>
            <a:pPr lvl="1"/>
            <a:r>
              <a:rPr lang="en-US" dirty="0"/>
              <a:t> Has set objectives</a:t>
            </a:r>
          </a:p>
          <a:p>
            <a:pPr lvl="1"/>
            <a:r>
              <a:rPr lang="en-US" dirty="0"/>
              <a:t> Uses resources within limits</a:t>
            </a:r>
          </a:p>
          <a:p>
            <a:r>
              <a:rPr lang="en-US" dirty="0"/>
              <a:t> Work Breakdown Structure</a:t>
            </a:r>
          </a:p>
          <a:p>
            <a:pPr lvl="1"/>
            <a:r>
              <a:rPr lang="en-US" dirty="0"/>
              <a:t> Activities necessary to attain project objectives</a:t>
            </a:r>
          </a:p>
          <a:p>
            <a:pPr lvl="1"/>
            <a:r>
              <a:rPr lang="en-US" dirty="0"/>
              <a:t> Hierarchically structured (often executed</a:t>
            </a:r>
            <a:r>
              <a:rPr lang="en-US" i="1" dirty="0"/>
              <a:t> </a:t>
            </a:r>
            <a:r>
              <a:rPr lang="en-US" dirty="0"/>
              <a:t>iteratively)</a:t>
            </a:r>
          </a:p>
          <a:p>
            <a:pPr lvl="1"/>
            <a:r>
              <a:rPr lang="en-US" dirty="0"/>
              <a:t> Relates to life cycle</a:t>
            </a:r>
          </a:p>
        </p:txBody>
      </p:sp>
    </p:spTree>
    <p:extLst>
      <p:ext uri="{BB962C8B-B14F-4D97-AF65-F5344CB8AC3E}">
        <p14:creationId xmlns:p14="http://schemas.microsoft.com/office/powerpoint/2010/main" val="41183410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F084EC-ACB0-E0A0-9077-F309D5B56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30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https://assets-global.website-files.com/5a5399a10a77cc0001b18774/5d558e514de4fb7e265517a5_Graphic-hero-chart-homepage%402x.png">
            <a:extLst>
              <a:ext uri="{FF2B5EF4-FFF2-40B4-BE49-F238E27FC236}">
                <a16:creationId xmlns:a16="http://schemas.microsoft.com/office/drawing/2014/main" id="{9CCEBAB6-108A-1EB1-F150-7C3E5545D26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4234" y="457200"/>
            <a:ext cx="9423531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443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1779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Estimating Principles</a:t>
            </a:r>
          </a:p>
          <a:p>
            <a:r>
              <a:rPr lang="en-US" dirty="0"/>
              <a:t> Invest in the estimate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Apply correct amount of resources to create and refine the estimate</a:t>
            </a:r>
          </a:p>
          <a:p>
            <a:r>
              <a:rPr lang="en-US" dirty="0"/>
              <a:t> Understand the options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The estimate of the resources required for a given scenario cannot be 	arbitrarily changed</a:t>
            </a:r>
          </a:p>
          <a:p>
            <a:r>
              <a:rPr lang="en-US" dirty="0"/>
              <a:t> Improve the estimate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Re-estimate often as more information available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701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Estimate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The approximate measure of size, effort, duration and staff required to 	complete a project</a:t>
            </a:r>
          </a:p>
          <a:p>
            <a:r>
              <a:rPr lang="en-US" dirty="0"/>
              <a:t> Size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The measure of how ‘big’ the product is</a:t>
            </a:r>
          </a:p>
          <a:p>
            <a:r>
              <a:rPr lang="en-US" dirty="0"/>
              <a:t>Effort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The number of people hours required to complete an activity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350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 Duration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The number of calendar days from start to end of an activity</a:t>
            </a:r>
          </a:p>
          <a:p>
            <a:r>
              <a:rPr lang="en-US" dirty="0"/>
              <a:t> Staff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The number of people applied to an activity (full or part-time)</a:t>
            </a:r>
            <a:endParaRPr lang="en-US" dirty="0"/>
          </a:p>
          <a:p>
            <a:r>
              <a:rPr lang="en-US" dirty="0"/>
              <a:t> Assumptions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Conditions of the project, environment or personnel considered true for estimate</a:t>
            </a:r>
          </a:p>
          <a:p>
            <a:r>
              <a:rPr lang="en-US" dirty="0"/>
              <a:t> Risk</a:t>
            </a:r>
          </a:p>
          <a:p>
            <a:pPr marL="0" indent="0">
              <a:buNone/>
            </a:pPr>
            <a:r>
              <a:rPr lang="en-US" sz="2400" dirty="0"/>
              <a:t>	Chance of damage, injury or failure resulting from estimate</a:t>
            </a:r>
          </a:p>
        </p:txBody>
      </p:sp>
    </p:spTree>
    <p:extLst>
      <p:ext uri="{BB962C8B-B14F-4D97-AF65-F5344CB8AC3E}">
        <p14:creationId xmlns:p14="http://schemas.microsoft.com/office/powerpoint/2010/main" val="304040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  Metric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Quantitative measure of degree of possession of attribute</a:t>
            </a:r>
          </a:p>
          <a:p>
            <a:r>
              <a:rPr lang="en-US" dirty="0"/>
              <a:t> Requirement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600" dirty="0"/>
              <a:t>Assertion that must be true for product to be acceptable to customer</a:t>
            </a:r>
          </a:p>
          <a:p>
            <a:r>
              <a:rPr lang="en-US" dirty="0"/>
              <a:t> Constraint</a:t>
            </a:r>
          </a:p>
          <a:p>
            <a:pPr marL="0" indent="0">
              <a:buNone/>
            </a:pPr>
            <a:r>
              <a:rPr lang="en-US" dirty="0"/>
              <a:t> 	</a:t>
            </a:r>
            <a:r>
              <a:rPr lang="en-US" sz="2600" dirty="0"/>
              <a:t>Requirement reflecting decision that cannot change</a:t>
            </a:r>
          </a:p>
          <a:p>
            <a:r>
              <a:rPr lang="en-US" dirty="0"/>
              <a:t> Expectation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600" dirty="0"/>
              <a:t>Assertion that must be true for product to achieve complete customer 	satisfaction</a:t>
            </a:r>
          </a:p>
        </p:txBody>
      </p:sp>
    </p:spTree>
    <p:extLst>
      <p:ext uri="{BB962C8B-B14F-4D97-AF65-F5344CB8AC3E}">
        <p14:creationId xmlns:p14="http://schemas.microsoft.com/office/powerpoint/2010/main" val="1259048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827</Words>
  <Application>Microsoft Office PowerPoint</Application>
  <PresentationFormat>Widescreen</PresentationFormat>
  <Paragraphs>96</Paragraphs>
  <Slides>39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Poppins</vt:lpstr>
      <vt:lpstr>Office Theme</vt:lpstr>
      <vt:lpstr>What is a project?</vt:lpstr>
      <vt:lpstr>What does it mean by a politician when he says</vt:lpstr>
      <vt:lpstr>PowerPoint Presentation</vt:lpstr>
      <vt:lpstr>PowerPoint Presentation</vt:lpstr>
      <vt:lpstr>PowerPoint Presentation</vt:lpstr>
      <vt:lpstr>PowerPoint Presentation</vt:lpstr>
      <vt:lpstr>The scope of a project is always unique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Role of a Project Manager</vt:lpstr>
      <vt:lpstr>What does accountable mean?</vt:lpstr>
      <vt:lpstr>Attributes of PM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Process and Project Metrics Software Project Estimation </vt:lpstr>
      <vt:lpstr>Measures, Metrics and Indicators</vt:lpstr>
      <vt:lpstr>PowerPoint Presentation</vt:lpstr>
      <vt:lpstr>PowerPoint Presentation</vt:lpstr>
      <vt:lpstr>Process and Project Indicators</vt:lpstr>
      <vt:lpstr>Size metric - LOC</vt:lpstr>
      <vt:lpstr>PowerPoint Presentation</vt:lpstr>
      <vt:lpstr>What is a key performance indicator (KPI)? </vt:lpstr>
      <vt:lpstr>Example</vt:lpstr>
      <vt:lpstr>Process Metrics</vt:lpstr>
      <vt:lpstr>Estimating</vt:lpstr>
      <vt:lpstr>PowerPoint Presentation</vt:lpstr>
      <vt:lpstr>PowerPoint Presentation</vt:lpstr>
      <vt:lpstr>PowerPoint Presentation</vt:lpstr>
      <vt:lpstr>Estimating</vt:lpstr>
      <vt:lpstr>Estimating</vt:lpstr>
      <vt:lpstr>Estimating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project?</dc:title>
  <dc:creator>laptop 16</dc:creator>
  <cp:lastModifiedBy>laptop 16</cp:lastModifiedBy>
  <cp:revision>7</cp:revision>
  <dcterms:created xsi:type="dcterms:W3CDTF">2023-08-30T10:18:04Z</dcterms:created>
  <dcterms:modified xsi:type="dcterms:W3CDTF">2023-09-11T09:48:15Z</dcterms:modified>
</cp:coreProperties>
</file>