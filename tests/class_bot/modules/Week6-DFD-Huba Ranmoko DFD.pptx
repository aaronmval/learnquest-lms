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77" r:id="rId4"/>
    <p:sldId id="260" r:id="rId5"/>
    <p:sldId id="261" r:id="rId6"/>
    <p:sldId id="262" r:id="rId7"/>
    <p:sldId id="266" r:id="rId8"/>
    <p:sldId id="264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68C56-972F-4FEA-A87F-5DA799BC332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FD9E9-1782-45A5-912E-BC1ECB934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65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FD9E9-1782-45A5-912E-BC1ECB934B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54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0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5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9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56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8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32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4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2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85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00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E310D-C9BF-4B07-993C-CC10DAC31E45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0D5D2-3358-4404-AA10-C47666097B3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59" y="6029325"/>
            <a:ext cx="986682" cy="69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7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35300"/>
            <a:ext cx="9144000" cy="2222500"/>
          </a:xfrm>
        </p:spPr>
        <p:txBody>
          <a:bodyPr/>
          <a:lstStyle/>
          <a:p>
            <a:endParaRPr lang="en-US" dirty="0"/>
          </a:p>
          <a:p>
            <a:r>
              <a:rPr lang="en-US" sz="4000" dirty="0">
                <a:latin typeface="Bahnschrift SemiBold" panose="020B0502040204020203" pitchFamily="34" charset="0"/>
              </a:rPr>
              <a:t>Ordering System</a:t>
            </a:r>
          </a:p>
          <a:p>
            <a:r>
              <a:rPr lang="en-US" dirty="0"/>
              <a:t>Context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37772" y="2592581"/>
            <a:ext cx="391645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ABCD Inc.</a:t>
            </a:r>
            <a:endParaRPr lang="en-US" sz="72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5534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8918"/>
            <a:ext cx="10515600" cy="50516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ABCD Inc. </a:t>
            </a:r>
            <a:r>
              <a:rPr lang="en-US" dirty="0"/>
              <a:t>is a supplier of high-quality, fashionable Korean clothing. </a:t>
            </a:r>
            <a:r>
              <a:rPr lang="en-US" dirty="0">
                <a:solidFill>
                  <a:srgbClr val="FF0000"/>
                </a:solidFill>
              </a:rPr>
              <a:t>Customers place orders</a:t>
            </a:r>
            <a:r>
              <a:rPr lang="en-US" dirty="0"/>
              <a:t> by telephone, by mailing an order form included with each catalog, or via the Web site.</a:t>
            </a:r>
          </a:p>
          <a:p>
            <a:pPr marL="0" indent="0">
              <a:buNone/>
            </a:pPr>
            <a:r>
              <a:rPr lang="en-US" dirty="0"/>
              <a:t>Summary of Business Activities</a:t>
            </a:r>
          </a:p>
          <a:p>
            <a:pPr marL="0" indent="0">
              <a:buNone/>
            </a:pPr>
            <a:r>
              <a:rPr lang="en-US" dirty="0"/>
              <a:t>1. When customer orders come in, the item master and the customer master files are both updated. If an item is out of stock, the inventory control department is notified.</a:t>
            </a:r>
          </a:p>
          <a:p>
            <a:pPr marL="0" indent="0">
              <a:buNone/>
            </a:pPr>
            <a:r>
              <a:rPr lang="en-US" dirty="0"/>
              <a:t>2. If the order is from a new customer, a new record is created in the customer master file.</a:t>
            </a:r>
          </a:p>
          <a:p>
            <a:pPr marL="0" indent="0">
              <a:buNone/>
            </a:pPr>
            <a:r>
              <a:rPr lang="en-US" dirty="0"/>
              <a:t>3. Picking slips are produced for the customer order and sent to the warehouse.</a:t>
            </a:r>
          </a:p>
          <a:p>
            <a:pPr marL="0" indent="0">
              <a:buNone/>
            </a:pPr>
            <a:r>
              <a:rPr lang="en-US" dirty="0"/>
              <a:t>4. A shipping statement  is prepared.</a:t>
            </a:r>
          </a:p>
          <a:p>
            <a:pPr marL="0" indent="0">
              <a:buNone/>
            </a:pPr>
            <a:r>
              <a:rPr lang="en-US" dirty="0"/>
              <a:t>5. The customer statement is generated and a billing statement is sent to a customer once a month.</a:t>
            </a:r>
          </a:p>
          <a:p>
            <a:pPr marL="0" indent="0">
              <a:buNone/>
            </a:pPr>
            <a:r>
              <a:rPr lang="en-US" dirty="0"/>
              <a:t>6. An accounts receivable report is sent to the accounting department.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process of shipping a customer order involves getting the goods from the warehouse and matching up the customer shipping statement, getting the correct customer address, and shipping it all to the customer.</a:t>
            </a:r>
          </a:p>
          <a:p>
            <a:pPr marL="0" indent="0">
              <a:buNone/>
            </a:pPr>
            <a:endParaRPr lang="en-US" b="1" i="1" u="sng" dirty="0">
              <a:solidFill>
                <a:srgbClr val="00B050"/>
              </a:solidFill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329067"/>
            <a:ext cx="760126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ABCD Inc. </a:t>
            </a:r>
          </a:p>
        </p:txBody>
      </p:sp>
    </p:spTree>
    <p:extLst>
      <p:ext uri="{BB962C8B-B14F-4D97-AF65-F5344CB8AC3E}">
        <p14:creationId xmlns:p14="http://schemas.microsoft.com/office/powerpoint/2010/main" val="153173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8918"/>
            <a:ext cx="10515600" cy="50516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ABCD Inc. </a:t>
            </a:r>
            <a:r>
              <a:rPr lang="en-US" dirty="0"/>
              <a:t>is a supplier of high-quality, fashionable Korean clothing. </a:t>
            </a:r>
            <a:r>
              <a:rPr lang="en-US" dirty="0">
                <a:solidFill>
                  <a:srgbClr val="FF0000"/>
                </a:solidFill>
              </a:rPr>
              <a:t>Customers place orders</a:t>
            </a:r>
            <a:r>
              <a:rPr lang="en-US" dirty="0"/>
              <a:t> by telephone, by mailing an order form included with each catalog, or via the Web site.</a:t>
            </a:r>
          </a:p>
          <a:p>
            <a:pPr marL="0" indent="0">
              <a:buNone/>
            </a:pPr>
            <a:r>
              <a:rPr lang="en-US" dirty="0"/>
              <a:t>Summary of Business Activities</a:t>
            </a:r>
          </a:p>
          <a:p>
            <a:pPr marL="0" indent="0">
              <a:buNone/>
            </a:pPr>
            <a:r>
              <a:rPr lang="en-US" dirty="0"/>
              <a:t>1. When </a:t>
            </a:r>
            <a:r>
              <a:rPr lang="en-US" b="1" i="1" u="sng" dirty="0">
                <a:solidFill>
                  <a:srgbClr val="00B050"/>
                </a:solidFill>
              </a:rPr>
              <a:t>customer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orders come in</a:t>
            </a:r>
            <a:r>
              <a:rPr lang="en-US" dirty="0"/>
              <a:t>, the item master and the customer master files are both updated. If an item is </a:t>
            </a:r>
            <a:r>
              <a:rPr lang="en-US" dirty="0">
                <a:solidFill>
                  <a:srgbClr val="00B0F0"/>
                </a:solidFill>
              </a:rPr>
              <a:t>out of stock</a:t>
            </a:r>
            <a:r>
              <a:rPr lang="en-US" dirty="0"/>
              <a:t>, the </a:t>
            </a:r>
            <a:r>
              <a:rPr lang="en-US" b="1" i="1" u="sng" dirty="0">
                <a:solidFill>
                  <a:srgbClr val="00B050"/>
                </a:solidFill>
              </a:rPr>
              <a:t>inventory control department </a:t>
            </a:r>
            <a:r>
              <a:rPr lang="en-US" dirty="0"/>
              <a:t>is notified.</a:t>
            </a:r>
          </a:p>
          <a:p>
            <a:pPr marL="0" indent="0">
              <a:buNone/>
            </a:pPr>
            <a:r>
              <a:rPr lang="en-US" dirty="0"/>
              <a:t>2. If the order is from a new customer, </a:t>
            </a:r>
            <a:r>
              <a:rPr lang="en-US" dirty="0">
                <a:solidFill>
                  <a:srgbClr val="00B0F0"/>
                </a:solidFill>
              </a:rPr>
              <a:t>a new record </a:t>
            </a:r>
            <a:r>
              <a:rPr lang="en-US" dirty="0"/>
              <a:t>is created in the customer master file.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>
                <a:solidFill>
                  <a:srgbClr val="00B0F0"/>
                </a:solidFill>
              </a:rPr>
              <a:t>Picking slips </a:t>
            </a:r>
            <a:r>
              <a:rPr lang="en-US" dirty="0"/>
              <a:t>are produced for the customer order and sent to the </a:t>
            </a:r>
            <a:r>
              <a:rPr lang="en-US" b="1" i="1" u="sng" dirty="0">
                <a:solidFill>
                  <a:srgbClr val="00B050"/>
                </a:solidFill>
              </a:rPr>
              <a:t>warehouse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4. A </a:t>
            </a:r>
            <a:r>
              <a:rPr lang="en-US" dirty="0">
                <a:solidFill>
                  <a:srgbClr val="00B0F0"/>
                </a:solidFill>
              </a:rPr>
              <a:t>shipping statement </a:t>
            </a:r>
            <a:r>
              <a:rPr lang="en-US" dirty="0"/>
              <a:t> is prepared.</a:t>
            </a:r>
          </a:p>
          <a:p>
            <a:pPr marL="0" indent="0">
              <a:buNone/>
            </a:pPr>
            <a:r>
              <a:rPr lang="en-US" dirty="0"/>
              <a:t>5. The customer statement is generated and a </a:t>
            </a:r>
            <a:r>
              <a:rPr lang="en-US" dirty="0">
                <a:solidFill>
                  <a:srgbClr val="00B0F0"/>
                </a:solidFill>
              </a:rPr>
              <a:t>billing statement </a:t>
            </a:r>
            <a:r>
              <a:rPr lang="en-US" dirty="0"/>
              <a:t>is sent to a customer once a month.</a:t>
            </a:r>
          </a:p>
          <a:p>
            <a:pPr marL="0" indent="0">
              <a:buNone/>
            </a:pPr>
            <a:r>
              <a:rPr lang="en-US" dirty="0"/>
              <a:t>6. An </a:t>
            </a:r>
            <a:r>
              <a:rPr lang="en-US" dirty="0">
                <a:solidFill>
                  <a:srgbClr val="00B0F0"/>
                </a:solidFill>
              </a:rPr>
              <a:t>accounts receivable </a:t>
            </a:r>
            <a:r>
              <a:rPr lang="en-US" dirty="0"/>
              <a:t>report is sent to the </a:t>
            </a:r>
            <a:r>
              <a:rPr lang="en-US" b="1" i="1" u="sng" dirty="0">
                <a:solidFill>
                  <a:srgbClr val="00B050"/>
                </a:solidFill>
              </a:rPr>
              <a:t>accounting department.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process of shipping a customer order involves getting the goods from the warehouse and matching up the customer shipping statement, getting the correct customer address, and shipping it all to the customer.</a:t>
            </a:r>
          </a:p>
          <a:p>
            <a:pPr marL="0" indent="0">
              <a:buNone/>
            </a:pPr>
            <a:endParaRPr lang="en-US" b="1" i="1" u="sng" dirty="0">
              <a:solidFill>
                <a:srgbClr val="00B050"/>
              </a:solidFill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329067"/>
            <a:ext cx="760126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ABCD Inc. </a:t>
            </a:r>
          </a:p>
        </p:txBody>
      </p:sp>
    </p:spTree>
    <p:extLst>
      <p:ext uri="{BB962C8B-B14F-4D97-AF65-F5344CB8AC3E}">
        <p14:creationId xmlns:p14="http://schemas.microsoft.com/office/powerpoint/2010/main" val="1784221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01718" y="2188565"/>
            <a:ext cx="2188564" cy="2158582"/>
          </a:xfrm>
          <a:prstGeom prst="ellipse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ABCD Inc.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Ordering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1768839" y="834451"/>
            <a:ext cx="1424066" cy="1214203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026577" y="834452"/>
            <a:ext cx="1424066" cy="1214203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Inventory Control Department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026577" y="4347147"/>
            <a:ext cx="1424066" cy="1214203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68839" y="4347147"/>
            <a:ext cx="1424066" cy="1214203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Accounting Department</a:t>
            </a:r>
          </a:p>
        </p:txBody>
      </p:sp>
    </p:spTree>
    <p:extLst>
      <p:ext uri="{BB962C8B-B14F-4D97-AF65-F5344CB8AC3E}">
        <p14:creationId xmlns:p14="http://schemas.microsoft.com/office/powerpoint/2010/main" val="22881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8918"/>
            <a:ext cx="10515600" cy="50516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 dirty="0"/>
              <a:t>ABCD Inc. </a:t>
            </a:r>
            <a:r>
              <a:rPr lang="en-US" dirty="0"/>
              <a:t>is a supplier of high-quality, fashionable Korean clothing. Customers place orders by telephone, by mailing an order form included with each catalog, or via the Web site.</a:t>
            </a:r>
          </a:p>
          <a:p>
            <a:pPr marL="0" indent="0">
              <a:buNone/>
            </a:pPr>
            <a:r>
              <a:rPr lang="en-US" dirty="0"/>
              <a:t>Summary of Business Activities</a:t>
            </a:r>
          </a:p>
          <a:p>
            <a:pPr marL="0" indent="0">
              <a:buNone/>
            </a:pPr>
            <a:r>
              <a:rPr lang="en-US" dirty="0"/>
              <a:t>1. When customer </a:t>
            </a:r>
            <a:r>
              <a:rPr lang="en-US" dirty="0">
                <a:solidFill>
                  <a:srgbClr val="00B0F0"/>
                </a:solidFill>
              </a:rPr>
              <a:t>orders come in</a:t>
            </a:r>
            <a:r>
              <a:rPr lang="en-US" dirty="0"/>
              <a:t>, the item master and the customer master files are both updated. If an item is </a:t>
            </a:r>
            <a:r>
              <a:rPr lang="en-US" dirty="0">
                <a:solidFill>
                  <a:srgbClr val="00B0F0"/>
                </a:solidFill>
              </a:rPr>
              <a:t>out of stock</a:t>
            </a:r>
            <a:r>
              <a:rPr lang="en-US" dirty="0"/>
              <a:t>, the inventory control department is notified.</a:t>
            </a:r>
          </a:p>
          <a:p>
            <a:pPr marL="0" indent="0">
              <a:buNone/>
            </a:pPr>
            <a:r>
              <a:rPr lang="en-US" dirty="0"/>
              <a:t>2. If the order is from a new customer, </a:t>
            </a:r>
            <a:r>
              <a:rPr lang="en-US" dirty="0">
                <a:solidFill>
                  <a:srgbClr val="00B0F0"/>
                </a:solidFill>
              </a:rPr>
              <a:t>a new record </a:t>
            </a:r>
            <a:r>
              <a:rPr lang="en-US" dirty="0"/>
              <a:t>is created in the customer master file.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>
                <a:solidFill>
                  <a:srgbClr val="00B0F0"/>
                </a:solidFill>
              </a:rPr>
              <a:t>Picking slips </a:t>
            </a:r>
            <a:r>
              <a:rPr lang="en-US" dirty="0"/>
              <a:t>are produced for the customer order and sent to the warehouse.</a:t>
            </a:r>
          </a:p>
          <a:p>
            <a:pPr marL="0" indent="0">
              <a:buNone/>
            </a:pPr>
            <a:r>
              <a:rPr lang="en-US" dirty="0"/>
              <a:t>4. A </a:t>
            </a:r>
            <a:r>
              <a:rPr lang="en-US" dirty="0">
                <a:solidFill>
                  <a:srgbClr val="00B0F0"/>
                </a:solidFill>
              </a:rPr>
              <a:t>shipping statement </a:t>
            </a:r>
            <a:r>
              <a:rPr lang="en-US" dirty="0"/>
              <a:t> is prepared.</a:t>
            </a:r>
          </a:p>
          <a:p>
            <a:pPr marL="0" indent="0">
              <a:buNone/>
            </a:pPr>
            <a:r>
              <a:rPr lang="en-US" dirty="0"/>
              <a:t>5. The customer statement is generated and a </a:t>
            </a:r>
            <a:r>
              <a:rPr lang="en-US" dirty="0">
                <a:solidFill>
                  <a:srgbClr val="00B0F0"/>
                </a:solidFill>
              </a:rPr>
              <a:t>billing statement </a:t>
            </a:r>
            <a:r>
              <a:rPr lang="en-US" dirty="0"/>
              <a:t>is sent to a customer once a month.</a:t>
            </a:r>
          </a:p>
          <a:p>
            <a:pPr marL="0" indent="0">
              <a:buNone/>
            </a:pPr>
            <a:r>
              <a:rPr lang="en-US" dirty="0"/>
              <a:t>6. An </a:t>
            </a:r>
            <a:r>
              <a:rPr lang="en-US" dirty="0">
                <a:solidFill>
                  <a:srgbClr val="00B0F0"/>
                </a:solidFill>
              </a:rPr>
              <a:t>accounts receivable </a:t>
            </a:r>
            <a:r>
              <a:rPr lang="en-US" dirty="0"/>
              <a:t>report is sent to the accounting department.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process of shipping a customer order involves getting the goods from the warehouse and matching up the customer shipping statement, getting the correct customer address, and shipping it all to the customer.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329067"/>
            <a:ext cx="760126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ABCD Inc. </a:t>
            </a:r>
          </a:p>
        </p:txBody>
      </p:sp>
    </p:spTree>
    <p:extLst>
      <p:ext uri="{BB962C8B-B14F-4D97-AF65-F5344CB8AC3E}">
        <p14:creationId xmlns:p14="http://schemas.microsoft.com/office/powerpoint/2010/main" val="1113853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01718" y="2188565"/>
            <a:ext cx="2188564" cy="2158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ABCD Inc.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Ordering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1768839" y="834451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026577" y="834452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Inventory Control Department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026577" y="4347147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68839" y="4347147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Accounting Department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192905" y="749931"/>
            <a:ext cx="2698229" cy="1438634"/>
            <a:chOff x="3192905" y="749931"/>
            <a:chExt cx="2698229" cy="1438634"/>
          </a:xfrm>
        </p:grpSpPr>
        <p:grpSp>
          <p:nvGrpSpPr>
            <p:cNvPr id="11" name="Group 10"/>
            <p:cNvGrpSpPr/>
            <p:nvPr/>
          </p:nvGrpSpPr>
          <p:grpSpPr>
            <a:xfrm>
              <a:off x="3192905" y="1094282"/>
              <a:ext cx="2443397" cy="1094283"/>
              <a:chOff x="3192905" y="1094282"/>
              <a:chExt cx="2443397" cy="1094283"/>
            </a:xfrm>
          </p:grpSpPr>
          <p:cxnSp>
            <p:nvCxnSpPr>
              <p:cNvPr id="3" name="Straight Connector 2"/>
              <p:cNvCxnSpPr/>
              <p:nvPr/>
            </p:nvCxnSpPr>
            <p:spPr>
              <a:xfrm>
                <a:off x="3192905" y="1094282"/>
                <a:ext cx="244339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5636302" y="1094282"/>
                <a:ext cx="0" cy="10942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/>
            <p:cNvSpPr txBox="1"/>
            <p:nvPr/>
          </p:nvSpPr>
          <p:spPr>
            <a:xfrm>
              <a:off x="3762531" y="749931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Order Details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8439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8918"/>
            <a:ext cx="10515600" cy="50516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/>
              <a:t>ABCD Inc</a:t>
            </a:r>
            <a:r>
              <a:rPr lang="en-US" b="1" u="sng" dirty="0"/>
              <a:t>. </a:t>
            </a:r>
            <a:r>
              <a:rPr lang="en-US" dirty="0"/>
              <a:t>is a supplier of high-quality, fashionable Korean clothing. Customers place orders by telephone, by mailing an order form included with each catalog, or via the Web site.</a:t>
            </a:r>
          </a:p>
          <a:p>
            <a:pPr marL="0" indent="0">
              <a:buNone/>
            </a:pPr>
            <a:r>
              <a:rPr lang="en-US" dirty="0"/>
              <a:t>Summary of Business Activities</a:t>
            </a:r>
          </a:p>
          <a:p>
            <a:pPr marL="0" indent="0">
              <a:buNone/>
            </a:pPr>
            <a:r>
              <a:rPr lang="en-US" dirty="0"/>
              <a:t>1. When customer orders come in, the item master and the customer master files are both updated. If an item is </a:t>
            </a:r>
            <a:r>
              <a:rPr lang="en-US" dirty="0">
                <a:solidFill>
                  <a:srgbClr val="00B0F0"/>
                </a:solidFill>
              </a:rPr>
              <a:t>out of stock</a:t>
            </a:r>
            <a:r>
              <a:rPr lang="en-US" dirty="0"/>
              <a:t>, the inventory control department is notified.</a:t>
            </a:r>
          </a:p>
          <a:p>
            <a:pPr marL="0" indent="0">
              <a:buNone/>
            </a:pPr>
            <a:r>
              <a:rPr lang="en-US" dirty="0"/>
              <a:t>2. If the order is from a new customer, </a:t>
            </a:r>
            <a:r>
              <a:rPr lang="en-US" dirty="0">
                <a:solidFill>
                  <a:srgbClr val="00B0F0"/>
                </a:solidFill>
              </a:rPr>
              <a:t>a new record </a:t>
            </a:r>
            <a:r>
              <a:rPr lang="en-US" dirty="0"/>
              <a:t>is created in the customer master file.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>
                <a:solidFill>
                  <a:srgbClr val="00B0F0"/>
                </a:solidFill>
              </a:rPr>
              <a:t>Picking slips </a:t>
            </a:r>
            <a:r>
              <a:rPr lang="en-US" dirty="0"/>
              <a:t>are produced for the customer order and sent to the warehouse.</a:t>
            </a:r>
          </a:p>
          <a:p>
            <a:pPr marL="0" indent="0">
              <a:buNone/>
            </a:pPr>
            <a:r>
              <a:rPr lang="en-US" dirty="0"/>
              <a:t>4. A </a:t>
            </a:r>
            <a:r>
              <a:rPr lang="en-US" dirty="0">
                <a:solidFill>
                  <a:srgbClr val="00B0F0"/>
                </a:solidFill>
              </a:rPr>
              <a:t>shipping statement </a:t>
            </a:r>
            <a:r>
              <a:rPr lang="en-US" dirty="0"/>
              <a:t> is prepared.</a:t>
            </a:r>
          </a:p>
          <a:p>
            <a:pPr marL="0" indent="0">
              <a:buNone/>
            </a:pPr>
            <a:r>
              <a:rPr lang="en-US" dirty="0"/>
              <a:t>5. The customer statement is generated and a </a:t>
            </a:r>
            <a:r>
              <a:rPr lang="en-US" dirty="0">
                <a:solidFill>
                  <a:srgbClr val="00B0F0"/>
                </a:solidFill>
              </a:rPr>
              <a:t>billing statement </a:t>
            </a:r>
            <a:r>
              <a:rPr lang="en-US" dirty="0"/>
              <a:t>is sent to a customer once a month.</a:t>
            </a:r>
          </a:p>
          <a:p>
            <a:pPr marL="0" indent="0">
              <a:buNone/>
            </a:pPr>
            <a:r>
              <a:rPr lang="en-US" dirty="0"/>
              <a:t>6. An </a:t>
            </a:r>
            <a:r>
              <a:rPr lang="en-US" dirty="0">
                <a:solidFill>
                  <a:srgbClr val="00B0F0"/>
                </a:solidFill>
              </a:rPr>
              <a:t>accounts receivable </a:t>
            </a:r>
            <a:r>
              <a:rPr lang="en-US" dirty="0"/>
              <a:t>report is sent to the accounting department.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process of shipping a customer order involves getting the goods from the warehouse and matching up the customer shipping statement, getting the correct customer address, and shipping it all to the customer.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329067"/>
            <a:ext cx="760126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ABCD Inc. </a:t>
            </a:r>
          </a:p>
        </p:txBody>
      </p:sp>
    </p:spTree>
    <p:extLst>
      <p:ext uri="{BB962C8B-B14F-4D97-AF65-F5344CB8AC3E}">
        <p14:creationId xmlns:p14="http://schemas.microsoft.com/office/powerpoint/2010/main" val="289425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01718" y="2188565"/>
            <a:ext cx="2188564" cy="2158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ABCD Inc.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Ordering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1768839" y="834451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026577" y="834452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Inventory Control Department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026577" y="4347147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68839" y="4347147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Accounting Department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192905" y="749931"/>
            <a:ext cx="2698229" cy="1438634"/>
            <a:chOff x="3192905" y="749931"/>
            <a:chExt cx="2698229" cy="1438634"/>
          </a:xfrm>
        </p:grpSpPr>
        <p:grpSp>
          <p:nvGrpSpPr>
            <p:cNvPr id="11" name="Group 10"/>
            <p:cNvGrpSpPr/>
            <p:nvPr/>
          </p:nvGrpSpPr>
          <p:grpSpPr>
            <a:xfrm>
              <a:off x="3192905" y="1094282"/>
              <a:ext cx="2443397" cy="1094283"/>
              <a:chOff x="3192905" y="1094282"/>
              <a:chExt cx="2443397" cy="1094283"/>
            </a:xfrm>
          </p:grpSpPr>
          <p:cxnSp>
            <p:nvCxnSpPr>
              <p:cNvPr id="3" name="Straight Connector 2"/>
              <p:cNvCxnSpPr/>
              <p:nvPr/>
            </p:nvCxnSpPr>
            <p:spPr>
              <a:xfrm>
                <a:off x="3192905" y="1094282"/>
                <a:ext cx="244339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5636302" y="1094282"/>
                <a:ext cx="0" cy="10942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/>
            <p:cNvSpPr txBox="1"/>
            <p:nvPr/>
          </p:nvSpPr>
          <p:spPr>
            <a:xfrm>
              <a:off x="3762531" y="749931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Order Details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528217" y="684972"/>
            <a:ext cx="2855626" cy="1503593"/>
            <a:chOff x="6528217" y="684972"/>
            <a:chExt cx="2855626" cy="1503593"/>
          </a:xfrm>
        </p:grpSpPr>
        <p:sp>
          <p:nvSpPr>
            <p:cNvPr id="16" name="TextBox 15"/>
            <p:cNvSpPr txBox="1"/>
            <p:nvPr/>
          </p:nvSpPr>
          <p:spPr>
            <a:xfrm>
              <a:off x="6528217" y="684972"/>
              <a:ext cx="2855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Back Orders (out of stock)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6583180" y="1094282"/>
              <a:ext cx="0" cy="1094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583180" y="1094282"/>
              <a:ext cx="24433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309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8918"/>
            <a:ext cx="10515600" cy="50516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 dirty="0"/>
              <a:t>ABCD Inc. </a:t>
            </a:r>
            <a:r>
              <a:rPr lang="en-US" dirty="0"/>
              <a:t>is a supplier of high-quality, fashionable Korean clothing. Customers place orders by telephone, by mailing an order form included with each catalog, or via the Web site.</a:t>
            </a:r>
          </a:p>
          <a:p>
            <a:pPr marL="0" indent="0">
              <a:buNone/>
            </a:pPr>
            <a:r>
              <a:rPr lang="en-US" dirty="0"/>
              <a:t>Summary of Business Activities</a:t>
            </a:r>
          </a:p>
          <a:p>
            <a:pPr marL="0" indent="0">
              <a:buNone/>
            </a:pPr>
            <a:r>
              <a:rPr lang="en-US" dirty="0"/>
              <a:t>1. When customer orders come in, the item master and the customer master files are both updated. If an item is out of stock, the inventory control department is notified.</a:t>
            </a:r>
          </a:p>
          <a:p>
            <a:pPr marL="0" indent="0">
              <a:buNone/>
            </a:pPr>
            <a:r>
              <a:rPr lang="en-US" dirty="0"/>
              <a:t>2. If the order is from a new customer, </a:t>
            </a:r>
            <a:r>
              <a:rPr lang="en-US" dirty="0">
                <a:solidFill>
                  <a:srgbClr val="00B0F0"/>
                </a:solidFill>
              </a:rPr>
              <a:t>a new record </a:t>
            </a:r>
            <a:r>
              <a:rPr lang="en-US" dirty="0"/>
              <a:t>is created in the customer master file.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>
                <a:solidFill>
                  <a:srgbClr val="00B0F0"/>
                </a:solidFill>
              </a:rPr>
              <a:t>Picking slips </a:t>
            </a:r>
            <a:r>
              <a:rPr lang="en-US" dirty="0"/>
              <a:t>are produced for the customer order and sent to the warehouse.</a:t>
            </a:r>
          </a:p>
          <a:p>
            <a:pPr marL="0" indent="0">
              <a:buNone/>
            </a:pPr>
            <a:r>
              <a:rPr lang="en-US" dirty="0"/>
              <a:t>4. A </a:t>
            </a:r>
            <a:r>
              <a:rPr lang="en-US" dirty="0">
                <a:solidFill>
                  <a:srgbClr val="00B0F0"/>
                </a:solidFill>
              </a:rPr>
              <a:t>shipping statement </a:t>
            </a:r>
            <a:r>
              <a:rPr lang="en-US" dirty="0"/>
              <a:t> is prepared.</a:t>
            </a:r>
          </a:p>
          <a:p>
            <a:pPr marL="0" indent="0">
              <a:buNone/>
            </a:pPr>
            <a:r>
              <a:rPr lang="en-US" dirty="0"/>
              <a:t>5. The customer statement is generated and a </a:t>
            </a:r>
            <a:r>
              <a:rPr lang="en-US" dirty="0">
                <a:solidFill>
                  <a:srgbClr val="00B0F0"/>
                </a:solidFill>
              </a:rPr>
              <a:t>billing statement </a:t>
            </a:r>
            <a:r>
              <a:rPr lang="en-US" dirty="0"/>
              <a:t>is sent to a customer once a month.</a:t>
            </a:r>
          </a:p>
          <a:p>
            <a:pPr marL="0" indent="0">
              <a:buNone/>
            </a:pPr>
            <a:r>
              <a:rPr lang="en-US" dirty="0"/>
              <a:t>6. An </a:t>
            </a:r>
            <a:r>
              <a:rPr lang="en-US" dirty="0">
                <a:solidFill>
                  <a:srgbClr val="00B0F0"/>
                </a:solidFill>
              </a:rPr>
              <a:t>accounts receivable </a:t>
            </a:r>
            <a:r>
              <a:rPr lang="en-US" dirty="0"/>
              <a:t>report is sent to the accounting department.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process of shipping a customer order involves getting the goods from the warehouse and matching up the customer shipping statement, getting the correct customer address, and shipping it all to the customer.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329067"/>
            <a:ext cx="760126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ABCD Inc. </a:t>
            </a:r>
          </a:p>
        </p:txBody>
      </p:sp>
    </p:spTree>
    <p:extLst>
      <p:ext uri="{BB962C8B-B14F-4D97-AF65-F5344CB8AC3E}">
        <p14:creationId xmlns:p14="http://schemas.microsoft.com/office/powerpoint/2010/main" val="1424439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01718" y="2188565"/>
            <a:ext cx="2188564" cy="2158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ABCD Inc.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Ordering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1768839" y="834451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026577" y="834452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Inventory Control Department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026577" y="4347147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68839" y="4347147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Accounting Department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132943" y="792192"/>
            <a:ext cx="2503359" cy="1396373"/>
            <a:chOff x="3132943" y="792192"/>
            <a:chExt cx="2503359" cy="1396373"/>
          </a:xfrm>
        </p:grpSpPr>
        <p:grpSp>
          <p:nvGrpSpPr>
            <p:cNvPr id="11" name="Group 10"/>
            <p:cNvGrpSpPr/>
            <p:nvPr/>
          </p:nvGrpSpPr>
          <p:grpSpPr>
            <a:xfrm>
              <a:off x="3192905" y="1094282"/>
              <a:ext cx="2443397" cy="1094283"/>
              <a:chOff x="3192905" y="1094282"/>
              <a:chExt cx="2443397" cy="1094283"/>
            </a:xfrm>
          </p:grpSpPr>
          <p:cxnSp>
            <p:nvCxnSpPr>
              <p:cNvPr id="3" name="Straight Connector 2"/>
              <p:cNvCxnSpPr/>
              <p:nvPr/>
            </p:nvCxnSpPr>
            <p:spPr>
              <a:xfrm>
                <a:off x="3192905" y="1094282"/>
                <a:ext cx="244339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5636302" y="1094282"/>
                <a:ext cx="0" cy="10942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/>
            <p:cNvSpPr txBox="1"/>
            <p:nvPr/>
          </p:nvSpPr>
          <p:spPr>
            <a:xfrm>
              <a:off x="3132943" y="792192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Order Details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528217" y="684972"/>
            <a:ext cx="2855626" cy="1503593"/>
            <a:chOff x="6528217" y="684972"/>
            <a:chExt cx="2855626" cy="1503593"/>
          </a:xfrm>
        </p:grpSpPr>
        <p:sp>
          <p:nvSpPr>
            <p:cNvPr id="16" name="TextBox 15"/>
            <p:cNvSpPr txBox="1"/>
            <p:nvPr/>
          </p:nvSpPr>
          <p:spPr>
            <a:xfrm>
              <a:off x="6528217" y="684972"/>
              <a:ext cx="2855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Back Orders (out of stock)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6583180" y="1094282"/>
              <a:ext cx="0" cy="1094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583180" y="1094282"/>
              <a:ext cx="24433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132943" y="1131759"/>
            <a:ext cx="2128603" cy="1251677"/>
            <a:chOff x="3132943" y="1131759"/>
            <a:chExt cx="2128603" cy="1251677"/>
          </a:xfrm>
        </p:grpSpPr>
        <p:cxnSp>
          <p:nvCxnSpPr>
            <p:cNvPr id="6" name="Straight Connector 5"/>
            <p:cNvCxnSpPr>
              <a:stCxn id="5" idx="3"/>
            </p:cNvCxnSpPr>
            <p:nvPr/>
          </p:nvCxnSpPr>
          <p:spPr>
            <a:xfrm flipV="1">
              <a:off x="3192905" y="1439056"/>
              <a:ext cx="1993692" cy="24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186597" y="1439056"/>
              <a:ext cx="14990" cy="9443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3132943" y="1131759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New Customer Info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511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8918"/>
            <a:ext cx="10515600" cy="50516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 dirty="0"/>
              <a:t>ABCD Inc. </a:t>
            </a:r>
            <a:r>
              <a:rPr lang="en-US" dirty="0"/>
              <a:t>is a supplier of high-quality, fashionable Korean clothing. Customers place orders by telephone, by mailing an order form included with each catalog, or via the Web site.</a:t>
            </a:r>
          </a:p>
          <a:p>
            <a:pPr marL="0" indent="0">
              <a:buNone/>
            </a:pPr>
            <a:r>
              <a:rPr lang="en-US" dirty="0"/>
              <a:t>Summary of Business Activities</a:t>
            </a:r>
          </a:p>
          <a:p>
            <a:pPr marL="0" indent="0">
              <a:buNone/>
            </a:pPr>
            <a:r>
              <a:rPr lang="en-US" dirty="0"/>
              <a:t>1. When customer orders come in, the item master and the customer master files are both updated. If an item is out of stock, the inventory control department is notified.</a:t>
            </a:r>
          </a:p>
          <a:p>
            <a:pPr marL="0" indent="0">
              <a:buNone/>
            </a:pPr>
            <a:r>
              <a:rPr lang="en-US" dirty="0"/>
              <a:t>2. If the order is from a new customer, a new record is created in the customer master file.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>
                <a:solidFill>
                  <a:srgbClr val="00B0F0"/>
                </a:solidFill>
              </a:rPr>
              <a:t>Picking slips </a:t>
            </a:r>
            <a:r>
              <a:rPr lang="en-US" dirty="0"/>
              <a:t>are produced for the customer order and sent to the warehouse.</a:t>
            </a:r>
          </a:p>
          <a:p>
            <a:pPr marL="0" indent="0">
              <a:buNone/>
            </a:pPr>
            <a:r>
              <a:rPr lang="en-US" dirty="0"/>
              <a:t>4. A </a:t>
            </a:r>
            <a:r>
              <a:rPr lang="en-US" dirty="0">
                <a:solidFill>
                  <a:srgbClr val="00B0F0"/>
                </a:solidFill>
              </a:rPr>
              <a:t>shipping statement </a:t>
            </a:r>
            <a:r>
              <a:rPr lang="en-US" dirty="0"/>
              <a:t> is prepared.</a:t>
            </a:r>
          </a:p>
          <a:p>
            <a:pPr marL="0" indent="0">
              <a:buNone/>
            </a:pPr>
            <a:r>
              <a:rPr lang="en-US" dirty="0"/>
              <a:t>5. The customer statement is generated and a </a:t>
            </a:r>
            <a:r>
              <a:rPr lang="en-US" dirty="0">
                <a:solidFill>
                  <a:srgbClr val="00B0F0"/>
                </a:solidFill>
              </a:rPr>
              <a:t>billing statement </a:t>
            </a:r>
            <a:r>
              <a:rPr lang="en-US" dirty="0"/>
              <a:t>is sent to a customer once a month.</a:t>
            </a:r>
          </a:p>
          <a:p>
            <a:pPr marL="0" indent="0">
              <a:buNone/>
            </a:pPr>
            <a:r>
              <a:rPr lang="en-US" dirty="0"/>
              <a:t>6. An </a:t>
            </a:r>
            <a:r>
              <a:rPr lang="en-US" dirty="0">
                <a:solidFill>
                  <a:srgbClr val="00B0F0"/>
                </a:solidFill>
              </a:rPr>
              <a:t>accounts receivable </a:t>
            </a:r>
            <a:r>
              <a:rPr lang="en-US" dirty="0"/>
              <a:t>report is sent to the accounting department.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process of shipping a customer order involves getting the goods from the warehouse and matching up the customer shipping statement, getting the correct customer address, and shipping it all to the customer.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329067"/>
            <a:ext cx="760126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ABCD Inc. </a:t>
            </a:r>
          </a:p>
        </p:txBody>
      </p:sp>
    </p:spTree>
    <p:extLst>
      <p:ext uri="{BB962C8B-B14F-4D97-AF65-F5344CB8AC3E}">
        <p14:creationId xmlns:p14="http://schemas.microsoft.com/office/powerpoint/2010/main" val="2955208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01718" y="2188565"/>
            <a:ext cx="2188564" cy="2158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Huba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Ranmoko</a:t>
            </a:r>
            <a:r>
              <a:rPr lang="en-US" dirty="0">
                <a:solidFill>
                  <a:schemeClr val="tx1"/>
                </a:solidFill>
              </a:rPr>
              <a:t> Inc.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Ordering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1768839" y="834451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026577" y="834452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Inventory Control Department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044065" y="4542019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68839" y="4347147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Accounting Department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132943" y="792192"/>
            <a:ext cx="2503359" cy="1396373"/>
            <a:chOff x="3132943" y="792192"/>
            <a:chExt cx="2503359" cy="1396373"/>
          </a:xfrm>
        </p:grpSpPr>
        <p:grpSp>
          <p:nvGrpSpPr>
            <p:cNvPr id="11" name="Group 10"/>
            <p:cNvGrpSpPr/>
            <p:nvPr/>
          </p:nvGrpSpPr>
          <p:grpSpPr>
            <a:xfrm>
              <a:off x="3192905" y="1094282"/>
              <a:ext cx="2443397" cy="1094283"/>
              <a:chOff x="3192905" y="1094282"/>
              <a:chExt cx="2443397" cy="1094283"/>
            </a:xfrm>
          </p:grpSpPr>
          <p:cxnSp>
            <p:nvCxnSpPr>
              <p:cNvPr id="3" name="Straight Connector 2"/>
              <p:cNvCxnSpPr/>
              <p:nvPr/>
            </p:nvCxnSpPr>
            <p:spPr>
              <a:xfrm>
                <a:off x="3192905" y="1094282"/>
                <a:ext cx="244339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5636302" y="1094282"/>
                <a:ext cx="0" cy="10942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/>
            <p:cNvSpPr txBox="1"/>
            <p:nvPr/>
          </p:nvSpPr>
          <p:spPr>
            <a:xfrm>
              <a:off x="3132943" y="792192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Order Details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528217" y="684972"/>
            <a:ext cx="2855626" cy="1503593"/>
            <a:chOff x="6528217" y="684972"/>
            <a:chExt cx="2855626" cy="1503593"/>
          </a:xfrm>
        </p:grpSpPr>
        <p:sp>
          <p:nvSpPr>
            <p:cNvPr id="16" name="TextBox 15"/>
            <p:cNvSpPr txBox="1"/>
            <p:nvPr/>
          </p:nvSpPr>
          <p:spPr>
            <a:xfrm>
              <a:off x="6528217" y="684972"/>
              <a:ext cx="2855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Back Orders (out of stock)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6583180" y="1094282"/>
              <a:ext cx="0" cy="1094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583180" y="1094282"/>
              <a:ext cx="24433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132943" y="1131759"/>
            <a:ext cx="2128603" cy="1251677"/>
            <a:chOff x="3132943" y="1131759"/>
            <a:chExt cx="2128603" cy="1251677"/>
          </a:xfrm>
        </p:grpSpPr>
        <p:cxnSp>
          <p:nvCxnSpPr>
            <p:cNvPr id="6" name="Straight Connector 5"/>
            <p:cNvCxnSpPr>
              <a:stCxn id="5" idx="3"/>
            </p:cNvCxnSpPr>
            <p:nvPr/>
          </p:nvCxnSpPr>
          <p:spPr>
            <a:xfrm flipV="1">
              <a:off x="3192905" y="1439056"/>
              <a:ext cx="1993692" cy="24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186597" y="1439056"/>
              <a:ext cx="14990" cy="9443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3132943" y="1131759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New Customer Info</a:t>
              </a:r>
            </a:p>
          </p:txBody>
        </p:sp>
      </p:grpSp>
      <p:cxnSp>
        <p:nvCxnSpPr>
          <p:cNvPr id="23" name="Straight Connector 22"/>
          <p:cNvCxnSpPr/>
          <p:nvPr/>
        </p:nvCxnSpPr>
        <p:spPr>
          <a:xfrm>
            <a:off x="6600669" y="4387126"/>
            <a:ext cx="0" cy="1094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6583181" y="5481408"/>
            <a:ext cx="2800662" cy="369332"/>
            <a:chOff x="6583180" y="5441429"/>
            <a:chExt cx="2800662" cy="369332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583180" y="5441430"/>
              <a:ext cx="24433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190281" y="5441429"/>
              <a:ext cx="2193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Picking List Details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893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8918"/>
            <a:ext cx="10515600" cy="50516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 dirty="0"/>
              <a:t>ABCD Inc. </a:t>
            </a:r>
            <a:r>
              <a:rPr lang="en-US" dirty="0"/>
              <a:t>is a supplier of high-quality, fashionable Korean clothing. Customers place orders by telephone, by mailing an order form included with each catalog, or via the Web site.</a:t>
            </a:r>
          </a:p>
          <a:p>
            <a:pPr marL="0" indent="0">
              <a:buNone/>
            </a:pPr>
            <a:r>
              <a:rPr lang="en-US" dirty="0"/>
              <a:t>Summary of Business Activities</a:t>
            </a:r>
          </a:p>
          <a:p>
            <a:pPr marL="0" indent="0">
              <a:buNone/>
            </a:pPr>
            <a:r>
              <a:rPr lang="en-US" dirty="0"/>
              <a:t>1. When customer orders come in, the item master and the customer master files are both updated. If an item is out of stock, the inventory control department is notified.</a:t>
            </a:r>
          </a:p>
          <a:p>
            <a:pPr marL="0" indent="0">
              <a:buNone/>
            </a:pPr>
            <a:r>
              <a:rPr lang="en-US" dirty="0"/>
              <a:t>2. If the order is from a new customer, a new record is created in the customer master file.</a:t>
            </a:r>
          </a:p>
          <a:p>
            <a:pPr marL="0" indent="0">
              <a:buNone/>
            </a:pPr>
            <a:r>
              <a:rPr lang="en-US" dirty="0"/>
              <a:t>3. Picking slips are produced for the customer order and sent to the warehouse.</a:t>
            </a:r>
          </a:p>
          <a:p>
            <a:pPr marL="0" indent="0">
              <a:buNone/>
            </a:pPr>
            <a:r>
              <a:rPr lang="en-US" dirty="0"/>
              <a:t>4. A </a:t>
            </a:r>
            <a:r>
              <a:rPr lang="en-US" dirty="0">
                <a:solidFill>
                  <a:srgbClr val="00B0F0"/>
                </a:solidFill>
              </a:rPr>
              <a:t>shipping statement </a:t>
            </a:r>
            <a:r>
              <a:rPr lang="en-US" dirty="0"/>
              <a:t> is prepared.</a:t>
            </a:r>
          </a:p>
          <a:p>
            <a:pPr marL="0" indent="0">
              <a:buNone/>
            </a:pPr>
            <a:r>
              <a:rPr lang="en-US" dirty="0"/>
              <a:t>5. The </a:t>
            </a:r>
            <a:r>
              <a:rPr lang="en-US" dirty="0">
                <a:solidFill>
                  <a:srgbClr val="00B0F0"/>
                </a:solidFill>
              </a:rPr>
              <a:t>customer statement </a:t>
            </a:r>
            <a:r>
              <a:rPr lang="en-US" dirty="0"/>
              <a:t>is generated and a </a:t>
            </a:r>
            <a:r>
              <a:rPr lang="en-US" dirty="0">
                <a:solidFill>
                  <a:srgbClr val="00B0F0"/>
                </a:solidFill>
              </a:rPr>
              <a:t>billing statement </a:t>
            </a:r>
            <a:r>
              <a:rPr lang="en-US" dirty="0"/>
              <a:t>is sent to a customer once a month.</a:t>
            </a:r>
          </a:p>
          <a:p>
            <a:pPr marL="0" indent="0">
              <a:buNone/>
            </a:pPr>
            <a:r>
              <a:rPr lang="en-US" dirty="0"/>
              <a:t>6. An </a:t>
            </a:r>
            <a:r>
              <a:rPr lang="en-US" dirty="0">
                <a:solidFill>
                  <a:srgbClr val="00B0F0"/>
                </a:solidFill>
              </a:rPr>
              <a:t>accounts receivable </a:t>
            </a:r>
            <a:r>
              <a:rPr lang="en-US" dirty="0"/>
              <a:t>report is sent to the accounting department.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process of shipping a customer order involves getting the goods from the warehouse and matching up the customer shipping statement, getting the correct customer address, and shipping it all to the customer.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329067"/>
            <a:ext cx="760126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ABCD Inc. </a:t>
            </a:r>
          </a:p>
        </p:txBody>
      </p:sp>
    </p:spTree>
    <p:extLst>
      <p:ext uri="{BB962C8B-B14F-4D97-AF65-F5344CB8AC3E}">
        <p14:creationId xmlns:p14="http://schemas.microsoft.com/office/powerpoint/2010/main" val="1380954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01718" y="2188565"/>
            <a:ext cx="2188564" cy="2158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ABCD Inc.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Ordering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1768839" y="834451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026577" y="834452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Inventory Control Department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044065" y="4542019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68839" y="4347147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Accounting Department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132943" y="792192"/>
            <a:ext cx="2503359" cy="1396373"/>
            <a:chOff x="3132943" y="792192"/>
            <a:chExt cx="2503359" cy="1396373"/>
          </a:xfrm>
        </p:grpSpPr>
        <p:grpSp>
          <p:nvGrpSpPr>
            <p:cNvPr id="11" name="Group 10"/>
            <p:cNvGrpSpPr/>
            <p:nvPr/>
          </p:nvGrpSpPr>
          <p:grpSpPr>
            <a:xfrm>
              <a:off x="3192905" y="1094282"/>
              <a:ext cx="2443397" cy="1094283"/>
              <a:chOff x="3192905" y="1094282"/>
              <a:chExt cx="2443397" cy="1094283"/>
            </a:xfrm>
          </p:grpSpPr>
          <p:cxnSp>
            <p:nvCxnSpPr>
              <p:cNvPr id="3" name="Straight Connector 2"/>
              <p:cNvCxnSpPr/>
              <p:nvPr/>
            </p:nvCxnSpPr>
            <p:spPr>
              <a:xfrm>
                <a:off x="3192905" y="1094282"/>
                <a:ext cx="244339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5636302" y="1094282"/>
                <a:ext cx="0" cy="10942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/>
            <p:cNvSpPr txBox="1"/>
            <p:nvPr/>
          </p:nvSpPr>
          <p:spPr>
            <a:xfrm>
              <a:off x="3132943" y="792192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Order Details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528217" y="684972"/>
            <a:ext cx="2855626" cy="1503593"/>
            <a:chOff x="6528217" y="684972"/>
            <a:chExt cx="2855626" cy="1503593"/>
          </a:xfrm>
        </p:grpSpPr>
        <p:sp>
          <p:nvSpPr>
            <p:cNvPr id="16" name="TextBox 15"/>
            <p:cNvSpPr txBox="1"/>
            <p:nvPr/>
          </p:nvSpPr>
          <p:spPr>
            <a:xfrm>
              <a:off x="6528217" y="684972"/>
              <a:ext cx="2855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Back Orders (out of stock)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6583180" y="1094282"/>
              <a:ext cx="0" cy="1094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583180" y="1094282"/>
              <a:ext cx="24433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132943" y="1131759"/>
            <a:ext cx="2128603" cy="1251677"/>
            <a:chOff x="3132943" y="1131759"/>
            <a:chExt cx="2128603" cy="1251677"/>
          </a:xfrm>
        </p:grpSpPr>
        <p:cxnSp>
          <p:nvCxnSpPr>
            <p:cNvPr id="6" name="Straight Connector 5"/>
            <p:cNvCxnSpPr>
              <a:stCxn id="5" idx="3"/>
            </p:cNvCxnSpPr>
            <p:nvPr/>
          </p:nvCxnSpPr>
          <p:spPr>
            <a:xfrm flipV="1">
              <a:off x="3192905" y="1439056"/>
              <a:ext cx="1993692" cy="24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186597" y="1439056"/>
              <a:ext cx="14990" cy="9443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3132943" y="1131759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New Customer Info</a:t>
              </a:r>
            </a:p>
          </p:txBody>
        </p:sp>
      </p:grpSp>
      <p:cxnSp>
        <p:nvCxnSpPr>
          <p:cNvPr id="23" name="Straight Connector 22"/>
          <p:cNvCxnSpPr/>
          <p:nvPr/>
        </p:nvCxnSpPr>
        <p:spPr>
          <a:xfrm>
            <a:off x="6600669" y="4387126"/>
            <a:ext cx="0" cy="1094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6583181" y="5481408"/>
            <a:ext cx="2800662" cy="369332"/>
            <a:chOff x="6583180" y="5441429"/>
            <a:chExt cx="2800662" cy="369332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583180" y="5441430"/>
              <a:ext cx="24433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190281" y="5441429"/>
              <a:ext cx="2193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Picking List Details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060367" y="3927423"/>
            <a:ext cx="2323475" cy="1221698"/>
            <a:chOff x="7060367" y="3927423"/>
            <a:chExt cx="2323475" cy="1221698"/>
          </a:xfrm>
        </p:grpSpPr>
        <p:cxnSp>
          <p:nvCxnSpPr>
            <p:cNvPr id="28" name="Straight Connector 27"/>
            <p:cNvCxnSpPr>
              <a:endCxn id="8" idx="1"/>
            </p:cNvCxnSpPr>
            <p:nvPr/>
          </p:nvCxnSpPr>
          <p:spPr>
            <a:xfrm>
              <a:off x="7060367" y="5141626"/>
              <a:ext cx="1983698" cy="74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7060367" y="3927423"/>
              <a:ext cx="0" cy="12142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7375161" y="4779788"/>
              <a:ext cx="20086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Shipping Details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423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8918"/>
            <a:ext cx="10515600" cy="50516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 dirty="0"/>
              <a:t>ABCD Inc. </a:t>
            </a:r>
            <a:r>
              <a:rPr lang="en-US" dirty="0"/>
              <a:t>is a supplier of high-quality, fashionable Korean clothing. Customers place orders by telephone, by mailing an order form included with each catalog, or via the Web site.</a:t>
            </a:r>
          </a:p>
          <a:p>
            <a:pPr marL="0" indent="0">
              <a:buNone/>
            </a:pPr>
            <a:r>
              <a:rPr lang="en-US" dirty="0"/>
              <a:t>Summary of Business Activities</a:t>
            </a:r>
          </a:p>
          <a:p>
            <a:pPr marL="0" indent="0">
              <a:buNone/>
            </a:pPr>
            <a:r>
              <a:rPr lang="en-US" dirty="0"/>
              <a:t>1. When customer orders come in, the item master and the customer master files are both updated. If an item is out of stock, the inventory control department is notified.</a:t>
            </a:r>
          </a:p>
          <a:p>
            <a:pPr marL="0" indent="0">
              <a:buNone/>
            </a:pPr>
            <a:r>
              <a:rPr lang="en-US" dirty="0"/>
              <a:t>2. If the order is from a new customer, a new record is created in the customer master file.</a:t>
            </a:r>
          </a:p>
          <a:p>
            <a:pPr marL="0" indent="0">
              <a:buNone/>
            </a:pPr>
            <a:r>
              <a:rPr lang="en-US" dirty="0"/>
              <a:t>3. Picking slips are produced for the customer order and sent to the warehouse.</a:t>
            </a:r>
          </a:p>
          <a:p>
            <a:pPr marL="0" indent="0">
              <a:buNone/>
            </a:pPr>
            <a:r>
              <a:rPr lang="en-US" dirty="0"/>
              <a:t>4. A shipping statement  is prepared.</a:t>
            </a:r>
          </a:p>
          <a:p>
            <a:pPr marL="0" indent="0">
              <a:buNone/>
            </a:pPr>
            <a:r>
              <a:rPr lang="en-US" dirty="0"/>
              <a:t>5. The customer statement is generated and a </a:t>
            </a:r>
            <a:r>
              <a:rPr lang="en-US" dirty="0">
                <a:solidFill>
                  <a:srgbClr val="00B0F0"/>
                </a:solidFill>
              </a:rPr>
              <a:t>billing statement </a:t>
            </a:r>
            <a:r>
              <a:rPr lang="en-US" dirty="0"/>
              <a:t>is sent to a customer once a month.</a:t>
            </a:r>
          </a:p>
          <a:p>
            <a:pPr marL="0" indent="0">
              <a:buNone/>
            </a:pPr>
            <a:r>
              <a:rPr lang="en-US" dirty="0"/>
              <a:t>6. An </a:t>
            </a:r>
            <a:r>
              <a:rPr lang="en-US" dirty="0">
                <a:solidFill>
                  <a:srgbClr val="00B0F0"/>
                </a:solidFill>
              </a:rPr>
              <a:t>accounts receivable </a:t>
            </a:r>
            <a:r>
              <a:rPr lang="en-US" dirty="0"/>
              <a:t>report is sent to the accounting department.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process of shipping a customer order involves getting the goods from the warehouse and matching up the customer shipping statement, getting the correct customer address, and shipping it all to the customer.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329067"/>
            <a:ext cx="760126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ABCD Inc. </a:t>
            </a:r>
          </a:p>
        </p:txBody>
      </p:sp>
    </p:spTree>
    <p:extLst>
      <p:ext uri="{BB962C8B-B14F-4D97-AF65-F5344CB8AC3E}">
        <p14:creationId xmlns:p14="http://schemas.microsoft.com/office/powerpoint/2010/main" val="1258829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01718" y="2188565"/>
            <a:ext cx="2188564" cy="2158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ABCD Inc.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Ordering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1768839" y="834451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026577" y="834452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Inventory Control Department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044065" y="4542019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68839" y="4347147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Accounting Department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132943" y="792192"/>
            <a:ext cx="2503359" cy="1396373"/>
            <a:chOff x="3132943" y="792192"/>
            <a:chExt cx="2503359" cy="1396373"/>
          </a:xfrm>
        </p:grpSpPr>
        <p:grpSp>
          <p:nvGrpSpPr>
            <p:cNvPr id="11" name="Group 10"/>
            <p:cNvGrpSpPr/>
            <p:nvPr/>
          </p:nvGrpSpPr>
          <p:grpSpPr>
            <a:xfrm>
              <a:off x="3192905" y="1094282"/>
              <a:ext cx="2443397" cy="1094283"/>
              <a:chOff x="3192905" y="1094282"/>
              <a:chExt cx="2443397" cy="1094283"/>
            </a:xfrm>
          </p:grpSpPr>
          <p:cxnSp>
            <p:nvCxnSpPr>
              <p:cNvPr id="3" name="Straight Connector 2"/>
              <p:cNvCxnSpPr/>
              <p:nvPr/>
            </p:nvCxnSpPr>
            <p:spPr>
              <a:xfrm>
                <a:off x="3192905" y="1094282"/>
                <a:ext cx="244339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5636302" y="1094282"/>
                <a:ext cx="0" cy="10942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/>
            <p:cNvSpPr txBox="1"/>
            <p:nvPr/>
          </p:nvSpPr>
          <p:spPr>
            <a:xfrm>
              <a:off x="3132943" y="792192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Order Details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528217" y="684972"/>
            <a:ext cx="2855626" cy="1503593"/>
            <a:chOff x="6528217" y="684972"/>
            <a:chExt cx="2855626" cy="1503593"/>
          </a:xfrm>
        </p:grpSpPr>
        <p:sp>
          <p:nvSpPr>
            <p:cNvPr id="16" name="TextBox 15"/>
            <p:cNvSpPr txBox="1"/>
            <p:nvPr/>
          </p:nvSpPr>
          <p:spPr>
            <a:xfrm>
              <a:off x="6528217" y="684972"/>
              <a:ext cx="2855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Back Orders (out of stock)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6583180" y="1094282"/>
              <a:ext cx="0" cy="1094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583180" y="1094282"/>
              <a:ext cx="24433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132943" y="1131759"/>
            <a:ext cx="2128603" cy="1251677"/>
            <a:chOff x="3132943" y="1131759"/>
            <a:chExt cx="2128603" cy="1251677"/>
          </a:xfrm>
        </p:grpSpPr>
        <p:cxnSp>
          <p:nvCxnSpPr>
            <p:cNvPr id="6" name="Straight Connector 5"/>
            <p:cNvCxnSpPr>
              <a:stCxn id="5" idx="3"/>
            </p:cNvCxnSpPr>
            <p:nvPr/>
          </p:nvCxnSpPr>
          <p:spPr>
            <a:xfrm flipV="1">
              <a:off x="3192905" y="1439056"/>
              <a:ext cx="1993692" cy="24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186597" y="1439056"/>
              <a:ext cx="14990" cy="9443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3132943" y="1131759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New Customer Info</a:t>
              </a:r>
            </a:p>
          </p:txBody>
        </p:sp>
      </p:grpSp>
      <p:cxnSp>
        <p:nvCxnSpPr>
          <p:cNvPr id="23" name="Straight Connector 22"/>
          <p:cNvCxnSpPr/>
          <p:nvPr/>
        </p:nvCxnSpPr>
        <p:spPr>
          <a:xfrm>
            <a:off x="6600669" y="4387126"/>
            <a:ext cx="0" cy="1094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6583181" y="5481408"/>
            <a:ext cx="2800662" cy="369332"/>
            <a:chOff x="6583180" y="5441429"/>
            <a:chExt cx="2800662" cy="369332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583180" y="5441430"/>
              <a:ext cx="24433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190281" y="5441429"/>
              <a:ext cx="2193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Picking List Details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060367" y="3927423"/>
            <a:ext cx="2323475" cy="1221698"/>
            <a:chOff x="7060367" y="3927423"/>
            <a:chExt cx="2323475" cy="1221698"/>
          </a:xfrm>
        </p:grpSpPr>
        <p:cxnSp>
          <p:nvCxnSpPr>
            <p:cNvPr id="28" name="Straight Connector 27"/>
            <p:cNvCxnSpPr>
              <a:endCxn id="8" idx="1"/>
            </p:cNvCxnSpPr>
            <p:nvPr/>
          </p:nvCxnSpPr>
          <p:spPr>
            <a:xfrm>
              <a:off x="7060367" y="5141626"/>
              <a:ext cx="1983698" cy="74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7060367" y="3927423"/>
              <a:ext cx="0" cy="12142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7375161" y="4779788"/>
              <a:ext cx="20086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Shipping Details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143594" y="2048654"/>
            <a:ext cx="2743199" cy="1414074"/>
            <a:chOff x="2143594" y="2048654"/>
            <a:chExt cx="2743199" cy="1414074"/>
          </a:xfrm>
        </p:grpSpPr>
        <p:cxnSp>
          <p:nvCxnSpPr>
            <p:cNvPr id="25" name="Straight Connector 24"/>
            <p:cNvCxnSpPr/>
            <p:nvPr/>
          </p:nvCxnSpPr>
          <p:spPr>
            <a:xfrm flipH="1">
              <a:off x="2143594" y="3462728"/>
              <a:ext cx="27431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2158584" y="2048654"/>
              <a:ext cx="0" cy="14140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508353" y="3085901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Billing Statement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442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8918"/>
            <a:ext cx="10515600" cy="50516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 dirty="0"/>
              <a:t>ABCD Inc. </a:t>
            </a:r>
            <a:r>
              <a:rPr lang="en-US" dirty="0"/>
              <a:t>is a supplier of high-quality, fashionable Korean clothing. Customers place orders by telephone, by mailing an order form included with each catalog, or via the Web site.</a:t>
            </a:r>
          </a:p>
          <a:p>
            <a:pPr marL="0" indent="0">
              <a:buNone/>
            </a:pPr>
            <a:r>
              <a:rPr lang="en-US" dirty="0"/>
              <a:t>Summary of Business Activities</a:t>
            </a:r>
          </a:p>
          <a:p>
            <a:pPr marL="0" indent="0">
              <a:buNone/>
            </a:pPr>
            <a:r>
              <a:rPr lang="en-US" dirty="0"/>
              <a:t>1. When customer orders come in, the item master and the customer master files are both updated. If an item is out of stock, the inventory control department is notified.</a:t>
            </a:r>
          </a:p>
          <a:p>
            <a:pPr marL="0" indent="0">
              <a:buNone/>
            </a:pPr>
            <a:r>
              <a:rPr lang="en-US" dirty="0"/>
              <a:t>2. If the order is from a new customer, a new record is created in the customer master file.</a:t>
            </a:r>
          </a:p>
          <a:p>
            <a:pPr marL="0" indent="0">
              <a:buNone/>
            </a:pPr>
            <a:r>
              <a:rPr lang="en-US" dirty="0"/>
              <a:t>3. Picking slips are produced for the customer order and sent to the warehouse.</a:t>
            </a:r>
          </a:p>
          <a:p>
            <a:pPr marL="0" indent="0">
              <a:buNone/>
            </a:pPr>
            <a:r>
              <a:rPr lang="en-US" dirty="0"/>
              <a:t>4. A shipping statement  is prepared.</a:t>
            </a:r>
          </a:p>
          <a:p>
            <a:pPr marL="0" indent="0">
              <a:buNone/>
            </a:pPr>
            <a:r>
              <a:rPr lang="en-US" dirty="0"/>
              <a:t>5. The customer statement is generated and a billing statement is sent to a customer once a month.</a:t>
            </a:r>
          </a:p>
          <a:p>
            <a:pPr marL="0" indent="0">
              <a:buNone/>
            </a:pPr>
            <a:r>
              <a:rPr lang="en-US" dirty="0"/>
              <a:t>6. An </a:t>
            </a:r>
            <a:r>
              <a:rPr lang="en-US" dirty="0">
                <a:solidFill>
                  <a:srgbClr val="00B0F0"/>
                </a:solidFill>
              </a:rPr>
              <a:t>accounts receivable </a:t>
            </a:r>
            <a:r>
              <a:rPr lang="en-US" dirty="0"/>
              <a:t>report is sent to the accounting department.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process of shipping a customer order involves getting the goods from the warehouse and matching up the customer shipping statement, getting the correct customer address, and shipping it all to the customer.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329067"/>
            <a:ext cx="760126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ABCD Inc. </a:t>
            </a:r>
          </a:p>
        </p:txBody>
      </p:sp>
    </p:spTree>
    <p:extLst>
      <p:ext uri="{BB962C8B-B14F-4D97-AF65-F5344CB8AC3E}">
        <p14:creationId xmlns:p14="http://schemas.microsoft.com/office/powerpoint/2010/main" val="2239545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01718" y="2188565"/>
            <a:ext cx="2188564" cy="2158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ABCD Inc.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Ordering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1768839" y="834451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026577" y="834452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Inventory Control Department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044065" y="4542019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68839" y="4542019"/>
            <a:ext cx="1424066" cy="12142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Accounting Department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132943" y="792192"/>
            <a:ext cx="2503359" cy="1396373"/>
            <a:chOff x="3132943" y="792192"/>
            <a:chExt cx="2503359" cy="1396373"/>
          </a:xfrm>
        </p:grpSpPr>
        <p:grpSp>
          <p:nvGrpSpPr>
            <p:cNvPr id="11" name="Group 10"/>
            <p:cNvGrpSpPr/>
            <p:nvPr/>
          </p:nvGrpSpPr>
          <p:grpSpPr>
            <a:xfrm>
              <a:off x="3192905" y="1094282"/>
              <a:ext cx="2443397" cy="1094283"/>
              <a:chOff x="3192905" y="1094282"/>
              <a:chExt cx="2443397" cy="1094283"/>
            </a:xfrm>
          </p:grpSpPr>
          <p:cxnSp>
            <p:nvCxnSpPr>
              <p:cNvPr id="3" name="Straight Connector 2"/>
              <p:cNvCxnSpPr/>
              <p:nvPr/>
            </p:nvCxnSpPr>
            <p:spPr>
              <a:xfrm>
                <a:off x="3192905" y="1094282"/>
                <a:ext cx="244339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5636302" y="1094282"/>
                <a:ext cx="0" cy="10942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/>
            <p:cNvSpPr txBox="1"/>
            <p:nvPr/>
          </p:nvSpPr>
          <p:spPr>
            <a:xfrm>
              <a:off x="3132943" y="792192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Order Details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528217" y="684972"/>
            <a:ext cx="2855626" cy="1503593"/>
            <a:chOff x="6528217" y="684972"/>
            <a:chExt cx="2855626" cy="1503593"/>
          </a:xfrm>
        </p:grpSpPr>
        <p:sp>
          <p:nvSpPr>
            <p:cNvPr id="16" name="TextBox 15"/>
            <p:cNvSpPr txBox="1"/>
            <p:nvPr/>
          </p:nvSpPr>
          <p:spPr>
            <a:xfrm>
              <a:off x="6528217" y="684972"/>
              <a:ext cx="2855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Back Orders (out of stock)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6583180" y="1094282"/>
              <a:ext cx="0" cy="1094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583180" y="1094282"/>
              <a:ext cx="24433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132943" y="1131759"/>
            <a:ext cx="2128603" cy="1251677"/>
            <a:chOff x="3132943" y="1131759"/>
            <a:chExt cx="2128603" cy="1251677"/>
          </a:xfrm>
        </p:grpSpPr>
        <p:cxnSp>
          <p:nvCxnSpPr>
            <p:cNvPr id="6" name="Straight Connector 5"/>
            <p:cNvCxnSpPr>
              <a:stCxn id="5" idx="3"/>
            </p:cNvCxnSpPr>
            <p:nvPr/>
          </p:nvCxnSpPr>
          <p:spPr>
            <a:xfrm flipV="1">
              <a:off x="3192905" y="1439056"/>
              <a:ext cx="1993692" cy="24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186597" y="1439056"/>
              <a:ext cx="14990" cy="9443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3132943" y="1131759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New Customer Info</a:t>
              </a:r>
            </a:p>
          </p:txBody>
        </p:sp>
      </p:grpSp>
      <p:cxnSp>
        <p:nvCxnSpPr>
          <p:cNvPr id="23" name="Straight Connector 22"/>
          <p:cNvCxnSpPr/>
          <p:nvPr/>
        </p:nvCxnSpPr>
        <p:spPr>
          <a:xfrm>
            <a:off x="6600669" y="4387126"/>
            <a:ext cx="0" cy="1094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6583181" y="5481408"/>
            <a:ext cx="2800662" cy="369332"/>
            <a:chOff x="6583180" y="5441429"/>
            <a:chExt cx="2800662" cy="369332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583180" y="5441430"/>
              <a:ext cx="24433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190281" y="5441429"/>
              <a:ext cx="2193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Picking List Details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060367" y="3927423"/>
            <a:ext cx="2323475" cy="1221698"/>
            <a:chOff x="7060367" y="3927423"/>
            <a:chExt cx="2323475" cy="1221698"/>
          </a:xfrm>
        </p:grpSpPr>
        <p:cxnSp>
          <p:nvCxnSpPr>
            <p:cNvPr id="28" name="Straight Connector 27"/>
            <p:cNvCxnSpPr>
              <a:endCxn id="8" idx="1"/>
            </p:cNvCxnSpPr>
            <p:nvPr/>
          </p:nvCxnSpPr>
          <p:spPr>
            <a:xfrm>
              <a:off x="7060367" y="5141626"/>
              <a:ext cx="1983698" cy="74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7060367" y="3927423"/>
              <a:ext cx="0" cy="12142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7375161" y="4779788"/>
              <a:ext cx="20086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Shipping Details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143594" y="2048654"/>
            <a:ext cx="2743199" cy="1414074"/>
            <a:chOff x="2143594" y="2048654"/>
            <a:chExt cx="2743199" cy="1414074"/>
          </a:xfrm>
        </p:grpSpPr>
        <p:cxnSp>
          <p:nvCxnSpPr>
            <p:cNvPr id="25" name="Straight Connector 24"/>
            <p:cNvCxnSpPr/>
            <p:nvPr/>
          </p:nvCxnSpPr>
          <p:spPr>
            <a:xfrm flipH="1">
              <a:off x="2143594" y="3462728"/>
              <a:ext cx="27431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2158584" y="2048654"/>
              <a:ext cx="0" cy="14140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508353" y="3085901"/>
              <a:ext cx="2128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Billing Statement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175418" y="4387126"/>
            <a:ext cx="2460884" cy="1123624"/>
            <a:chOff x="3175418" y="4387126"/>
            <a:chExt cx="2460884" cy="1123624"/>
          </a:xfrm>
        </p:grpSpPr>
        <p:cxnSp>
          <p:nvCxnSpPr>
            <p:cNvPr id="36" name="Straight Connector 35"/>
            <p:cNvCxnSpPr/>
            <p:nvPr/>
          </p:nvCxnSpPr>
          <p:spPr>
            <a:xfrm>
              <a:off x="5636302" y="4387126"/>
              <a:ext cx="0" cy="1094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3192905" y="5481408"/>
              <a:ext cx="24433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175418" y="5141418"/>
              <a:ext cx="2193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Accounts Receivables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4444843" y="6023763"/>
            <a:ext cx="3302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LEVEL 0 : CONTEXT DIAGRAM</a:t>
            </a:r>
          </a:p>
        </p:txBody>
      </p:sp>
    </p:spTree>
    <p:extLst>
      <p:ext uri="{BB962C8B-B14F-4D97-AF65-F5344CB8AC3E}">
        <p14:creationId xmlns:p14="http://schemas.microsoft.com/office/powerpoint/2010/main" val="46469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1941</Words>
  <Application>Microsoft Office PowerPoint</Application>
  <PresentationFormat>Widescreen</PresentationFormat>
  <Paragraphs>197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Ordering System</dc:title>
  <dc:creator>lenovo</dc:creator>
  <cp:lastModifiedBy>Arcangel, Noreen</cp:lastModifiedBy>
  <cp:revision>60</cp:revision>
  <dcterms:created xsi:type="dcterms:W3CDTF">2017-02-19T03:03:08Z</dcterms:created>
  <dcterms:modified xsi:type="dcterms:W3CDTF">2022-10-12T07:31:29Z</dcterms:modified>
</cp:coreProperties>
</file>