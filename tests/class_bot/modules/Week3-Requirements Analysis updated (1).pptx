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8" r:id="rId1"/>
  </p:sldMasterIdLst>
  <p:notesMasterIdLst>
    <p:notesMasterId r:id="rId31"/>
  </p:notesMasterIdLst>
  <p:sldIdLst>
    <p:sldId id="256" r:id="rId2"/>
    <p:sldId id="275" r:id="rId3"/>
    <p:sldId id="257" r:id="rId4"/>
    <p:sldId id="259" r:id="rId5"/>
    <p:sldId id="385" r:id="rId6"/>
    <p:sldId id="386" r:id="rId7"/>
    <p:sldId id="387" r:id="rId8"/>
    <p:sldId id="388" r:id="rId9"/>
    <p:sldId id="389" r:id="rId10"/>
    <p:sldId id="390" r:id="rId11"/>
    <p:sldId id="260" r:id="rId12"/>
    <p:sldId id="261" r:id="rId13"/>
    <p:sldId id="262" r:id="rId14"/>
    <p:sldId id="267" r:id="rId15"/>
    <p:sldId id="268" r:id="rId16"/>
    <p:sldId id="269" r:id="rId17"/>
    <p:sldId id="274" r:id="rId18"/>
    <p:sldId id="374" r:id="rId19"/>
    <p:sldId id="375" r:id="rId20"/>
    <p:sldId id="376" r:id="rId21"/>
    <p:sldId id="377" r:id="rId22"/>
    <p:sldId id="378" r:id="rId23"/>
    <p:sldId id="370" r:id="rId24"/>
    <p:sldId id="379" r:id="rId25"/>
    <p:sldId id="380" r:id="rId26"/>
    <p:sldId id="381" r:id="rId27"/>
    <p:sldId id="382" r:id="rId28"/>
    <p:sldId id="383" r:id="rId29"/>
    <p:sldId id="38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89" autoAdjust="0"/>
    <p:restoredTop sz="82876" autoAdjust="0"/>
  </p:normalViewPr>
  <p:slideViewPr>
    <p:cSldViewPr snapToGrid="0">
      <p:cViewPr varScale="1">
        <p:scale>
          <a:sx n="71" d="100"/>
          <a:sy n="71" d="100"/>
        </p:scale>
        <p:origin x="998"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2E0FCF6-1C5A-4D77-B6E4-50113AFEB0D8}"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52134CCA-7196-481B-BDDF-1FB6B681F6E1}">
      <dgm:prSet/>
      <dgm:spPr/>
      <dgm:t>
        <a:bodyPr/>
        <a:lstStyle/>
        <a:p>
          <a:r>
            <a:rPr lang="en-US" b="1" i="0"/>
            <a:t>Visualization:</a:t>
          </a:r>
          <a:r>
            <a:rPr lang="en-US" b="0" i="0"/>
            <a:t> Use tools such as visualization and simulation that allow stakeholders to better understand the desired end product.</a:t>
          </a:r>
          <a:endParaRPr lang="en-US"/>
        </a:p>
      </dgm:t>
    </dgm:pt>
    <dgm:pt modelId="{DEC163FD-7B4D-47AF-9CC9-69B9CCAC98C2}" type="parTrans" cxnId="{F82C6774-40CD-4796-96F7-DA30BFAC7A72}">
      <dgm:prSet/>
      <dgm:spPr/>
      <dgm:t>
        <a:bodyPr/>
        <a:lstStyle/>
        <a:p>
          <a:endParaRPr lang="en-US"/>
        </a:p>
      </dgm:t>
    </dgm:pt>
    <dgm:pt modelId="{C9ADF9EE-05CD-42EC-9F48-AF8507E55989}" type="sibTrans" cxnId="{F82C6774-40CD-4796-96F7-DA30BFAC7A72}">
      <dgm:prSet/>
      <dgm:spPr/>
      <dgm:t>
        <a:bodyPr/>
        <a:lstStyle/>
        <a:p>
          <a:endParaRPr lang="en-US"/>
        </a:p>
      </dgm:t>
    </dgm:pt>
    <dgm:pt modelId="{9152790E-3624-4A8C-A443-083C5E74D698}">
      <dgm:prSet/>
      <dgm:spPr/>
      <dgm:t>
        <a:bodyPr/>
        <a:lstStyle/>
        <a:p>
          <a:r>
            <a:rPr lang="en-US" b="1" i="0"/>
            <a:t>Document dependencies:</a:t>
          </a:r>
          <a:r>
            <a:rPr lang="en-US" b="0" i="0"/>
            <a:t> Document relationships and dependencies among requirements and any assumptions.</a:t>
          </a:r>
          <a:endParaRPr lang="en-US"/>
        </a:p>
      </dgm:t>
    </dgm:pt>
    <dgm:pt modelId="{32331C9C-8D34-4DD3-9486-2BCEEFD2CC4E}" type="parTrans" cxnId="{0621335B-D0A6-41E4-98FB-57BB093FFC02}">
      <dgm:prSet/>
      <dgm:spPr/>
      <dgm:t>
        <a:bodyPr/>
        <a:lstStyle/>
        <a:p>
          <a:endParaRPr lang="en-US"/>
        </a:p>
      </dgm:t>
    </dgm:pt>
    <dgm:pt modelId="{04564DCA-C490-4F79-BF95-94FC33DAA2D8}" type="sibTrans" cxnId="{0621335B-D0A6-41E4-98FB-57BB093FFC02}">
      <dgm:prSet/>
      <dgm:spPr/>
      <dgm:t>
        <a:bodyPr/>
        <a:lstStyle/>
        <a:p>
          <a:endParaRPr lang="en-US"/>
        </a:p>
      </dgm:t>
    </dgm:pt>
    <dgm:pt modelId="{19260E99-2FC3-4CF3-99A9-AE17C7E9F7BD}">
      <dgm:prSet/>
      <dgm:spPr/>
      <dgm:t>
        <a:bodyPr/>
        <a:lstStyle/>
        <a:p>
          <a:r>
            <a:rPr lang="en-US" b="1" i="0"/>
            <a:t>Consistent use of templates:</a:t>
          </a:r>
          <a:r>
            <a:rPr lang="en-US" b="0" i="0"/>
            <a:t> Produce consistent templates and models to document the requirements.</a:t>
          </a:r>
          <a:endParaRPr lang="en-US"/>
        </a:p>
      </dgm:t>
    </dgm:pt>
    <dgm:pt modelId="{C113CAC8-61CD-497E-8A3B-7E43FB9B8AEB}" type="parTrans" cxnId="{6BB6A60B-861B-464C-86B1-63B8E9830A9B}">
      <dgm:prSet/>
      <dgm:spPr/>
      <dgm:t>
        <a:bodyPr/>
        <a:lstStyle/>
        <a:p>
          <a:endParaRPr lang="en-US"/>
        </a:p>
      </dgm:t>
    </dgm:pt>
    <dgm:pt modelId="{368AA7F3-2F8E-4226-BD44-338AEEEB80BC}" type="sibTrans" cxnId="{6BB6A60B-861B-464C-86B1-63B8E9830A9B}">
      <dgm:prSet/>
      <dgm:spPr/>
      <dgm:t>
        <a:bodyPr/>
        <a:lstStyle/>
        <a:p>
          <a:endParaRPr lang="en-US"/>
        </a:p>
      </dgm:t>
    </dgm:pt>
    <dgm:pt modelId="{045B26A5-8F77-4842-A28F-C1B6132F790B}" type="pres">
      <dgm:prSet presAssocID="{12E0FCF6-1C5A-4D77-B6E4-50113AFEB0D8}" presName="linear" presStyleCnt="0">
        <dgm:presLayoutVars>
          <dgm:animLvl val="lvl"/>
          <dgm:resizeHandles val="exact"/>
        </dgm:presLayoutVars>
      </dgm:prSet>
      <dgm:spPr/>
    </dgm:pt>
    <dgm:pt modelId="{9B98F03C-3590-4676-A613-E053B2C291C2}" type="pres">
      <dgm:prSet presAssocID="{52134CCA-7196-481B-BDDF-1FB6B681F6E1}" presName="parentText" presStyleLbl="node1" presStyleIdx="0" presStyleCnt="3">
        <dgm:presLayoutVars>
          <dgm:chMax val="0"/>
          <dgm:bulletEnabled val="1"/>
        </dgm:presLayoutVars>
      </dgm:prSet>
      <dgm:spPr/>
    </dgm:pt>
    <dgm:pt modelId="{E2453305-8925-4876-8653-1AE60646DB40}" type="pres">
      <dgm:prSet presAssocID="{C9ADF9EE-05CD-42EC-9F48-AF8507E55989}" presName="spacer" presStyleCnt="0"/>
      <dgm:spPr/>
    </dgm:pt>
    <dgm:pt modelId="{E27BF7AB-30FA-4C9F-B03E-E0F322565A62}" type="pres">
      <dgm:prSet presAssocID="{9152790E-3624-4A8C-A443-083C5E74D698}" presName="parentText" presStyleLbl="node1" presStyleIdx="1" presStyleCnt="3">
        <dgm:presLayoutVars>
          <dgm:chMax val="0"/>
          <dgm:bulletEnabled val="1"/>
        </dgm:presLayoutVars>
      </dgm:prSet>
      <dgm:spPr/>
    </dgm:pt>
    <dgm:pt modelId="{B8B0D814-8BBB-4923-81AF-9199AA7E140C}" type="pres">
      <dgm:prSet presAssocID="{04564DCA-C490-4F79-BF95-94FC33DAA2D8}" presName="spacer" presStyleCnt="0"/>
      <dgm:spPr/>
    </dgm:pt>
    <dgm:pt modelId="{AEE3E28E-E4C2-489A-A429-B9C541392961}" type="pres">
      <dgm:prSet presAssocID="{19260E99-2FC3-4CF3-99A9-AE17C7E9F7BD}" presName="parentText" presStyleLbl="node1" presStyleIdx="2" presStyleCnt="3">
        <dgm:presLayoutVars>
          <dgm:chMax val="0"/>
          <dgm:bulletEnabled val="1"/>
        </dgm:presLayoutVars>
      </dgm:prSet>
      <dgm:spPr/>
    </dgm:pt>
  </dgm:ptLst>
  <dgm:cxnLst>
    <dgm:cxn modelId="{5ABE7C0A-63DA-4858-A5B2-9DF266F230A4}" type="presOf" srcId="{12E0FCF6-1C5A-4D77-B6E4-50113AFEB0D8}" destId="{045B26A5-8F77-4842-A28F-C1B6132F790B}" srcOrd="0" destOrd="0" presId="urn:microsoft.com/office/officeart/2005/8/layout/vList2"/>
    <dgm:cxn modelId="{6BB6A60B-861B-464C-86B1-63B8E9830A9B}" srcId="{12E0FCF6-1C5A-4D77-B6E4-50113AFEB0D8}" destId="{19260E99-2FC3-4CF3-99A9-AE17C7E9F7BD}" srcOrd="2" destOrd="0" parTransId="{C113CAC8-61CD-497E-8A3B-7E43FB9B8AEB}" sibTransId="{368AA7F3-2F8E-4226-BD44-338AEEEB80BC}"/>
    <dgm:cxn modelId="{E16C8837-1D35-48C5-8354-3DE1B8953DBB}" type="presOf" srcId="{9152790E-3624-4A8C-A443-083C5E74D698}" destId="{E27BF7AB-30FA-4C9F-B03E-E0F322565A62}" srcOrd="0" destOrd="0" presId="urn:microsoft.com/office/officeart/2005/8/layout/vList2"/>
    <dgm:cxn modelId="{0621335B-D0A6-41E4-98FB-57BB093FFC02}" srcId="{12E0FCF6-1C5A-4D77-B6E4-50113AFEB0D8}" destId="{9152790E-3624-4A8C-A443-083C5E74D698}" srcOrd="1" destOrd="0" parTransId="{32331C9C-8D34-4DD3-9486-2BCEEFD2CC4E}" sibTransId="{04564DCA-C490-4F79-BF95-94FC33DAA2D8}"/>
    <dgm:cxn modelId="{F82C6774-40CD-4796-96F7-DA30BFAC7A72}" srcId="{12E0FCF6-1C5A-4D77-B6E4-50113AFEB0D8}" destId="{52134CCA-7196-481B-BDDF-1FB6B681F6E1}" srcOrd="0" destOrd="0" parTransId="{DEC163FD-7B4D-47AF-9CC9-69B9CCAC98C2}" sibTransId="{C9ADF9EE-05CD-42EC-9F48-AF8507E55989}"/>
    <dgm:cxn modelId="{50B0EDCF-1590-4D6F-BE4F-FF6F10B5924C}" type="presOf" srcId="{19260E99-2FC3-4CF3-99A9-AE17C7E9F7BD}" destId="{AEE3E28E-E4C2-489A-A429-B9C541392961}" srcOrd="0" destOrd="0" presId="urn:microsoft.com/office/officeart/2005/8/layout/vList2"/>
    <dgm:cxn modelId="{09EED0DF-F881-4FED-A8BF-0AE468B18D60}" type="presOf" srcId="{52134CCA-7196-481B-BDDF-1FB6B681F6E1}" destId="{9B98F03C-3590-4676-A613-E053B2C291C2}" srcOrd="0" destOrd="0" presId="urn:microsoft.com/office/officeart/2005/8/layout/vList2"/>
    <dgm:cxn modelId="{FFCDEC81-112D-46D5-B2D7-FB91BCE8A178}" type="presParOf" srcId="{045B26A5-8F77-4842-A28F-C1B6132F790B}" destId="{9B98F03C-3590-4676-A613-E053B2C291C2}" srcOrd="0" destOrd="0" presId="urn:microsoft.com/office/officeart/2005/8/layout/vList2"/>
    <dgm:cxn modelId="{43CE3BD9-A7E6-41D9-8B09-B5D31A056856}" type="presParOf" srcId="{045B26A5-8F77-4842-A28F-C1B6132F790B}" destId="{E2453305-8925-4876-8653-1AE60646DB40}" srcOrd="1" destOrd="0" presId="urn:microsoft.com/office/officeart/2005/8/layout/vList2"/>
    <dgm:cxn modelId="{76C548A5-4C35-4A9E-A65A-4D6B28A80383}" type="presParOf" srcId="{045B26A5-8F77-4842-A28F-C1B6132F790B}" destId="{E27BF7AB-30FA-4C9F-B03E-E0F322565A62}" srcOrd="2" destOrd="0" presId="urn:microsoft.com/office/officeart/2005/8/layout/vList2"/>
    <dgm:cxn modelId="{706C803C-7B8B-4B72-B8E5-F11BA2941454}" type="presParOf" srcId="{045B26A5-8F77-4842-A28F-C1B6132F790B}" destId="{B8B0D814-8BBB-4923-81AF-9199AA7E140C}" srcOrd="3" destOrd="0" presId="urn:microsoft.com/office/officeart/2005/8/layout/vList2"/>
    <dgm:cxn modelId="{1FE324D8-F5A4-44D7-A776-7DF3B6B2673A}" type="presParOf" srcId="{045B26A5-8F77-4842-A28F-C1B6132F790B}" destId="{AEE3E28E-E4C2-489A-A429-B9C541392961}"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5F19D9E-D3DF-42B2-AF72-E0DCCDD518AD}"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48E42D28-CB1C-45FD-AC59-AB00C4BEA089}">
      <dgm:prSet/>
      <dgm:spPr/>
      <dgm:t>
        <a:bodyPr/>
        <a:lstStyle/>
        <a:p>
          <a:r>
            <a:rPr lang="en-US" b="0" i="0" dirty="0"/>
            <a:t>In this phase, it’s time to create models of the requirements, which help stakeholders and customers visualize the potential system</a:t>
          </a:r>
          <a:endParaRPr lang="en-US" dirty="0"/>
        </a:p>
      </dgm:t>
    </dgm:pt>
    <dgm:pt modelId="{656582C8-7378-4676-B6CD-4431657DCB6E}" type="parTrans" cxnId="{380A0D9C-9909-481A-9E6F-3AFF4142FF81}">
      <dgm:prSet/>
      <dgm:spPr/>
      <dgm:t>
        <a:bodyPr/>
        <a:lstStyle/>
        <a:p>
          <a:endParaRPr lang="en-US"/>
        </a:p>
      </dgm:t>
    </dgm:pt>
    <dgm:pt modelId="{82D4D505-125E-48D5-98FF-55C36D27E7F6}" type="sibTrans" cxnId="{380A0D9C-9909-481A-9E6F-3AFF4142FF81}">
      <dgm:prSet/>
      <dgm:spPr/>
      <dgm:t>
        <a:bodyPr/>
        <a:lstStyle/>
        <a:p>
          <a:endParaRPr lang="en-US"/>
        </a:p>
      </dgm:t>
    </dgm:pt>
    <dgm:pt modelId="{248C707F-44F2-4992-A636-63111F175A68}">
      <dgm:prSet/>
      <dgm:spPr/>
      <dgm:t>
        <a:bodyPr/>
        <a:lstStyle/>
        <a:p>
          <a:r>
            <a:rPr lang="en-US"/>
            <a:t>Flowchart</a:t>
          </a:r>
        </a:p>
      </dgm:t>
    </dgm:pt>
    <dgm:pt modelId="{F5183B17-7CFE-4F60-A922-CEE4B0847150}" type="parTrans" cxnId="{A327552C-0E6C-4ED9-896E-FD6258CAAC73}">
      <dgm:prSet/>
      <dgm:spPr/>
      <dgm:t>
        <a:bodyPr/>
        <a:lstStyle/>
        <a:p>
          <a:endParaRPr lang="en-US"/>
        </a:p>
      </dgm:t>
    </dgm:pt>
    <dgm:pt modelId="{D32B3D6E-A388-408E-B376-064B66FE1D2C}" type="sibTrans" cxnId="{A327552C-0E6C-4ED9-896E-FD6258CAAC73}">
      <dgm:prSet/>
      <dgm:spPr/>
      <dgm:t>
        <a:bodyPr/>
        <a:lstStyle/>
        <a:p>
          <a:endParaRPr lang="en-US"/>
        </a:p>
      </dgm:t>
    </dgm:pt>
    <dgm:pt modelId="{628820D1-742A-4104-B98F-15C9D4E58359}">
      <dgm:prSet/>
      <dgm:spPr/>
      <dgm:t>
        <a:bodyPr/>
        <a:lstStyle/>
        <a:p>
          <a:r>
            <a:rPr lang="en-US"/>
            <a:t>Graphs</a:t>
          </a:r>
        </a:p>
      </dgm:t>
    </dgm:pt>
    <dgm:pt modelId="{9E6BB9B1-1FC2-4A9D-9B0D-C1F34BCB1BBC}" type="parTrans" cxnId="{EF890AA5-448C-46DC-9239-24CA0E0A6794}">
      <dgm:prSet/>
      <dgm:spPr/>
      <dgm:t>
        <a:bodyPr/>
        <a:lstStyle/>
        <a:p>
          <a:endParaRPr lang="en-US"/>
        </a:p>
      </dgm:t>
    </dgm:pt>
    <dgm:pt modelId="{F61545A5-0399-45D1-9ABE-9610B1D132BC}" type="sibTrans" cxnId="{EF890AA5-448C-46DC-9239-24CA0E0A6794}">
      <dgm:prSet/>
      <dgm:spPr/>
      <dgm:t>
        <a:bodyPr/>
        <a:lstStyle/>
        <a:p>
          <a:endParaRPr lang="en-US"/>
        </a:p>
      </dgm:t>
    </dgm:pt>
    <dgm:pt modelId="{8DBA7838-DC8C-40A5-99E6-02CB7E61E265}">
      <dgm:prSet/>
      <dgm:spPr/>
      <dgm:t>
        <a:bodyPr/>
        <a:lstStyle/>
        <a:p>
          <a:r>
            <a:rPr lang="en-US"/>
            <a:t>Model</a:t>
          </a:r>
        </a:p>
      </dgm:t>
    </dgm:pt>
    <dgm:pt modelId="{F54560D0-B847-4C67-9F7C-9672BC807822}" type="parTrans" cxnId="{83C842E3-3190-4E6F-8639-D0F392DC1433}">
      <dgm:prSet/>
      <dgm:spPr/>
      <dgm:t>
        <a:bodyPr/>
        <a:lstStyle/>
        <a:p>
          <a:endParaRPr lang="en-US"/>
        </a:p>
      </dgm:t>
    </dgm:pt>
    <dgm:pt modelId="{4ECB64D1-B374-4C75-915A-56E64EA2D6D0}" type="sibTrans" cxnId="{83C842E3-3190-4E6F-8639-D0F392DC1433}">
      <dgm:prSet/>
      <dgm:spPr/>
      <dgm:t>
        <a:bodyPr/>
        <a:lstStyle/>
        <a:p>
          <a:endParaRPr lang="en-US"/>
        </a:p>
      </dgm:t>
    </dgm:pt>
    <dgm:pt modelId="{196E4EEB-CE6E-4C69-98A9-97C96C3E05B0}" type="pres">
      <dgm:prSet presAssocID="{75F19D9E-D3DF-42B2-AF72-E0DCCDD518AD}" presName="linear" presStyleCnt="0">
        <dgm:presLayoutVars>
          <dgm:animLvl val="lvl"/>
          <dgm:resizeHandles val="exact"/>
        </dgm:presLayoutVars>
      </dgm:prSet>
      <dgm:spPr/>
    </dgm:pt>
    <dgm:pt modelId="{50C38332-F4DA-4381-86A8-1DD98B64536C}" type="pres">
      <dgm:prSet presAssocID="{48E42D28-CB1C-45FD-AC59-AB00C4BEA089}" presName="parentText" presStyleLbl="node1" presStyleIdx="0" presStyleCnt="4">
        <dgm:presLayoutVars>
          <dgm:chMax val="0"/>
          <dgm:bulletEnabled val="1"/>
        </dgm:presLayoutVars>
      </dgm:prSet>
      <dgm:spPr/>
    </dgm:pt>
    <dgm:pt modelId="{3943DB76-B035-4E08-9290-D13B8B419DCF}" type="pres">
      <dgm:prSet presAssocID="{82D4D505-125E-48D5-98FF-55C36D27E7F6}" presName="spacer" presStyleCnt="0"/>
      <dgm:spPr/>
    </dgm:pt>
    <dgm:pt modelId="{DB0EFCF8-44BF-4195-8058-3A683FC5CFAF}" type="pres">
      <dgm:prSet presAssocID="{248C707F-44F2-4992-A636-63111F175A68}" presName="parentText" presStyleLbl="node1" presStyleIdx="1" presStyleCnt="4">
        <dgm:presLayoutVars>
          <dgm:chMax val="0"/>
          <dgm:bulletEnabled val="1"/>
        </dgm:presLayoutVars>
      </dgm:prSet>
      <dgm:spPr/>
    </dgm:pt>
    <dgm:pt modelId="{656A9C7C-B836-4E16-A556-32584A63E4D6}" type="pres">
      <dgm:prSet presAssocID="{D32B3D6E-A388-408E-B376-064B66FE1D2C}" presName="spacer" presStyleCnt="0"/>
      <dgm:spPr/>
    </dgm:pt>
    <dgm:pt modelId="{50A03DDC-3189-44DE-9B90-30B75401CABB}" type="pres">
      <dgm:prSet presAssocID="{628820D1-742A-4104-B98F-15C9D4E58359}" presName="parentText" presStyleLbl="node1" presStyleIdx="2" presStyleCnt="4" custLinFactY="987" custLinFactNeighborY="100000">
        <dgm:presLayoutVars>
          <dgm:chMax val="0"/>
          <dgm:bulletEnabled val="1"/>
        </dgm:presLayoutVars>
      </dgm:prSet>
      <dgm:spPr/>
    </dgm:pt>
    <dgm:pt modelId="{C152EECA-AD95-4380-9DB5-21176BBE91A5}" type="pres">
      <dgm:prSet presAssocID="{F61545A5-0399-45D1-9ABE-9610B1D132BC}" presName="spacer" presStyleCnt="0"/>
      <dgm:spPr/>
    </dgm:pt>
    <dgm:pt modelId="{62C7DCD8-2369-4589-A33F-AE52F9EDF3B7}" type="pres">
      <dgm:prSet presAssocID="{8DBA7838-DC8C-40A5-99E6-02CB7E61E265}" presName="parentText" presStyleLbl="node1" presStyleIdx="3" presStyleCnt="4">
        <dgm:presLayoutVars>
          <dgm:chMax val="0"/>
          <dgm:bulletEnabled val="1"/>
        </dgm:presLayoutVars>
      </dgm:prSet>
      <dgm:spPr/>
    </dgm:pt>
  </dgm:ptLst>
  <dgm:cxnLst>
    <dgm:cxn modelId="{A327552C-0E6C-4ED9-896E-FD6258CAAC73}" srcId="{75F19D9E-D3DF-42B2-AF72-E0DCCDD518AD}" destId="{248C707F-44F2-4992-A636-63111F175A68}" srcOrd="1" destOrd="0" parTransId="{F5183B17-7CFE-4F60-A922-CEE4B0847150}" sibTransId="{D32B3D6E-A388-408E-B376-064B66FE1D2C}"/>
    <dgm:cxn modelId="{B78D9B38-1E6A-4450-BDBC-D73738153212}" type="presOf" srcId="{75F19D9E-D3DF-42B2-AF72-E0DCCDD518AD}" destId="{196E4EEB-CE6E-4C69-98A9-97C96C3E05B0}" srcOrd="0" destOrd="0" presId="urn:microsoft.com/office/officeart/2005/8/layout/vList2"/>
    <dgm:cxn modelId="{380A0D9C-9909-481A-9E6F-3AFF4142FF81}" srcId="{75F19D9E-D3DF-42B2-AF72-E0DCCDD518AD}" destId="{48E42D28-CB1C-45FD-AC59-AB00C4BEA089}" srcOrd="0" destOrd="0" parTransId="{656582C8-7378-4676-B6CD-4431657DCB6E}" sibTransId="{82D4D505-125E-48D5-98FF-55C36D27E7F6}"/>
    <dgm:cxn modelId="{EF890AA5-448C-46DC-9239-24CA0E0A6794}" srcId="{75F19D9E-D3DF-42B2-AF72-E0DCCDD518AD}" destId="{628820D1-742A-4104-B98F-15C9D4E58359}" srcOrd="2" destOrd="0" parTransId="{9E6BB9B1-1FC2-4A9D-9B0D-C1F34BCB1BBC}" sibTransId="{F61545A5-0399-45D1-9ABE-9610B1D132BC}"/>
    <dgm:cxn modelId="{1CA3A2B4-D93B-4C0F-8C3D-4E5C93F82C72}" type="presOf" srcId="{48E42D28-CB1C-45FD-AC59-AB00C4BEA089}" destId="{50C38332-F4DA-4381-86A8-1DD98B64536C}" srcOrd="0" destOrd="0" presId="urn:microsoft.com/office/officeart/2005/8/layout/vList2"/>
    <dgm:cxn modelId="{9A3D76D0-60D4-448D-A417-6F289B26B60E}" type="presOf" srcId="{248C707F-44F2-4992-A636-63111F175A68}" destId="{DB0EFCF8-44BF-4195-8058-3A683FC5CFAF}" srcOrd="0" destOrd="0" presId="urn:microsoft.com/office/officeart/2005/8/layout/vList2"/>
    <dgm:cxn modelId="{83C842E3-3190-4E6F-8639-D0F392DC1433}" srcId="{75F19D9E-D3DF-42B2-AF72-E0DCCDD518AD}" destId="{8DBA7838-DC8C-40A5-99E6-02CB7E61E265}" srcOrd="3" destOrd="0" parTransId="{F54560D0-B847-4C67-9F7C-9672BC807822}" sibTransId="{4ECB64D1-B374-4C75-915A-56E64EA2D6D0}"/>
    <dgm:cxn modelId="{47F142F6-CE38-4CD1-87E1-683CFBC2350A}" type="presOf" srcId="{8DBA7838-DC8C-40A5-99E6-02CB7E61E265}" destId="{62C7DCD8-2369-4589-A33F-AE52F9EDF3B7}" srcOrd="0" destOrd="0" presId="urn:microsoft.com/office/officeart/2005/8/layout/vList2"/>
    <dgm:cxn modelId="{30231DF7-0AC1-4CD9-ABA3-D83BF7C353C3}" type="presOf" srcId="{628820D1-742A-4104-B98F-15C9D4E58359}" destId="{50A03DDC-3189-44DE-9B90-30B75401CABB}" srcOrd="0" destOrd="0" presId="urn:microsoft.com/office/officeart/2005/8/layout/vList2"/>
    <dgm:cxn modelId="{CF43A095-B66A-4EB9-B3AC-E16B8712A9D1}" type="presParOf" srcId="{196E4EEB-CE6E-4C69-98A9-97C96C3E05B0}" destId="{50C38332-F4DA-4381-86A8-1DD98B64536C}" srcOrd="0" destOrd="0" presId="urn:microsoft.com/office/officeart/2005/8/layout/vList2"/>
    <dgm:cxn modelId="{B41899D2-A894-4BF0-B273-6B85A79E0C77}" type="presParOf" srcId="{196E4EEB-CE6E-4C69-98A9-97C96C3E05B0}" destId="{3943DB76-B035-4E08-9290-D13B8B419DCF}" srcOrd="1" destOrd="0" presId="urn:microsoft.com/office/officeart/2005/8/layout/vList2"/>
    <dgm:cxn modelId="{25175303-D32F-4940-AB08-0697352DEB25}" type="presParOf" srcId="{196E4EEB-CE6E-4C69-98A9-97C96C3E05B0}" destId="{DB0EFCF8-44BF-4195-8058-3A683FC5CFAF}" srcOrd="2" destOrd="0" presId="urn:microsoft.com/office/officeart/2005/8/layout/vList2"/>
    <dgm:cxn modelId="{438B50A2-8C10-43C8-A06C-61E7ED4CFCEB}" type="presParOf" srcId="{196E4EEB-CE6E-4C69-98A9-97C96C3E05B0}" destId="{656A9C7C-B836-4E16-A556-32584A63E4D6}" srcOrd="3" destOrd="0" presId="urn:microsoft.com/office/officeart/2005/8/layout/vList2"/>
    <dgm:cxn modelId="{C618261C-17E7-4ED7-B8B5-944D37D9DDDC}" type="presParOf" srcId="{196E4EEB-CE6E-4C69-98A9-97C96C3E05B0}" destId="{50A03DDC-3189-44DE-9B90-30B75401CABB}" srcOrd="4" destOrd="0" presId="urn:microsoft.com/office/officeart/2005/8/layout/vList2"/>
    <dgm:cxn modelId="{A82CC11D-8C60-4E7F-977B-9CAD5981B4C7}" type="presParOf" srcId="{196E4EEB-CE6E-4C69-98A9-97C96C3E05B0}" destId="{C152EECA-AD95-4380-9DB5-21176BBE91A5}" srcOrd="5" destOrd="0" presId="urn:microsoft.com/office/officeart/2005/8/layout/vList2"/>
    <dgm:cxn modelId="{C895A14A-F9D3-4FB4-9FB8-CE6832CC4915}" type="presParOf" srcId="{196E4EEB-CE6E-4C69-98A9-97C96C3E05B0}" destId="{62C7DCD8-2369-4589-A33F-AE52F9EDF3B7}"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98F03C-3590-4676-A613-E053B2C291C2}">
      <dsp:nvSpPr>
        <dsp:cNvPr id="0" name=""/>
        <dsp:cNvSpPr/>
      </dsp:nvSpPr>
      <dsp:spPr>
        <a:xfrm>
          <a:off x="0" y="297638"/>
          <a:ext cx="5387501" cy="120978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i="0" kern="1200"/>
            <a:t>Visualization:</a:t>
          </a:r>
          <a:r>
            <a:rPr lang="en-US" sz="2200" b="0" i="0" kern="1200"/>
            <a:t> Use tools such as visualization and simulation that allow stakeholders to better understand the desired end product.</a:t>
          </a:r>
          <a:endParaRPr lang="en-US" sz="2200" kern="1200"/>
        </a:p>
      </dsp:txBody>
      <dsp:txXfrm>
        <a:off x="59057" y="356695"/>
        <a:ext cx="5269387" cy="1091666"/>
      </dsp:txXfrm>
    </dsp:sp>
    <dsp:sp modelId="{E27BF7AB-30FA-4C9F-B03E-E0F322565A62}">
      <dsp:nvSpPr>
        <dsp:cNvPr id="0" name=""/>
        <dsp:cNvSpPr/>
      </dsp:nvSpPr>
      <dsp:spPr>
        <a:xfrm>
          <a:off x="0" y="1570778"/>
          <a:ext cx="5387501" cy="1209780"/>
        </a:xfrm>
        <a:prstGeom prst="roundRect">
          <a:avLst/>
        </a:prstGeom>
        <a:gradFill rotWithShape="0">
          <a:gsLst>
            <a:gs pos="0">
              <a:schemeClr val="accent2">
                <a:hueOff val="-727682"/>
                <a:satOff val="-41964"/>
                <a:lumOff val="4314"/>
                <a:alphaOff val="0"/>
                <a:satMod val="103000"/>
                <a:lumMod val="102000"/>
                <a:tint val="94000"/>
              </a:schemeClr>
            </a:gs>
            <a:gs pos="50000">
              <a:schemeClr val="accent2">
                <a:hueOff val="-727682"/>
                <a:satOff val="-41964"/>
                <a:lumOff val="4314"/>
                <a:alphaOff val="0"/>
                <a:satMod val="110000"/>
                <a:lumMod val="100000"/>
                <a:shade val="100000"/>
              </a:schemeClr>
            </a:gs>
            <a:gs pos="100000">
              <a:schemeClr val="accent2">
                <a:hueOff val="-727682"/>
                <a:satOff val="-41964"/>
                <a:lumOff val="431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i="0" kern="1200"/>
            <a:t>Document dependencies:</a:t>
          </a:r>
          <a:r>
            <a:rPr lang="en-US" sz="2200" b="0" i="0" kern="1200"/>
            <a:t> Document relationships and dependencies among requirements and any assumptions.</a:t>
          </a:r>
          <a:endParaRPr lang="en-US" sz="2200" kern="1200"/>
        </a:p>
      </dsp:txBody>
      <dsp:txXfrm>
        <a:off x="59057" y="1629835"/>
        <a:ext cx="5269387" cy="1091666"/>
      </dsp:txXfrm>
    </dsp:sp>
    <dsp:sp modelId="{AEE3E28E-E4C2-489A-A429-B9C541392961}">
      <dsp:nvSpPr>
        <dsp:cNvPr id="0" name=""/>
        <dsp:cNvSpPr/>
      </dsp:nvSpPr>
      <dsp:spPr>
        <a:xfrm>
          <a:off x="0" y="2843919"/>
          <a:ext cx="5387501" cy="1209780"/>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i="0" kern="1200"/>
            <a:t>Consistent use of templates:</a:t>
          </a:r>
          <a:r>
            <a:rPr lang="en-US" sz="2200" b="0" i="0" kern="1200"/>
            <a:t> Produce consistent templates and models to document the requirements.</a:t>
          </a:r>
          <a:endParaRPr lang="en-US" sz="2200" kern="1200"/>
        </a:p>
      </dsp:txBody>
      <dsp:txXfrm>
        <a:off x="59057" y="2902976"/>
        <a:ext cx="5269387" cy="109166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C38332-F4DA-4381-86A8-1DD98B64536C}">
      <dsp:nvSpPr>
        <dsp:cNvPr id="0" name=""/>
        <dsp:cNvSpPr/>
      </dsp:nvSpPr>
      <dsp:spPr>
        <a:xfrm>
          <a:off x="0" y="140166"/>
          <a:ext cx="5570706" cy="120978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i="0" kern="1200" dirty="0"/>
            <a:t>In this phase, it’s time to create models of the requirements, which help stakeholders and customers visualize the potential system</a:t>
          </a:r>
          <a:endParaRPr lang="en-US" sz="2200" kern="1200" dirty="0"/>
        </a:p>
      </dsp:txBody>
      <dsp:txXfrm>
        <a:off x="59057" y="199223"/>
        <a:ext cx="5452592" cy="1091666"/>
      </dsp:txXfrm>
    </dsp:sp>
    <dsp:sp modelId="{DB0EFCF8-44BF-4195-8058-3A683FC5CFAF}">
      <dsp:nvSpPr>
        <dsp:cNvPr id="0" name=""/>
        <dsp:cNvSpPr/>
      </dsp:nvSpPr>
      <dsp:spPr>
        <a:xfrm>
          <a:off x="0" y="1413306"/>
          <a:ext cx="5570706" cy="1209780"/>
        </a:xfrm>
        <a:prstGeom prst="roundRect">
          <a:avLst/>
        </a:prstGeom>
        <a:solidFill>
          <a:schemeClr val="accent5">
            <a:hueOff val="-2451115"/>
            <a:satOff val="-3409"/>
            <a:lumOff val="-130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Flowchart</a:t>
          </a:r>
        </a:p>
      </dsp:txBody>
      <dsp:txXfrm>
        <a:off x="59057" y="1472363"/>
        <a:ext cx="5452592" cy="1091666"/>
      </dsp:txXfrm>
    </dsp:sp>
    <dsp:sp modelId="{50A03DDC-3189-44DE-9B90-30B75401CABB}">
      <dsp:nvSpPr>
        <dsp:cNvPr id="0" name=""/>
        <dsp:cNvSpPr/>
      </dsp:nvSpPr>
      <dsp:spPr>
        <a:xfrm>
          <a:off x="0" y="2761747"/>
          <a:ext cx="5570706" cy="1209780"/>
        </a:xfrm>
        <a:prstGeom prst="roundRect">
          <a:avLst/>
        </a:prstGeom>
        <a:solidFill>
          <a:schemeClr val="accent5">
            <a:hueOff val="-4902230"/>
            <a:satOff val="-6819"/>
            <a:lumOff val="-261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Graphs</a:t>
          </a:r>
        </a:p>
      </dsp:txBody>
      <dsp:txXfrm>
        <a:off x="59057" y="2820804"/>
        <a:ext cx="5452592" cy="1091666"/>
      </dsp:txXfrm>
    </dsp:sp>
    <dsp:sp modelId="{62C7DCD8-2369-4589-A33F-AE52F9EDF3B7}">
      <dsp:nvSpPr>
        <dsp:cNvPr id="0" name=""/>
        <dsp:cNvSpPr/>
      </dsp:nvSpPr>
      <dsp:spPr>
        <a:xfrm>
          <a:off x="0" y="3959587"/>
          <a:ext cx="5570706" cy="1209780"/>
        </a:xfrm>
        <a:prstGeom prst="roundRect">
          <a:avLst/>
        </a:prstGeom>
        <a:solidFill>
          <a:schemeClr val="accent5">
            <a:hueOff val="-7353344"/>
            <a:satOff val="-10228"/>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Model</a:t>
          </a:r>
        </a:p>
      </dsp:txBody>
      <dsp:txXfrm>
        <a:off x="59057" y="4018644"/>
        <a:ext cx="5452592" cy="109166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AE1FEF-C67C-4ABD-AE3B-56EF4FF41253}" type="datetimeFigureOut">
              <a:rPr lang="en-US" smtClean="0"/>
              <a:t>9/27/2023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FF002A-4E29-47AB-8558-F55104DB680F}" type="slidenum">
              <a:rPr lang="en-US" smtClean="0"/>
              <a:t>‹#›</a:t>
            </a:fld>
            <a:endParaRPr lang="en-US"/>
          </a:p>
        </p:txBody>
      </p:sp>
    </p:spTree>
    <p:extLst>
      <p:ext uri="{BB962C8B-B14F-4D97-AF65-F5344CB8AC3E}">
        <p14:creationId xmlns:p14="http://schemas.microsoft.com/office/powerpoint/2010/main" val="35662388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1" i="0" dirty="0">
                <a:solidFill>
                  <a:srgbClr val="374151"/>
                </a:solidFill>
                <a:effectLst/>
                <a:latin typeface="Söhne"/>
              </a:rPr>
              <a:t>System-Level Software Allocation:</a:t>
            </a:r>
            <a:r>
              <a:rPr lang="en-US" b="0" i="0" dirty="0">
                <a:solidFill>
                  <a:srgbClr val="374151"/>
                </a:solidFill>
                <a:effectLst/>
                <a:latin typeface="Söhne"/>
              </a:rPr>
              <a:t> This phase involves understanding the high-level requirements of a software system and allocating various software components or modules to different parts of the system. It defines what each part of the system should do in a broad sense.</a:t>
            </a:r>
          </a:p>
          <a:p>
            <a:pPr algn="l">
              <a:buFont typeface="+mj-lt"/>
              <a:buAutoNum type="arabicPeriod"/>
            </a:pPr>
            <a:r>
              <a:rPr lang="en-US" b="1" i="0" dirty="0">
                <a:solidFill>
                  <a:srgbClr val="374151"/>
                </a:solidFill>
                <a:effectLst/>
                <a:latin typeface="Söhne"/>
              </a:rPr>
              <a:t>Software Design:</a:t>
            </a:r>
            <a:r>
              <a:rPr lang="en-US" b="0" i="0" dirty="0">
                <a:solidFill>
                  <a:srgbClr val="374151"/>
                </a:solidFill>
                <a:effectLst/>
                <a:latin typeface="Söhne"/>
              </a:rPr>
              <a:t> Once the software allocation is complete, the next step is to dive into the details of each allocated software component or module. This involves designing the internal structure of each component, specifying how it will interact with other components, and defining its functionality in detail.</a:t>
            </a:r>
          </a:p>
          <a:p>
            <a:endParaRPr lang="en-US" dirty="0"/>
          </a:p>
        </p:txBody>
      </p:sp>
      <p:sp>
        <p:nvSpPr>
          <p:cNvPr id="4" name="Slide Number Placeholder 3"/>
          <p:cNvSpPr>
            <a:spLocks noGrp="1"/>
          </p:cNvSpPr>
          <p:nvPr>
            <p:ph type="sldNum" sz="quarter" idx="5"/>
          </p:nvPr>
        </p:nvSpPr>
        <p:spPr/>
        <p:txBody>
          <a:bodyPr/>
          <a:lstStyle/>
          <a:p>
            <a:fld id="{E0FF002A-4E29-47AB-8558-F55104DB680F}" type="slidenum">
              <a:rPr lang="en-US" smtClean="0"/>
              <a:t>3</a:t>
            </a:fld>
            <a:endParaRPr lang="en-US"/>
          </a:p>
        </p:txBody>
      </p:sp>
    </p:spTree>
    <p:extLst>
      <p:ext uri="{BB962C8B-B14F-4D97-AF65-F5344CB8AC3E}">
        <p14:creationId xmlns:p14="http://schemas.microsoft.com/office/powerpoint/2010/main" val="38898663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33333"/>
                </a:solidFill>
                <a:effectLst/>
                <a:latin typeface="inter-regular"/>
              </a:rPr>
              <a:t>The data dictionary holds records about other objects in the database, such as data ownership, data relationships to other objects, and other data.</a:t>
            </a:r>
          </a:p>
          <a:p>
            <a:pPr algn="just">
              <a:buFont typeface="Arial" panose="020B0604020202020204" pitchFamily="34" charset="0"/>
              <a:buChar char="•"/>
            </a:pPr>
            <a:r>
              <a:rPr lang="en-US" b="0" i="0" dirty="0">
                <a:solidFill>
                  <a:srgbClr val="000000"/>
                </a:solidFill>
                <a:effectLst/>
                <a:latin typeface="inter-regular"/>
              </a:rPr>
              <a:t>Name of the data item</a:t>
            </a:r>
          </a:p>
          <a:p>
            <a:pPr algn="just">
              <a:buFont typeface="Arial" panose="020B0604020202020204" pitchFamily="34" charset="0"/>
              <a:buChar char="•"/>
            </a:pPr>
            <a:r>
              <a:rPr lang="en-US" b="0" i="0" dirty="0">
                <a:solidFill>
                  <a:srgbClr val="000000"/>
                </a:solidFill>
                <a:effectLst/>
                <a:latin typeface="inter-regular"/>
              </a:rPr>
              <a:t>Aliases</a:t>
            </a:r>
          </a:p>
          <a:p>
            <a:pPr algn="just">
              <a:buFont typeface="Arial" panose="020B0604020202020204" pitchFamily="34" charset="0"/>
              <a:buChar char="•"/>
            </a:pPr>
            <a:r>
              <a:rPr lang="en-US" b="0" i="0" dirty="0">
                <a:solidFill>
                  <a:srgbClr val="000000"/>
                </a:solidFill>
                <a:effectLst/>
                <a:latin typeface="inter-regular"/>
              </a:rPr>
              <a:t>Description/purpose</a:t>
            </a:r>
          </a:p>
          <a:p>
            <a:pPr algn="just">
              <a:buFont typeface="Arial" panose="020B0604020202020204" pitchFamily="34" charset="0"/>
              <a:buChar char="•"/>
            </a:pPr>
            <a:r>
              <a:rPr lang="en-US" b="0" i="0" dirty="0">
                <a:solidFill>
                  <a:srgbClr val="000000"/>
                </a:solidFill>
                <a:effectLst/>
                <a:latin typeface="inter-regular"/>
              </a:rPr>
              <a:t>Related data items</a:t>
            </a:r>
          </a:p>
          <a:p>
            <a:pPr algn="just">
              <a:buFont typeface="Arial" panose="020B0604020202020204" pitchFamily="34" charset="0"/>
              <a:buChar char="•"/>
            </a:pPr>
            <a:r>
              <a:rPr lang="en-US" b="0" i="0" dirty="0">
                <a:solidFill>
                  <a:srgbClr val="000000"/>
                </a:solidFill>
                <a:effectLst/>
                <a:latin typeface="inter-regular"/>
              </a:rPr>
              <a:t>Range of values</a:t>
            </a:r>
          </a:p>
          <a:p>
            <a:pPr algn="just">
              <a:buFont typeface="Arial" panose="020B0604020202020204" pitchFamily="34" charset="0"/>
              <a:buChar char="•"/>
            </a:pPr>
            <a:r>
              <a:rPr lang="en-US" b="0" i="0" dirty="0">
                <a:solidFill>
                  <a:srgbClr val="000000"/>
                </a:solidFill>
                <a:effectLst/>
                <a:latin typeface="inter-regular"/>
              </a:rPr>
              <a:t>Data structure definition/Forms</a:t>
            </a:r>
          </a:p>
          <a:p>
            <a:endParaRPr lang="en-US" dirty="0"/>
          </a:p>
        </p:txBody>
      </p:sp>
      <p:sp>
        <p:nvSpPr>
          <p:cNvPr id="4" name="Slide Number Placeholder 3"/>
          <p:cNvSpPr>
            <a:spLocks noGrp="1"/>
          </p:cNvSpPr>
          <p:nvPr>
            <p:ph type="sldNum" sz="quarter" idx="5"/>
          </p:nvPr>
        </p:nvSpPr>
        <p:spPr/>
        <p:txBody>
          <a:bodyPr/>
          <a:lstStyle/>
          <a:p>
            <a:fld id="{E0FF002A-4E29-47AB-8558-F55104DB680F}" type="slidenum">
              <a:rPr lang="en-US" smtClean="0"/>
              <a:t>16</a:t>
            </a:fld>
            <a:endParaRPr lang="en-US"/>
          </a:p>
        </p:txBody>
      </p:sp>
    </p:spTree>
    <p:extLst>
      <p:ext uri="{BB962C8B-B14F-4D97-AF65-F5344CB8AC3E}">
        <p14:creationId xmlns:p14="http://schemas.microsoft.com/office/powerpoint/2010/main" val="396846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F497378-E48C-4627-B90F-3F2B9B0A9ED5}" type="slidenum">
              <a:rPr lang="en-US" smtClean="0"/>
              <a:pPr/>
              <a:t>19</a:t>
            </a:fld>
            <a:endParaRPr lang="en-US"/>
          </a:p>
        </p:txBody>
      </p:sp>
    </p:spTree>
    <p:extLst>
      <p:ext uri="{BB962C8B-B14F-4D97-AF65-F5344CB8AC3E}">
        <p14:creationId xmlns:p14="http://schemas.microsoft.com/office/powerpoint/2010/main" val="12539598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F497378-E48C-4627-B90F-3F2B9B0A9ED5}" type="slidenum">
              <a:rPr lang="en-US" smtClean="0"/>
              <a:pPr/>
              <a:t>20</a:t>
            </a:fld>
            <a:endParaRPr lang="en-US"/>
          </a:p>
        </p:txBody>
      </p:sp>
    </p:spTree>
    <p:extLst>
      <p:ext uri="{BB962C8B-B14F-4D97-AF65-F5344CB8AC3E}">
        <p14:creationId xmlns:p14="http://schemas.microsoft.com/office/powerpoint/2010/main" val="18084682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F497378-E48C-4627-B90F-3F2B9B0A9ED5}" type="slidenum">
              <a:rPr lang="en-US" smtClean="0"/>
              <a:pPr/>
              <a:t>21</a:t>
            </a:fld>
            <a:endParaRPr lang="en-US"/>
          </a:p>
        </p:txBody>
      </p:sp>
    </p:spTree>
    <p:extLst>
      <p:ext uri="{BB962C8B-B14F-4D97-AF65-F5344CB8AC3E}">
        <p14:creationId xmlns:p14="http://schemas.microsoft.com/office/powerpoint/2010/main" val="14148556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F497378-E48C-4627-B90F-3F2B9B0A9ED5}" type="slidenum">
              <a:rPr lang="en-US" smtClean="0"/>
              <a:pPr/>
              <a:t>22</a:t>
            </a:fld>
            <a:endParaRPr lang="en-US"/>
          </a:p>
        </p:txBody>
      </p:sp>
    </p:spTree>
    <p:extLst>
      <p:ext uri="{BB962C8B-B14F-4D97-AF65-F5344CB8AC3E}">
        <p14:creationId xmlns:p14="http://schemas.microsoft.com/office/powerpoint/2010/main" val="14168213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F497378-E48C-4627-B90F-3F2B9B0A9ED5}" type="slidenum">
              <a:rPr lang="en-US" smtClean="0"/>
              <a:pPr/>
              <a:t>23</a:t>
            </a:fld>
            <a:endParaRPr lang="en-US"/>
          </a:p>
        </p:txBody>
      </p:sp>
    </p:spTree>
    <p:extLst>
      <p:ext uri="{BB962C8B-B14F-4D97-AF65-F5344CB8AC3E}">
        <p14:creationId xmlns:p14="http://schemas.microsoft.com/office/powerpoint/2010/main" val="42604365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F497378-E48C-4627-B90F-3F2B9B0A9ED5}" type="slidenum">
              <a:rPr lang="en-US" smtClean="0"/>
              <a:pPr/>
              <a:t>24</a:t>
            </a:fld>
            <a:endParaRPr lang="en-US"/>
          </a:p>
        </p:txBody>
      </p:sp>
    </p:spTree>
    <p:extLst>
      <p:ext uri="{BB962C8B-B14F-4D97-AF65-F5344CB8AC3E}">
        <p14:creationId xmlns:p14="http://schemas.microsoft.com/office/powerpoint/2010/main" val="21750803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F497378-E48C-4627-B90F-3F2B9B0A9ED5}" type="slidenum">
              <a:rPr lang="en-US" smtClean="0"/>
              <a:pPr/>
              <a:t>25</a:t>
            </a:fld>
            <a:endParaRPr lang="en-US"/>
          </a:p>
        </p:txBody>
      </p:sp>
    </p:spTree>
    <p:extLst>
      <p:ext uri="{BB962C8B-B14F-4D97-AF65-F5344CB8AC3E}">
        <p14:creationId xmlns:p14="http://schemas.microsoft.com/office/powerpoint/2010/main" val="34352561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F497378-E48C-4627-B90F-3F2B9B0A9ED5}" type="slidenum">
              <a:rPr lang="en-US" smtClean="0"/>
              <a:pPr/>
              <a:t>26</a:t>
            </a:fld>
            <a:endParaRPr lang="en-US"/>
          </a:p>
        </p:txBody>
      </p:sp>
    </p:spTree>
    <p:extLst>
      <p:ext uri="{BB962C8B-B14F-4D97-AF65-F5344CB8AC3E}">
        <p14:creationId xmlns:p14="http://schemas.microsoft.com/office/powerpoint/2010/main" val="6196036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F497378-E48C-4627-B90F-3F2B9B0A9ED5}" type="slidenum">
              <a:rPr lang="en-US" smtClean="0"/>
              <a:pPr/>
              <a:t>27</a:t>
            </a:fld>
            <a:endParaRPr lang="en-US"/>
          </a:p>
        </p:txBody>
      </p:sp>
    </p:spTree>
    <p:extLst>
      <p:ext uri="{BB962C8B-B14F-4D97-AF65-F5344CB8AC3E}">
        <p14:creationId xmlns:p14="http://schemas.microsoft.com/office/powerpoint/2010/main" val="24645713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F497378-E48C-4627-B90F-3F2B9B0A9ED5}" type="slidenum">
              <a:rPr lang="en-US" smtClean="0"/>
              <a:pPr/>
              <a:t>28</a:t>
            </a:fld>
            <a:endParaRPr lang="en-US"/>
          </a:p>
        </p:txBody>
      </p:sp>
    </p:spTree>
    <p:extLst>
      <p:ext uri="{BB962C8B-B14F-4D97-AF65-F5344CB8AC3E}">
        <p14:creationId xmlns:p14="http://schemas.microsoft.com/office/powerpoint/2010/main" val="19799525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F497378-E48C-4627-B90F-3F2B9B0A9ED5}" type="slidenum">
              <a:rPr lang="en-US" smtClean="0"/>
              <a:pPr/>
              <a:t>29</a:t>
            </a:fld>
            <a:endParaRPr lang="en-US"/>
          </a:p>
        </p:txBody>
      </p:sp>
    </p:spTree>
    <p:extLst>
      <p:ext uri="{BB962C8B-B14F-4D97-AF65-F5344CB8AC3E}">
        <p14:creationId xmlns:p14="http://schemas.microsoft.com/office/powerpoint/2010/main" val="22537607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9/27/2023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4859" y="6029325"/>
            <a:ext cx="986682" cy="692150"/>
          </a:xfrm>
          <a:prstGeom prst="rect">
            <a:avLst/>
          </a:prstGeom>
        </p:spPr>
      </p:pic>
    </p:spTree>
    <p:extLst>
      <p:ext uri="{BB962C8B-B14F-4D97-AF65-F5344CB8AC3E}">
        <p14:creationId xmlns:p14="http://schemas.microsoft.com/office/powerpoint/2010/main" val="2049536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9/27/2023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29526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280559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B712588-04B1-427B-82EE-E8DB90309F08}" type="datetimeFigureOut">
              <a:rPr lang="en-US" smtClean="0"/>
              <a:t>9/27/2023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41917340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pPr/>
              <a:t>9/27/2023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20298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smtClean="0"/>
              <a:pPr/>
              <a:t>9/27/2023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505416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9/27/2023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29704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9/27/2023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335027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9/27/2023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012171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C6B4A9-1611-4792-9094-5F34BCA07E0B}" type="datetimeFigureOut">
              <a:rPr lang="en-US" smtClean="0"/>
              <a:t>9/27/2023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6991095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9/27/2023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10379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9/27/2023</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pic>
        <p:nvPicPr>
          <p:cNvPr id="7" name="Picture 6"/>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344859" y="6029325"/>
            <a:ext cx="986682" cy="692150"/>
          </a:xfrm>
          <a:prstGeom prst="rect">
            <a:avLst/>
          </a:prstGeom>
        </p:spPr>
      </p:pic>
    </p:spTree>
    <p:extLst>
      <p:ext uri="{BB962C8B-B14F-4D97-AF65-F5344CB8AC3E}">
        <p14:creationId xmlns:p14="http://schemas.microsoft.com/office/powerpoint/2010/main" val="2024685070"/>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indeed.com/q-software-engineering-jobs.html?from=careerguide-autohyperlink-en-US"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Software Engineering</a:t>
            </a:r>
          </a:p>
        </p:txBody>
      </p:sp>
      <p:sp>
        <p:nvSpPr>
          <p:cNvPr id="3" name="Subtitle 2"/>
          <p:cNvSpPr>
            <a:spLocks noGrp="1"/>
          </p:cNvSpPr>
          <p:nvPr>
            <p:ph type="subTitle" idx="1"/>
          </p:nvPr>
        </p:nvSpPr>
        <p:spPr/>
        <p:txBody>
          <a:bodyPr/>
          <a:lstStyle/>
          <a:p>
            <a:r>
              <a:rPr lang="en-US" dirty="0"/>
              <a:t>Requirements Analysis</a:t>
            </a:r>
          </a:p>
        </p:txBody>
      </p:sp>
    </p:spTree>
    <p:extLst>
      <p:ext uri="{BB962C8B-B14F-4D97-AF65-F5344CB8AC3E}">
        <p14:creationId xmlns:p14="http://schemas.microsoft.com/office/powerpoint/2010/main" val="593769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977F8-B1DA-5DE9-5316-20A168208E6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4164180-82E7-4612-748F-2C03E663E297}"/>
              </a:ext>
            </a:extLst>
          </p:cNvPr>
          <p:cNvSpPr>
            <a:spLocks noGrp="1"/>
          </p:cNvSpPr>
          <p:nvPr>
            <p:ph idx="1"/>
          </p:nvPr>
        </p:nvSpPr>
        <p:spPr/>
        <p:txBody>
          <a:bodyPr/>
          <a:lstStyle/>
          <a:p>
            <a:pPr marL="0" indent="0">
              <a:buNone/>
            </a:pPr>
            <a:r>
              <a:rPr lang="en-US" b="0" i="0" dirty="0">
                <a:effectLst/>
                <a:latin typeface="Nunito" pitchFamily="2" charset="0"/>
              </a:rPr>
              <a:t>Software requirement</a:t>
            </a:r>
            <a:r>
              <a:rPr lang="en-US" b="0" i="0" dirty="0">
                <a:solidFill>
                  <a:srgbClr val="273239"/>
                </a:solidFill>
                <a:effectLst/>
                <a:latin typeface="Nunito" pitchFamily="2" charset="0"/>
              </a:rPr>
              <a:t> means a requirement that is needed by software to increase the quality of </a:t>
            </a:r>
            <a:r>
              <a:rPr lang="en-US" b="0" i="0" dirty="0">
                <a:effectLst/>
                <a:latin typeface="Nunito" pitchFamily="2" charset="0"/>
              </a:rPr>
              <a:t>software product</a:t>
            </a:r>
            <a:r>
              <a:rPr lang="en-US" b="0" i="0" dirty="0">
                <a:solidFill>
                  <a:srgbClr val="273239"/>
                </a:solidFill>
                <a:effectLst/>
                <a:latin typeface="Nunito" pitchFamily="2" charset="0"/>
              </a:rPr>
              <a:t>. </a:t>
            </a:r>
          </a:p>
          <a:p>
            <a:pPr marL="0" indent="0">
              <a:buNone/>
            </a:pPr>
            <a:endParaRPr lang="en-US" dirty="0">
              <a:solidFill>
                <a:srgbClr val="273239"/>
              </a:solidFill>
              <a:latin typeface="Nunito" pitchFamily="2" charset="0"/>
            </a:endParaRPr>
          </a:p>
          <a:p>
            <a:pPr marL="0" indent="0">
              <a:buNone/>
            </a:pPr>
            <a:r>
              <a:rPr lang="en-US" b="0" i="0" dirty="0">
                <a:solidFill>
                  <a:srgbClr val="273239"/>
                </a:solidFill>
                <a:effectLst/>
                <a:latin typeface="Nunito" pitchFamily="2" charset="0"/>
              </a:rPr>
              <a:t>These requirements are generally a type of expectation of user from software product that is important and need to be fulfilled by software. </a:t>
            </a:r>
          </a:p>
          <a:p>
            <a:pPr marL="0" indent="0">
              <a:buNone/>
            </a:pPr>
            <a:r>
              <a:rPr lang="en-US" b="0" i="0" dirty="0">
                <a:solidFill>
                  <a:srgbClr val="273239"/>
                </a:solidFill>
                <a:effectLst/>
                <a:latin typeface="Nunito" pitchFamily="2" charset="0"/>
              </a:rPr>
              <a:t>Analysis means to examine something in an organized and specific manner to know complete details about it. </a:t>
            </a:r>
            <a:endParaRPr lang="en-US" dirty="0"/>
          </a:p>
        </p:txBody>
      </p:sp>
    </p:spTree>
    <p:extLst>
      <p:ext uri="{BB962C8B-B14F-4D97-AF65-F5344CB8AC3E}">
        <p14:creationId xmlns:p14="http://schemas.microsoft.com/office/powerpoint/2010/main" val="137770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Analysis</a:t>
            </a:r>
          </a:p>
        </p:txBody>
      </p:sp>
      <p:sp>
        <p:nvSpPr>
          <p:cNvPr id="3" name="Content Placeholder 2"/>
          <p:cNvSpPr>
            <a:spLocks noGrp="1"/>
          </p:cNvSpPr>
          <p:nvPr>
            <p:ph idx="1"/>
          </p:nvPr>
        </p:nvSpPr>
        <p:spPr>
          <a:xfrm>
            <a:off x="757767" y="1690688"/>
            <a:ext cx="10676466" cy="4497048"/>
          </a:xfrm>
        </p:spPr>
        <p:txBody>
          <a:bodyPr>
            <a:normAutofit fontScale="92500" lnSpcReduction="10000"/>
          </a:bodyPr>
          <a:lstStyle/>
          <a:p>
            <a:pPr algn="l"/>
            <a:r>
              <a:rPr lang="en-US" dirty="0"/>
              <a:t> </a:t>
            </a:r>
            <a:r>
              <a:rPr lang="en-US" b="0" i="0" dirty="0">
                <a:solidFill>
                  <a:srgbClr val="2D2D2D"/>
                </a:solidFill>
                <a:effectLst/>
                <a:latin typeface="Noto Sans" panose="020B0502040504020204" pitchFamily="34" charset="0"/>
              </a:rPr>
              <a:t>Requirements analysis is a set of operations that helps define users' expectations of the application you are building or modifying. </a:t>
            </a:r>
          </a:p>
          <a:p>
            <a:pPr algn="l"/>
            <a:endParaRPr lang="en-US" b="0" i="0" u="none" strike="noStrike" dirty="0">
              <a:solidFill>
                <a:srgbClr val="2557A7"/>
              </a:solidFill>
              <a:effectLst/>
              <a:latin typeface="Noto Sans" panose="020B0502040504020204" pitchFamily="34" charset="0"/>
              <a:hlinkClick r:id="rId3"/>
            </a:endParaRPr>
          </a:p>
          <a:p>
            <a:pPr algn="l"/>
            <a:r>
              <a:rPr lang="en-US" dirty="0">
                <a:solidFill>
                  <a:srgbClr val="2D2D2D"/>
                </a:solidFill>
                <a:latin typeface="Noto Sans" panose="020B0502040504020204" pitchFamily="34" charset="0"/>
              </a:rPr>
              <a:t>Software engineering professionals sometimes call it requirement engineering, requirements </a:t>
            </a:r>
            <a:r>
              <a:rPr lang="en-US" b="0" i="0" dirty="0">
                <a:solidFill>
                  <a:srgbClr val="2D2D2D"/>
                </a:solidFill>
                <a:effectLst/>
                <a:latin typeface="Noto Sans" panose="020B0502040504020204" pitchFamily="34" charset="0"/>
              </a:rPr>
              <a:t>capturing, or requirement gathering. </a:t>
            </a:r>
          </a:p>
          <a:p>
            <a:pPr algn="l"/>
            <a:endParaRPr lang="en-US" b="0" i="0" dirty="0">
              <a:solidFill>
                <a:srgbClr val="2D2D2D"/>
              </a:solidFill>
              <a:effectLst/>
              <a:latin typeface="Noto Sans" panose="020B0502040504020204" pitchFamily="34" charset="0"/>
            </a:endParaRPr>
          </a:p>
          <a:p>
            <a:pPr algn="l"/>
            <a:r>
              <a:rPr lang="en-US" b="0" i="0" dirty="0">
                <a:solidFill>
                  <a:srgbClr val="2D2D2D"/>
                </a:solidFill>
                <a:effectLst/>
                <a:latin typeface="Noto Sans" panose="020B0502040504020204" pitchFamily="34" charset="0"/>
              </a:rPr>
              <a:t>Requirements analysis involves various tasks that help engineers understand stakeholder demands and explain them in simple and visual ways. It is essential to a software or system project's success.</a:t>
            </a:r>
          </a:p>
        </p:txBody>
      </p:sp>
    </p:spTree>
    <p:extLst>
      <p:ext uri="{BB962C8B-B14F-4D97-AF65-F5344CB8AC3E}">
        <p14:creationId xmlns:p14="http://schemas.microsoft.com/office/powerpoint/2010/main" val="4881044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Requirements Analysis</a:t>
            </a:r>
            <a:endParaRPr lang="en-US" dirty="0"/>
          </a:p>
        </p:txBody>
      </p:sp>
      <p:sp>
        <p:nvSpPr>
          <p:cNvPr id="3" name="Content Placeholder 2"/>
          <p:cNvSpPr>
            <a:spLocks noGrp="1"/>
          </p:cNvSpPr>
          <p:nvPr>
            <p:ph idx="1"/>
          </p:nvPr>
        </p:nvSpPr>
        <p:spPr>
          <a:xfrm>
            <a:off x="838200" y="1825625"/>
            <a:ext cx="9392322" cy="4351338"/>
          </a:xfrm>
        </p:spPr>
        <p:txBody>
          <a:bodyPr/>
          <a:lstStyle/>
          <a:p>
            <a:pPr marL="0" indent="0">
              <a:buNone/>
            </a:pPr>
            <a:r>
              <a:rPr lang="en-US" b="1" dirty="0"/>
              <a:t>Five (5) Areas of Effort</a:t>
            </a:r>
          </a:p>
          <a:p>
            <a:r>
              <a:rPr lang="en-US" dirty="0"/>
              <a:t> </a:t>
            </a:r>
            <a:r>
              <a:rPr lang="en-US" i="0" dirty="0">
                <a:solidFill>
                  <a:srgbClr val="2D2D2D"/>
                </a:solidFill>
                <a:effectLst/>
                <a:latin typeface="Noto Sans" panose="020B0502040504020204" pitchFamily="34" charset="0"/>
              </a:rPr>
              <a:t>Gather the requirements</a:t>
            </a:r>
          </a:p>
          <a:p>
            <a:pPr algn="l"/>
            <a:r>
              <a:rPr lang="en-US" i="0" dirty="0">
                <a:solidFill>
                  <a:srgbClr val="2D2D2D"/>
                </a:solidFill>
                <a:effectLst/>
                <a:latin typeface="Noto Sans" panose="020B0502040504020204" pitchFamily="34" charset="0"/>
              </a:rPr>
              <a:t>Analyze the requirements</a:t>
            </a:r>
          </a:p>
          <a:p>
            <a:pPr algn="l"/>
            <a:r>
              <a:rPr lang="en-US" i="0" dirty="0">
                <a:solidFill>
                  <a:srgbClr val="2D2D2D"/>
                </a:solidFill>
                <a:effectLst/>
                <a:latin typeface="Noto Sans" panose="020B0502040504020204" pitchFamily="34" charset="0"/>
              </a:rPr>
              <a:t>Improve the quality of the requirements</a:t>
            </a:r>
          </a:p>
          <a:p>
            <a:r>
              <a:rPr lang="en-US" i="0" dirty="0">
                <a:solidFill>
                  <a:srgbClr val="2D2D2D"/>
                </a:solidFill>
                <a:effectLst/>
                <a:latin typeface="Noto Sans" panose="020B0502040504020204" pitchFamily="34" charset="0"/>
              </a:rPr>
              <a:t>Model the requirements</a:t>
            </a:r>
          </a:p>
          <a:p>
            <a:r>
              <a:rPr lang="en-US" i="0" dirty="0">
                <a:solidFill>
                  <a:srgbClr val="2D2D2D"/>
                </a:solidFill>
                <a:effectLst/>
                <a:latin typeface="Noto Sans" panose="020B0502040504020204" pitchFamily="34" charset="0"/>
              </a:rPr>
              <a:t>Document and review the requirements</a:t>
            </a:r>
          </a:p>
          <a:p>
            <a:pPr algn="l"/>
            <a:endParaRPr lang="en-US" b="1" i="0" dirty="0">
              <a:solidFill>
                <a:srgbClr val="2D2D2D"/>
              </a:solidFill>
              <a:effectLst/>
              <a:latin typeface="Noto Sans" panose="020B0502040504020204" pitchFamily="34" charset="0"/>
            </a:endParaRPr>
          </a:p>
          <a:p>
            <a:endParaRPr lang="en-US" dirty="0"/>
          </a:p>
        </p:txBody>
      </p:sp>
    </p:spTree>
    <p:extLst>
      <p:ext uri="{BB962C8B-B14F-4D97-AF65-F5344CB8AC3E}">
        <p14:creationId xmlns:p14="http://schemas.microsoft.com/office/powerpoint/2010/main" val="1291144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C14BC5-CFC3-F531-9BBE-1EC4D4258992}"/>
              </a:ext>
            </a:extLst>
          </p:cNvPr>
          <p:cNvSpPr>
            <a:spLocks noGrp="1"/>
          </p:cNvSpPr>
          <p:nvPr>
            <p:ph type="title"/>
          </p:nvPr>
        </p:nvSpPr>
        <p:spPr>
          <a:xfrm>
            <a:off x="686834" y="1153572"/>
            <a:ext cx="3200400" cy="4461163"/>
          </a:xfrm>
        </p:spPr>
        <p:txBody>
          <a:bodyPr>
            <a:normAutofit/>
          </a:bodyPr>
          <a:lstStyle/>
          <a:p>
            <a:r>
              <a:rPr lang="en-US" sz="4100" b="1" dirty="0">
                <a:solidFill>
                  <a:srgbClr val="FFFFFF"/>
                </a:solidFill>
              </a:rPr>
              <a:t>Gather the Requirements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B4195E8-5860-121C-9877-2B685FBC435D}"/>
              </a:ext>
            </a:extLst>
          </p:cNvPr>
          <p:cNvSpPr>
            <a:spLocks noGrp="1"/>
          </p:cNvSpPr>
          <p:nvPr>
            <p:ph idx="1"/>
          </p:nvPr>
        </p:nvSpPr>
        <p:spPr>
          <a:xfrm>
            <a:off x="4447308" y="591344"/>
            <a:ext cx="6906491" cy="5585619"/>
          </a:xfrm>
        </p:spPr>
        <p:txBody>
          <a:bodyPr anchor="ctr">
            <a:normAutofit/>
          </a:bodyPr>
          <a:lstStyle/>
          <a:p>
            <a:pPr>
              <a:buFont typeface="Arial" panose="020B0604020202020204" pitchFamily="34" charset="0"/>
              <a:buChar char="•"/>
            </a:pPr>
            <a:r>
              <a:rPr lang="en-US" b="0" i="0">
                <a:effectLst/>
                <a:latin typeface="Noto Sans" panose="020B0502040504020204" pitchFamily="34" charset="0"/>
              </a:rPr>
              <a:t>Conducting interviews</a:t>
            </a:r>
          </a:p>
          <a:p>
            <a:pPr>
              <a:buFont typeface="Arial" panose="020B0604020202020204" pitchFamily="34" charset="0"/>
              <a:buChar char="•"/>
            </a:pPr>
            <a:r>
              <a:rPr lang="en-US" b="0" i="0">
                <a:effectLst/>
                <a:latin typeface="Noto Sans" panose="020B0502040504020204" pitchFamily="34" charset="0"/>
              </a:rPr>
              <a:t>Observing the workplace</a:t>
            </a:r>
          </a:p>
          <a:p>
            <a:pPr>
              <a:buFont typeface="Arial" panose="020B0604020202020204" pitchFamily="34" charset="0"/>
              <a:buChar char="•"/>
            </a:pPr>
            <a:r>
              <a:rPr lang="en-US" b="0" i="0">
                <a:effectLst/>
                <a:latin typeface="Noto Sans" panose="020B0502040504020204" pitchFamily="34" charset="0"/>
              </a:rPr>
              <a:t>Holding focus groups or workshops</a:t>
            </a:r>
          </a:p>
          <a:p>
            <a:pPr>
              <a:buFont typeface="Arial" panose="020B0604020202020204" pitchFamily="34" charset="0"/>
              <a:buChar char="•"/>
            </a:pPr>
            <a:r>
              <a:rPr lang="en-US" b="0" i="0">
                <a:effectLst/>
                <a:latin typeface="Noto Sans" panose="020B0502040504020204" pitchFamily="34" charset="0"/>
              </a:rPr>
              <a:t>Creating requirements lists</a:t>
            </a:r>
          </a:p>
          <a:p>
            <a:endParaRPr lang="en-US" dirty="0"/>
          </a:p>
        </p:txBody>
      </p:sp>
    </p:spTree>
    <p:extLst>
      <p:ext uri="{BB962C8B-B14F-4D97-AF65-F5344CB8AC3E}">
        <p14:creationId xmlns:p14="http://schemas.microsoft.com/office/powerpoint/2010/main" val="2768879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FB9F8E-EDB1-6A05-4989-009B27C9D858}"/>
              </a:ext>
            </a:extLst>
          </p:cNvPr>
          <p:cNvSpPr>
            <a:spLocks noGrp="1"/>
          </p:cNvSpPr>
          <p:nvPr>
            <p:ph type="title"/>
          </p:nvPr>
        </p:nvSpPr>
        <p:spPr>
          <a:xfrm>
            <a:off x="686834" y="1153572"/>
            <a:ext cx="3200400" cy="4461163"/>
          </a:xfrm>
        </p:spPr>
        <p:txBody>
          <a:bodyPr>
            <a:normAutofit/>
          </a:bodyPr>
          <a:lstStyle/>
          <a:p>
            <a:r>
              <a:rPr lang="en-US" sz="3400" b="1" i="0">
                <a:solidFill>
                  <a:srgbClr val="FFFFFF"/>
                </a:solidFill>
                <a:effectLst/>
                <a:latin typeface="Noto Sans" panose="020B0502040504020204" pitchFamily="34" charset="0"/>
              </a:rPr>
              <a:t>Analyze the requirements</a:t>
            </a:r>
            <a:br>
              <a:rPr lang="en-US" sz="3400" b="1" i="0">
                <a:solidFill>
                  <a:srgbClr val="FFFFFF"/>
                </a:solidFill>
                <a:effectLst/>
                <a:latin typeface="Noto Sans" panose="020B0502040504020204" pitchFamily="34" charset="0"/>
              </a:rPr>
            </a:br>
            <a:endParaRPr lang="en-US" sz="3400" b="1">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1EE9F2D-5FFE-2D80-05DC-7EFD8890BBF2}"/>
              </a:ext>
            </a:extLst>
          </p:cNvPr>
          <p:cNvSpPr>
            <a:spLocks noGrp="1"/>
          </p:cNvSpPr>
          <p:nvPr>
            <p:ph idx="1"/>
          </p:nvPr>
        </p:nvSpPr>
        <p:spPr>
          <a:xfrm>
            <a:off x="4447308" y="591344"/>
            <a:ext cx="6906491" cy="5585619"/>
          </a:xfrm>
        </p:spPr>
        <p:txBody>
          <a:bodyPr anchor="ctr">
            <a:normAutofit/>
          </a:bodyPr>
          <a:lstStyle/>
          <a:p>
            <a:pPr marL="0" indent="0">
              <a:buNone/>
            </a:pPr>
            <a:r>
              <a:rPr lang="en-US" b="0" i="0" dirty="0">
                <a:effectLst/>
                <a:latin typeface="Noto Sans" panose="020B0502040504020204" pitchFamily="34" charset="0"/>
              </a:rPr>
              <a:t>In this phase, </a:t>
            </a:r>
            <a:r>
              <a:rPr lang="en-US" b="0" i="0" u="sng" dirty="0">
                <a:effectLst/>
                <a:latin typeface="Noto Sans" panose="020B0502040504020204" pitchFamily="34" charset="0"/>
              </a:rPr>
              <a:t>evaluate system feasibility</a:t>
            </a:r>
            <a:r>
              <a:rPr lang="en-US" b="0" i="0" dirty="0">
                <a:effectLst/>
                <a:latin typeface="Noto Sans" panose="020B0502040504020204" pitchFamily="34" charset="0"/>
              </a:rPr>
              <a:t>, and confirm with the quality assurance team that the requirements are testable. The developers make sure the requirements are </a:t>
            </a:r>
            <a:r>
              <a:rPr lang="en-US" b="0" i="0" u="sng" dirty="0">
                <a:effectLst/>
                <a:latin typeface="Noto Sans" panose="020B0502040504020204" pitchFamily="34" charset="0"/>
              </a:rPr>
              <a:t>achievable</a:t>
            </a:r>
            <a:r>
              <a:rPr lang="en-US" b="0" i="0" dirty="0">
                <a:effectLst/>
                <a:latin typeface="Noto Sans" panose="020B0502040504020204" pitchFamily="34" charset="0"/>
              </a:rPr>
              <a:t> and </a:t>
            </a:r>
            <a:r>
              <a:rPr lang="en-US" b="0" i="0" u="sng" dirty="0">
                <a:effectLst/>
                <a:latin typeface="Noto Sans" panose="020B0502040504020204" pitchFamily="34" charset="0"/>
              </a:rPr>
              <a:t>understandable</a:t>
            </a:r>
            <a:r>
              <a:rPr lang="en-US" b="0" i="0" dirty="0">
                <a:effectLst/>
                <a:latin typeface="Noto Sans" panose="020B0502040504020204" pitchFamily="34" charset="0"/>
              </a:rPr>
              <a:t>. </a:t>
            </a:r>
          </a:p>
          <a:p>
            <a:pPr>
              <a:buFont typeface="Arial" panose="020B0604020202020204" pitchFamily="34" charset="0"/>
              <a:buChar char="•"/>
            </a:pPr>
            <a:r>
              <a:rPr lang="en-US" b="0" i="0" dirty="0">
                <a:effectLst/>
                <a:latin typeface="Noto Sans" panose="020B0502040504020204" pitchFamily="34" charset="0"/>
              </a:rPr>
              <a:t>Necessary</a:t>
            </a:r>
          </a:p>
          <a:p>
            <a:pPr>
              <a:buFont typeface="Arial" panose="020B0604020202020204" pitchFamily="34" charset="0"/>
              <a:buChar char="•"/>
            </a:pPr>
            <a:r>
              <a:rPr lang="en-US" b="0" i="0" dirty="0">
                <a:effectLst/>
                <a:latin typeface="Noto Sans" panose="020B0502040504020204" pitchFamily="34" charset="0"/>
              </a:rPr>
              <a:t>Consistent</a:t>
            </a:r>
          </a:p>
          <a:p>
            <a:pPr>
              <a:buFont typeface="Arial" panose="020B0604020202020204" pitchFamily="34" charset="0"/>
              <a:buChar char="•"/>
            </a:pPr>
            <a:r>
              <a:rPr lang="en-US" b="0" i="0" dirty="0">
                <a:effectLst/>
                <a:latin typeface="Noto Sans" panose="020B0502040504020204" pitchFamily="34" charset="0"/>
              </a:rPr>
              <a:t>Clear and concise</a:t>
            </a:r>
          </a:p>
          <a:p>
            <a:pPr>
              <a:buFont typeface="Arial" panose="020B0604020202020204" pitchFamily="34" charset="0"/>
              <a:buChar char="•"/>
            </a:pPr>
            <a:r>
              <a:rPr lang="en-US" b="0" i="0" dirty="0">
                <a:effectLst/>
                <a:latin typeface="Noto Sans" panose="020B0502040504020204" pitchFamily="34" charset="0"/>
              </a:rPr>
              <a:t>Able to be validated</a:t>
            </a:r>
          </a:p>
          <a:p>
            <a:pPr>
              <a:buFont typeface="Arial" panose="020B0604020202020204" pitchFamily="34" charset="0"/>
              <a:buChar char="•"/>
            </a:pPr>
            <a:r>
              <a:rPr lang="en-US" b="0" i="0" dirty="0">
                <a:effectLst/>
                <a:latin typeface="Noto Sans" panose="020B0502040504020204" pitchFamily="34" charset="0"/>
              </a:rPr>
              <a:t>Complete</a:t>
            </a:r>
          </a:p>
          <a:p>
            <a:pPr marL="0" indent="0">
              <a:buNone/>
            </a:pPr>
            <a:endParaRPr lang="en-US" dirty="0"/>
          </a:p>
        </p:txBody>
      </p:sp>
    </p:spTree>
    <p:extLst>
      <p:ext uri="{BB962C8B-B14F-4D97-AF65-F5344CB8AC3E}">
        <p14:creationId xmlns:p14="http://schemas.microsoft.com/office/powerpoint/2010/main" val="4140820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DB304A14-32D0-4873-B914-423ED7B8D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5198434B-EA13-83AD-B7A6-DA5ED31D29CD}"/>
              </a:ext>
            </a:extLst>
          </p:cNvPr>
          <p:cNvSpPr>
            <a:spLocks noGrp="1"/>
          </p:cNvSpPr>
          <p:nvPr>
            <p:ph type="title"/>
          </p:nvPr>
        </p:nvSpPr>
        <p:spPr>
          <a:xfrm>
            <a:off x="838200" y="365125"/>
            <a:ext cx="5387502" cy="1325563"/>
          </a:xfrm>
        </p:spPr>
        <p:txBody>
          <a:bodyPr>
            <a:normAutofit/>
          </a:bodyPr>
          <a:lstStyle/>
          <a:p>
            <a:r>
              <a:rPr lang="en-US" sz="2800" b="1" i="0">
                <a:effectLst/>
                <a:latin typeface="Noto Sans" panose="020B0502040504020204" pitchFamily="34" charset="0"/>
              </a:rPr>
              <a:t>Improve the quality of the requirements</a:t>
            </a:r>
            <a:br>
              <a:rPr lang="en-US" sz="2800" b="1" i="0">
                <a:effectLst/>
                <a:latin typeface="Noto Sans" panose="020B0502040504020204" pitchFamily="34" charset="0"/>
              </a:rPr>
            </a:br>
            <a:endParaRPr lang="en-US" sz="2800" b="1"/>
          </a:p>
        </p:txBody>
      </p:sp>
      <p:pic>
        <p:nvPicPr>
          <p:cNvPr id="6" name="Picture 5">
            <a:extLst>
              <a:ext uri="{FF2B5EF4-FFF2-40B4-BE49-F238E27FC236}">
                <a16:creationId xmlns:a16="http://schemas.microsoft.com/office/drawing/2014/main" id="{8E48F6BF-52FC-30F9-C9C4-1B3B481F0427}"/>
              </a:ext>
            </a:extLst>
          </p:cNvPr>
          <p:cNvPicPr>
            <a:picLocks noChangeAspect="1"/>
          </p:cNvPicPr>
          <p:nvPr/>
        </p:nvPicPr>
        <p:blipFill rotWithShape="1">
          <a:blip r:embed="rId2"/>
          <a:srcRect l="11453" r="22702" b="2"/>
          <a:stretch/>
        </p:blipFill>
        <p:spPr>
          <a:xfrm>
            <a:off x="6621294" y="1295416"/>
            <a:ext cx="5570706" cy="5562584"/>
          </a:xfrm>
          <a:custGeom>
            <a:avLst/>
            <a:gdLst/>
            <a:ahLst/>
            <a:cxnLst/>
            <a:rect l="l" t="t" r="r" b="b"/>
            <a:pathLst>
              <a:path w="5570706" h="5562584">
                <a:moveTo>
                  <a:pt x="3374687" y="0"/>
                </a:moveTo>
                <a:cubicBezTo>
                  <a:pt x="4190094" y="0"/>
                  <a:pt x="4937956" y="289196"/>
                  <a:pt x="5521301" y="770615"/>
                </a:cubicBezTo>
                <a:lnTo>
                  <a:pt x="5570706" y="815517"/>
                </a:lnTo>
                <a:lnTo>
                  <a:pt x="5570706" y="5562584"/>
                </a:lnTo>
                <a:lnTo>
                  <a:pt x="808135" y="5562584"/>
                </a:lnTo>
                <a:lnTo>
                  <a:pt x="770615" y="5521302"/>
                </a:lnTo>
                <a:cubicBezTo>
                  <a:pt x="289196" y="4937957"/>
                  <a:pt x="0" y="4190095"/>
                  <a:pt x="0" y="3374687"/>
                </a:cubicBezTo>
                <a:cubicBezTo>
                  <a:pt x="0" y="1510899"/>
                  <a:pt x="1510899" y="0"/>
                  <a:pt x="3374687" y="0"/>
                </a:cubicBezTo>
                <a:close/>
              </a:path>
            </a:pathLst>
          </a:custGeom>
        </p:spPr>
      </p:pic>
      <p:sp>
        <p:nvSpPr>
          <p:cNvPr id="21" name="!!Oval">
            <a:extLst>
              <a:ext uri="{FF2B5EF4-FFF2-40B4-BE49-F238E27FC236}">
                <a16:creationId xmlns:a16="http://schemas.microsoft.com/office/drawing/2014/main" id="{1D460C86-854F-4FB3-ABC2-E823D8FEB9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43451" y="1656147"/>
            <a:ext cx="546100" cy="5461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3" name="!!Arc">
            <a:extLst>
              <a:ext uri="{FF2B5EF4-FFF2-40B4-BE49-F238E27FC236}">
                <a16:creationId xmlns:a16="http://schemas.microsoft.com/office/drawing/2014/main" id="{BB48116A-278A-4CC5-89D3-9DE8E8FF12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34739" y="587516"/>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aphicFrame>
        <p:nvGraphicFramePr>
          <p:cNvPr id="5" name="Content Placeholder 2">
            <a:extLst>
              <a:ext uri="{FF2B5EF4-FFF2-40B4-BE49-F238E27FC236}">
                <a16:creationId xmlns:a16="http://schemas.microsoft.com/office/drawing/2014/main" id="{60C8D838-C13F-B7F5-A875-9E0F2AA1D447}"/>
              </a:ext>
            </a:extLst>
          </p:cNvPr>
          <p:cNvGraphicFramePr>
            <a:graphicFrameLocks noGrp="1"/>
          </p:cNvGraphicFramePr>
          <p:nvPr>
            <p:ph idx="1"/>
            <p:extLst>
              <p:ext uri="{D42A27DB-BD31-4B8C-83A1-F6EECF244321}">
                <p14:modId xmlns:p14="http://schemas.microsoft.com/office/powerpoint/2010/main" val="755921726"/>
              </p:ext>
            </p:extLst>
          </p:nvPr>
        </p:nvGraphicFramePr>
        <p:xfrm>
          <a:off x="838200" y="1825625"/>
          <a:ext cx="5387502"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7432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9">
            <a:extLst>
              <a:ext uri="{FF2B5EF4-FFF2-40B4-BE49-F238E27FC236}">
                <a16:creationId xmlns:a16="http://schemas.microsoft.com/office/drawing/2014/main" id="{DB304A14-32D0-4873-B914-423ED7B8D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1E6CD97B-F260-8E2C-F490-68912FE889FD}"/>
              </a:ext>
            </a:extLst>
          </p:cNvPr>
          <p:cNvSpPr>
            <a:spLocks noGrp="1"/>
          </p:cNvSpPr>
          <p:nvPr>
            <p:ph type="title"/>
          </p:nvPr>
        </p:nvSpPr>
        <p:spPr>
          <a:xfrm>
            <a:off x="838200" y="365125"/>
            <a:ext cx="5387502" cy="1325563"/>
          </a:xfrm>
        </p:spPr>
        <p:txBody>
          <a:bodyPr>
            <a:normAutofit/>
          </a:bodyPr>
          <a:lstStyle/>
          <a:p>
            <a:r>
              <a:rPr lang="en-US" sz="3100" b="1" i="0">
                <a:effectLst/>
                <a:latin typeface="Noto Sans" panose="020B0502040504020204" pitchFamily="34" charset="0"/>
              </a:rPr>
              <a:t>Model the requirements</a:t>
            </a:r>
            <a:br>
              <a:rPr lang="en-US" sz="3100" b="1" i="0">
                <a:effectLst/>
                <a:latin typeface="Noto Sans" panose="020B0502040504020204" pitchFamily="34" charset="0"/>
              </a:rPr>
            </a:br>
            <a:endParaRPr lang="en-US" sz="3100"/>
          </a:p>
        </p:txBody>
      </p:sp>
      <p:pic>
        <p:nvPicPr>
          <p:cNvPr id="17" name="Picture 5">
            <a:extLst>
              <a:ext uri="{FF2B5EF4-FFF2-40B4-BE49-F238E27FC236}">
                <a16:creationId xmlns:a16="http://schemas.microsoft.com/office/drawing/2014/main" id="{232053EF-3307-4391-68D1-08813EBF403C}"/>
              </a:ext>
            </a:extLst>
          </p:cNvPr>
          <p:cNvPicPr>
            <a:picLocks noChangeAspect="1"/>
          </p:cNvPicPr>
          <p:nvPr/>
        </p:nvPicPr>
        <p:blipFill rotWithShape="1">
          <a:blip r:embed="rId2"/>
          <a:srcRect l="25568" r="22857" b="1"/>
          <a:stretch/>
        </p:blipFill>
        <p:spPr>
          <a:xfrm>
            <a:off x="6621294" y="1295416"/>
            <a:ext cx="5570706" cy="5562584"/>
          </a:xfrm>
          <a:custGeom>
            <a:avLst/>
            <a:gdLst/>
            <a:ahLst/>
            <a:cxnLst/>
            <a:rect l="l" t="t" r="r" b="b"/>
            <a:pathLst>
              <a:path w="5570706" h="5562584">
                <a:moveTo>
                  <a:pt x="3374687" y="0"/>
                </a:moveTo>
                <a:cubicBezTo>
                  <a:pt x="4190094" y="0"/>
                  <a:pt x="4937956" y="289196"/>
                  <a:pt x="5521301" y="770615"/>
                </a:cubicBezTo>
                <a:lnTo>
                  <a:pt x="5570706" y="815517"/>
                </a:lnTo>
                <a:lnTo>
                  <a:pt x="5570706" y="5562584"/>
                </a:lnTo>
                <a:lnTo>
                  <a:pt x="808135" y="5562584"/>
                </a:lnTo>
                <a:lnTo>
                  <a:pt x="770615" y="5521302"/>
                </a:lnTo>
                <a:cubicBezTo>
                  <a:pt x="289196" y="4937957"/>
                  <a:pt x="0" y="4190095"/>
                  <a:pt x="0" y="3374687"/>
                </a:cubicBezTo>
                <a:cubicBezTo>
                  <a:pt x="0" y="1510899"/>
                  <a:pt x="1510899" y="0"/>
                  <a:pt x="3374687" y="0"/>
                </a:cubicBezTo>
                <a:close/>
              </a:path>
            </a:pathLst>
          </a:custGeom>
        </p:spPr>
      </p:pic>
      <p:sp>
        <p:nvSpPr>
          <p:cNvPr id="18" name="!!Oval">
            <a:extLst>
              <a:ext uri="{FF2B5EF4-FFF2-40B4-BE49-F238E27FC236}">
                <a16:creationId xmlns:a16="http://schemas.microsoft.com/office/drawing/2014/main" id="{1D460C86-854F-4FB3-ABC2-E823D8FEB9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43451" y="1656147"/>
            <a:ext cx="546100" cy="5461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9" name="!!Arc">
            <a:extLst>
              <a:ext uri="{FF2B5EF4-FFF2-40B4-BE49-F238E27FC236}">
                <a16:creationId xmlns:a16="http://schemas.microsoft.com/office/drawing/2014/main" id="{BB48116A-278A-4CC5-89D3-9DE8E8FF12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34739" y="587516"/>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aphicFrame>
        <p:nvGraphicFramePr>
          <p:cNvPr id="20" name="Content Placeholder 2">
            <a:extLst>
              <a:ext uri="{FF2B5EF4-FFF2-40B4-BE49-F238E27FC236}">
                <a16:creationId xmlns:a16="http://schemas.microsoft.com/office/drawing/2014/main" id="{DAF5005F-2364-CF9D-6E5C-ADAA70570727}"/>
              </a:ext>
            </a:extLst>
          </p:cNvPr>
          <p:cNvGraphicFramePr>
            <a:graphicFrameLocks noGrp="1"/>
          </p:cNvGraphicFramePr>
          <p:nvPr>
            <p:ph idx="1"/>
            <p:extLst>
              <p:ext uri="{D42A27DB-BD31-4B8C-83A1-F6EECF244321}">
                <p14:modId xmlns:p14="http://schemas.microsoft.com/office/powerpoint/2010/main" val="1128495877"/>
              </p:ext>
            </p:extLst>
          </p:nvPr>
        </p:nvGraphicFramePr>
        <p:xfrm>
          <a:off x="654996" y="1183341"/>
          <a:ext cx="5570706" cy="53095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599362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E45C2-0EB3-434A-C9EB-4C7BA0B8DC80}"/>
              </a:ext>
            </a:extLst>
          </p:cNvPr>
          <p:cNvSpPr>
            <a:spLocks noGrp="1"/>
          </p:cNvSpPr>
          <p:nvPr>
            <p:ph type="title"/>
          </p:nvPr>
        </p:nvSpPr>
        <p:spPr/>
        <p:txBody>
          <a:bodyPr>
            <a:normAutofit fontScale="90000"/>
          </a:bodyPr>
          <a:lstStyle/>
          <a:p>
            <a:r>
              <a:rPr lang="en-US" b="1" i="0" dirty="0">
                <a:solidFill>
                  <a:srgbClr val="2D2D2D"/>
                </a:solidFill>
                <a:effectLst/>
                <a:latin typeface="Noto Sans" panose="020B0502040504020204" pitchFamily="34" charset="0"/>
              </a:rPr>
              <a:t>Document and review the requirements</a:t>
            </a:r>
            <a:br>
              <a:rPr lang="en-US" b="1" i="0" dirty="0">
                <a:solidFill>
                  <a:srgbClr val="2D2D2D"/>
                </a:solidFill>
                <a:effectLst/>
                <a:latin typeface="Noto Sans" panose="020B0502040504020204" pitchFamily="34" charset="0"/>
              </a:rPr>
            </a:br>
            <a:endParaRPr lang="en-US" b="1" dirty="0"/>
          </a:p>
        </p:txBody>
      </p:sp>
      <p:sp>
        <p:nvSpPr>
          <p:cNvPr id="3" name="Content Placeholder 2">
            <a:extLst>
              <a:ext uri="{FF2B5EF4-FFF2-40B4-BE49-F238E27FC236}">
                <a16:creationId xmlns:a16="http://schemas.microsoft.com/office/drawing/2014/main" id="{9543CF45-BC75-ED50-DE87-03B95A705E0D}"/>
              </a:ext>
            </a:extLst>
          </p:cNvPr>
          <p:cNvSpPr>
            <a:spLocks noGrp="1"/>
          </p:cNvSpPr>
          <p:nvPr>
            <p:ph idx="1"/>
          </p:nvPr>
        </p:nvSpPr>
        <p:spPr/>
        <p:txBody>
          <a:bodyPr>
            <a:normAutofit lnSpcReduction="10000"/>
          </a:bodyPr>
          <a:lstStyle/>
          <a:p>
            <a:r>
              <a:rPr lang="en-US" dirty="0">
                <a:solidFill>
                  <a:srgbClr val="2D2D2D"/>
                </a:solidFill>
                <a:latin typeface="Noto Sans" panose="020B0502040504020204" pitchFamily="34" charset="0"/>
              </a:rPr>
              <a:t>Y</a:t>
            </a:r>
            <a:r>
              <a:rPr lang="en-US" b="0" i="0" dirty="0">
                <a:solidFill>
                  <a:srgbClr val="2D2D2D"/>
                </a:solidFill>
                <a:effectLst/>
                <a:latin typeface="Noto Sans" panose="020B0502040504020204" pitchFamily="34" charset="0"/>
              </a:rPr>
              <a:t>ou can record the requirements in a document that is easy for both developers and users to understand. </a:t>
            </a:r>
          </a:p>
          <a:p>
            <a:r>
              <a:rPr lang="en-US" b="0" i="0" dirty="0">
                <a:solidFill>
                  <a:srgbClr val="2D2D2D"/>
                </a:solidFill>
                <a:effectLst/>
                <a:latin typeface="Noto Sans" panose="020B0502040504020204" pitchFamily="34" charset="0"/>
              </a:rPr>
              <a:t>Note the changes your team makes to the requirements throughout the process</a:t>
            </a:r>
          </a:p>
          <a:p>
            <a:endParaRPr lang="en-US" dirty="0">
              <a:solidFill>
                <a:srgbClr val="2D2D2D"/>
              </a:solidFill>
              <a:latin typeface="Noto Sans" panose="020B0502040504020204" pitchFamily="34" charset="0"/>
            </a:endParaRPr>
          </a:p>
          <a:p>
            <a:pPr algn="l">
              <a:buFont typeface="Arial" panose="020B0604020202020204" pitchFamily="34" charset="0"/>
              <a:buChar char="•"/>
            </a:pPr>
            <a:r>
              <a:rPr lang="en-US" b="1" i="0" dirty="0">
                <a:solidFill>
                  <a:srgbClr val="2D2D2D"/>
                </a:solidFill>
                <a:effectLst/>
                <a:latin typeface="Noto Sans" panose="020B0502040504020204" pitchFamily="34" charset="0"/>
              </a:rPr>
              <a:t>Software requirements specification (SRS) </a:t>
            </a:r>
            <a:r>
              <a:rPr lang="en-US" b="0" i="0" dirty="0">
                <a:solidFill>
                  <a:srgbClr val="2D2D2D"/>
                </a:solidFill>
                <a:effectLst/>
                <a:latin typeface="Noto Sans" panose="020B0502040504020204" pitchFamily="34" charset="0"/>
              </a:rPr>
              <a:t>- d</a:t>
            </a:r>
            <a:r>
              <a:rPr lang="en-US" b="0" i="0" dirty="0">
                <a:solidFill>
                  <a:srgbClr val="000000"/>
                </a:solidFill>
                <a:effectLst/>
                <a:latin typeface="Lora" pitchFamily="2" charset="0"/>
              </a:rPr>
              <a:t>ocument describes the intended purpose, requirements, and nature of software to be developed</a:t>
            </a:r>
            <a:endParaRPr lang="en-US" b="0" i="0" dirty="0">
              <a:solidFill>
                <a:srgbClr val="2D2D2D"/>
              </a:solidFill>
              <a:effectLst/>
              <a:latin typeface="Noto Sans" panose="020B0502040504020204" pitchFamily="34" charset="0"/>
            </a:endParaRPr>
          </a:p>
          <a:p>
            <a:pPr algn="l">
              <a:buFont typeface="Arial" panose="020B0604020202020204" pitchFamily="34" charset="0"/>
              <a:buChar char="•"/>
            </a:pPr>
            <a:r>
              <a:rPr lang="en-US" b="0" i="0" dirty="0">
                <a:solidFill>
                  <a:srgbClr val="2D2D2D"/>
                </a:solidFill>
                <a:effectLst/>
                <a:latin typeface="Noto Sans" panose="020B0502040504020204" pitchFamily="34" charset="0"/>
              </a:rPr>
              <a:t>User cases</a:t>
            </a:r>
          </a:p>
          <a:p>
            <a:pPr algn="l">
              <a:buFont typeface="Arial" panose="020B0604020202020204" pitchFamily="34" charset="0"/>
              <a:buChar char="•"/>
            </a:pPr>
            <a:r>
              <a:rPr lang="en-US" b="0" i="0" dirty="0">
                <a:solidFill>
                  <a:srgbClr val="2D2D2D"/>
                </a:solidFill>
                <a:effectLst/>
                <a:latin typeface="Noto Sans" panose="020B0502040504020204" pitchFamily="34" charset="0"/>
              </a:rPr>
              <a:t>Process specification</a:t>
            </a:r>
          </a:p>
          <a:p>
            <a:endParaRPr lang="en-US" dirty="0"/>
          </a:p>
        </p:txBody>
      </p:sp>
    </p:spTree>
    <p:extLst>
      <p:ext uri="{BB962C8B-B14F-4D97-AF65-F5344CB8AC3E}">
        <p14:creationId xmlns:p14="http://schemas.microsoft.com/office/powerpoint/2010/main" val="38469520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1B8C50-2EEC-1E76-532B-CF993BF20F3C}"/>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dirty="0">
                <a:solidFill>
                  <a:srgbClr val="FFFFFF"/>
                </a:solidFill>
                <a:latin typeface="+mj-lt"/>
                <a:ea typeface="+mj-ea"/>
                <a:cs typeface="+mj-cs"/>
              </a:rPr>
              <a:t>SRS Example</a:t>
            </a:r>
          </a:p>
        </p:txBody>
      </p:sp>
      <p:pic>
        <p:nvPicPr>
          <p:cNvPr id="5" name="Content Placeholder 4">
            <a:extLst>
              <a:ext uri="{FF2B5EF4-FFF2-40B4-BE49-F238E27FC236}">
                <a16:creationId xmlns:a16="http://schemas.microsoft.com/office/drawing/2014/main" id="{7E2883F4-191C-1B0F-ABCC-E9EF0FA96265}"/>
              </a:ext>
            </a:extLst>
          </p:cNvPr>
          <p:cNvPicPr>
            <a:picLocks noGrp="1" noChangeAspect="1"/>
          </p:cNvPicPr>
          <p:nvPr>
            <p:ph idx="1"/>
          </p:nvPr>
        </p:nvPicPr>
        <p:blipFill>
          <a:blip r:embed="rId2"/>
          <a:stretch>
            <a:fillRect/>
          </a:stretch>
        </p:blipFill>
        <p:spPr>
          <a:xfrm>
            <a:off x="5552703" y="258184"/>
            <a:ext cx="6366770" cy="6243826"/>
          </a:xfrm>
          <a:prstGeom prst="rect">
            <a:avLst/>
          </a:prstGeom>
        </p:spPr>
      </p:pic>
    </p:spTree>
    <p:extLst>
      <p:ext uri="{BB962C8B-B14F-4D97-AF65-F5344CB8AC3E}">
        <p14:creationId xmlns:p14="http://schemas.microsoft.com/office/powerpoint/2010/main" val="28092823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 sets of requirements</a:t>
            </a:r>
          </a:p>
        </p:txBody>
      </p:sp>
      <p:pic>
        <p:nvPicPr>
          <p:cNvPr id="4" name="Content Placeholder 3"/>
          <p:cNvPicPr>
            <a:picLocks noGrp="1" noChangeAspect="1"/>
          </p:cNvPicPr>
          <p:nvPr>
            <p:ph idx="1"/>
          </p:nvPr>
        </p:nvPicPr>
        <p:blipFill>
          <a:blip r:embed="rId2"/>
          <a:stretch>
            <a:fillRect/>
          </a:stretch>
        </p:blipFill>
        <p:spPr>
          <a:xfrm rot="5400000">
            <a:off x="3980000" y="996007"/>
            <a:ext cx="4232000" cy="5973789"/>
          </a:xfrm>
          <a:prstGeom prst="rect">
            <a:avLst/>
          </a:prstGeom>
        </p:spPr>
      </p:pic>
    </p:spTree>
    <p:extLst>
      <p:ext uri="{BB962C8B-B14F-4D97-AF65-F5344CB8AC3E}">
        <p14:creationId xmlns:p14="http://schemas.microsoft.com/office/powerpoint/2010/main" val="1906342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Configuration Management</a:t>
            </a:r>
          </a:p>
        </p:txBody>
      </p:sp>
      <p:sp>
        <p:nvSpPr>
          <p:cNvPr id="3" name="Content Placeholder 2"/>
          <p:cNvSpPr>
            <a:spLocks noGrp="1"/>
          </p:cNvSpPr>
          <p:nvPr>
            <p:ph idx="1"/>
          </p:nvPr>
        </p:nvSpPr>
        <p:spPr/>
        <p:txBody>
          <a:bodyPr/>
          <a:lstStyle/>
          <a:p>
            <a:pPr marL="0" indent="0">
              <a:buNone/>
            </a:pPr>
            <a:r>
              <a:rPr lang="en-US" dirty="0"/>
              <a:t>A set of procedures that track:</a:t>
            </a:r>
          </a:p>
          <a:p>
            <a:r>
              <a:rPr lang="en-US" dirty="0"/>
              <a:t> the requirements that define a system</a:t>
            </a:r>
          </a:p>
          <a:p>
            <a:r>
              <a:rPr lang="en-US" dirty="0"/>
              <a:t> the design modules that are generated from the requirements</a:t>
            </a:r>
          </a:p>
          <a:p>
            <a:r>
              <a:rPr lang="en-US" dirty="0"/>
              <a:t> the program code that implements the design</a:t>
            </a:r>
          </a:p>
          <a:p>
            <a:r>
              <a:rPr lang="en-US" dirty="0"/>
              <a:t> the tests that verify the functionality of the system</a:t>
            </a:r>
          </a:p>
          <a:p>
            <a:r>
              <a:rPr lang="en-US" dirty="0"/>
              <a:t>the documents that describe the system</a:t>
            </a:r>
          </a:p>
        </p:txBody>
      </p:sp>
    </p:spTree>
    <p:extLst>
      <p:ext uri="{BB962C8B-B14F-4D97-AF65-F5344CB8AC3E}">
        <p14:creationId xmlns:p14="http://schemas.microsoft.com/office/powerpoint/2010/main" val="3978028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Requirements</a:t>
            </a:r>
          </a:p>
        </p:txBody>
      </p:sp>
      <p:pic>
        <p:nvPicPr>
          <p:cNvPr id="7170" name="Picture 2" descr="http://image.slidesharecdn.com/businessanalysisfundamentals-13413476912201-phpapp01-120703153635-phpapp01/95/business-analysis-fundamentals-18-728.jpg?cb=1341329828"/>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28264" y="1303166"/>
            <a:ext cx="6885608" cy="51642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3990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Analysis Model</a:t>
            </a:r>
          </a:p>
        </p:txBody>
      </p:sp>
      <p:sp>
        <p:nvSpPr>
          <p:cNvPr id="3" name="Content Placeholder 2"/>
          <p:cNvSpPr>
            <a:spLocks noGrp="1"/>
          </p:cNvSpPr>
          <p:nvPr>
            <p:ph idx="1"/>
          </p:nvPr>
        </p:nvSpPr>
        <p:spPr/>
        <p:txBody>
          <a:bodyPr/>
          <a:lstStyle/>
          <a:p>
            <a:pPr marL="0" indent="0">
              <a:buNone/>
            </a:pPr>
            <a:r>
              <a:rPr lang="en-US" b="1" dirty="0"/>
              <a:t>Objectives</a:t>
            </a:r>
          </a:p>
          <a:p>
            <a:r>
              <a:rPr lang="en-US" dirty="0"/>
              <a:t> to describe what the customer requires</a:t>
            </a:r>
          </a:p>
          <a:p>
            <a:r>
              <a:rPr lang="en-US" dirty="0"/>
              <a:t> to establish a basis for the creation of a software design</a:t>
            </a:r>
          </a:p>
          <a:p>
            <a:r>
              <a:rPr lang="en-US" dirty="0"/>
              <a:t> to define a set of requirements that can be validated once the software is built</a:t>
            </a:r>
          </a:p>
        </p:txBody>
      </p:sp>
    </p:spTree>
    <p:extLst>
      <p:ext uri="{BB962C8B-B14F-4D97-AF65-F5344CB8AC3E}">
        <p14:creationId xmlns:p14="http://schemas.microsoft.com/office/powerpoint/2010/main" val="25429327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Analysis: Charts Relationship</a:t>
            </a:r>
          </a:p>
        </p:txBody>
      </p:sp>
      <p:pic>
        <p:nvPicPr>
          <p:cNvPr id="10242" name="Picture 2" descr="http://csis.pace.edu/%7Emarchese/cs615sp/L4/Image1.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47054" y="1792289"/>
            <a:ext cx="5160346" cy="47488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46714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Analysis Model</a:t>
            </a:r>
          </a:p>
        </p:txBody>
      </p:sp>
      <p:sp>
        <p:nvSpPr>
          <p:cNvPr id="3" name="Content Placeholder 2"/>
          <p:cNvSpPr>
            <a:spLocks noGrp="1"/>
          </p:cNvSpPr>
          <p:nvPr>
            <p:ph idx="1"/>
          </p:nvPr>
        </p:nvSpPr>
        <p:spPr/>
        <p:txBody>
          <a:bodyPr>
            <a:normAutofit fontScale="92500" lnSpcReduction="20000"/>
          </a:bodyPr>
          <a:lstStyle/>
          <a:p>
            <a:pPr marL="0" indent="0">
              <a:buNone/>
            </a:pPr>
            <a:r>
              <a:rPr lang="en-US" b="1" dirty="0"/>
              <a:t> Data Dictionary</a:t>
            </a:r>
          </a:p>
          <a:p>
            <a:r>
              <a:rPr lang="en-US" dirty="0"/>
              <a:t> repository containing descriptions of all data objects consumed or produced by the software</a:t>
            </a:r>
          </a:p>
          <a:p>
            <a:pPr marL="0" indent="0">
              <a:buNone/>
            </a:pPr>
            <a:r>
              <a:rPr lang="en-US" b="1" dirty="0"/>
              <a:t>Entity-Relationship Diagram (ERD</a:t>
            </a:r>
            <a:r>
              <a:rPr lang="en-US" dirty="0"/>
              <a:t>)</a:t>
            </a:r>
          </a:p>
          <a:p>
            <a:r>
              <a:rPr lang="en-US" dirty="0"/>
              <a:t> depicts relationships between data objects</a:t>
            </a:r>
          </a:p>
          <a:p>
            <a:pPr marL="0" indent="0">
              <a:buNone/>
            </a:pPr>
            <a:r>
              <a:rPr lang="en-US" b="1" dirty="0"/>
              <a:t>Data Flow Diagram (DFD)</a:t>
            </a:r>
          </a:p>
          <a:p>
            <a:r>
              <a:rPr lang="en-US" dirty="0"/>
              <a:t> provides an indication of how data are transformed as they move through the system and depicts the functions (and </a:t>
            </a:r>
            <a:r>
              <a:rPr lang="en-US" dirty="0" err="1"/>
              <a:t>subfunctions</a:t>
            </a:r>
            <a:r>
              <a:rPr lang="en-US" dirty="0"/>
              <a:t>) that transform the data flow</a:t>
            </a:r>
          </a:p>
          <a:p>
            <a:pPr marL="0" indent="0">
              <a:buNone/>
            </a:pPr>
            <a:r>
              <a:rPr lang="en-US" b="1" dirty="0"/>
              <a:t>State-Transition Diagram (STD)</a:t>
            </a:r>
          </a:p>
          <a:p>
            <a:r>
              <a:rPr lang="en-US" dirty="0"/>
              <a:t> indicates how the system behaves as a consequence of external events</a:t>
            </a:r>
          </a:p>
        </p:txBody>
      </p:sp>
    </p:spTree>
    <p:extLst>
      <p:ext uri="{BB962C8B-B14F-4D97-AF65-F5344CB8AC3E}">
        <p14:creationId xmlns:p14="http://schemas.microsoft.com/office/powerpoint/2010/main" val="5391715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Data Flow Diagram</a:t>
            </a:r>
          </a:p>
        </p:txBody>
      </p:sp>
      <p:pic>
        <p:nvPicPr>
          <p:cNvPr id="13314" name="Picture 2" descr="http://www.freetutes.com/systemanalysis/images/third-level-dfd.gif"/>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54687" y="1501307"/>
            <a:ext cx="7883561" cy="47810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19543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Software Engineering</a:t>
            </a:r>
          </a:p>
        </p:txBody>
      </p:sp>
      <p:sp>
        <p:nvSpPr>
          <p:cNvPr id="3" name="Subtitle 2"/>
          <p:cNvSpPr>
            <a:spLocks noGrp="1"/>
          </p:cNvSpPr>
          <p:nvPr>
            <p:ph type="subTitle" idx="1"/>
          </p:nvPr>
        </p:nvSpPr>
        <p:spPr/>
        <p:txBody>
          <a:bodyPr/>
          <a:lstStyle/>
          <a:p>
            <a:r>
              <a:rPr lang="en-US" dirty="0"/>
              <a:t>Analysis Process</a:t>
            </a:r>
          </a:p>
        </p:txBody>
      </p:sp>
    </p:spTree>
    <p:extLst>
      <p:ext uri="{BB962C8B-B14F-4D97-AF65-F5344CB8AC3E}">
        <p14:creationId xmlns:p14="http://schemas.microsoft.com/office/powerpoint/2010/main" val="29236799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Flow Diagram</a:t>
            </a:r>
          </a:p>
        </p:txBody>
      </p:sp>
      <p:sp>
        <p:nvSpPr>
          <p:cNvPr id="3" name="Content Placeholder 2"/>
          <p:cNvSpPr>
            <a:spLocks noGrp="1"/>
          </p:cNvSpPr>
          <p:nvPr>
            <p:ph idx="1"/>
          </p:nvPr>
        </p:nvSpPr>
        <p:spPr/>
        <p:txBody>
          <a:bodyPr>
            <a:normAutofit/>
          </a:bodyPr>
          <a:lstStyle/>
          <a:p>
            <a:r>
              <a:rPr lang="en-US" dirty="0"/>
              <a:t>introduced and popularized for structured analysis and design in the late 1970s (</a:t>
            </a:r>
            <a:r>
              <a:rPr lang="en-US" dirty="0" err="1"/>
              <a:t>Gane</a:t>
            </a:r>
            <a:r>
              <a:rPr lang="en-US" dirty="0"/>
              <a:t> and </a:t>
            </a:r>
            <a:r>
              <a:rPr lang="en-US" dirty="0" err="1"/>
              <a:t>Sarson</a:t>
            </a:r>
            <a:r>
              <a:rPr lang="en-US" dirty="0"/>
              <a:t> 1979)</a:t>
            </a:r>
          </a:p>
          <a:p>
            <a:r>
              <a:rPr lang="en-US" dirty="0"/>
              <a:t>invented by Larry Constantine, the original developer of structured design, based on Martin and </a:t>
            </a:r>
            <a:r>
              <a:rPr lang="en-US" dirty="0" err="1"/>
              <a:t>Estrin’s</a:t>
            </a:r>
            <a:r>
              <a:rPr lang="en-US" dirty="0"/>
              <a:t> “data flow graph” model of computation </a:t>
            </a:r>
          </a:p>
          <a:p>
            <a:endParaRPr lang="en-US" dirty="0"/>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blinds(horizontal)">
                                      <p:cBhvr>
                                        <p:cTn id="11"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Flow Diagram</a:t>
            </a:r>
          </a:p>
        </p:txBody>
      </p:sp>
      <p:sp>
        <p:nvSpPr>
          <p:cNvPr id="3" name="Content Placeholder 2"/>
          <p:cNvSpPr>
            <a:spLocks noGrp="1"/>
          </p:cNvSpPr>
          <p:nvPr>
            <p:ph idx="1"/>
          </p:nvPr>
        </p:nvSpPr>
        <p:spPr>
          <a:xfrm>
            <a:off x="2380061" y="1884631"/>
            <a:ext cx="7429499" cy="3541714"/>
          </a:xfrm>
        </p:spPr>
        <p:txBody>
          <a:bodyPr/>
          <a:lstStyle/>
          <a:p>
            <a:r>
              <a:rPr lang="en-US" dirty="0"/>
              <a:t>DFD Conventions</a:t>
            </a:r>
          </a:p>
        </p:txBody>
      </p:sp>
      <p:grpSp>
        <p:nvGrpSpPr>
          <p:cNvPr id="7" name="Group 6"/>
          <p:cNvGrpSpPr/>
          <p:nvPr/>
        </p:nvGrpSpPr>
        <p:grpSpPr>
          <a:xfrm>
            <a:off x="4254506" y="4953001"/>
            <a:ext cx="1384294" cy="473345"/>
            <a:chOff x="2730506" y="4953000"/>
            <a:chExt cx="1384294" cy="473345"/>
          </a:xfrm>
        </p:grpSpPr>
        <p:cxnSp>
          <p:nvCxnSpPr>
            <p:cNvPr id="11" name="Straight Arrow Connector 10"/>
            <p:cNvCxnSpPr/>
            <p:nvPr/>
          </p:nvCxnSpPr>
          <p:spPr bwMode="auto">
            <a:xfrm>
              <a:off x="2730506" y="5426345"/>
              <a:ext cx="1384294" cy="0"/>
            </a:xfrm>
            <a:prstGeom prst="straightConnector1">
              <a:avLst/>
            </a:prstGeom>
            <a:solidFill>
              <a:schemeClr val="accent1"/>
            </a:solidFill>
            <a:ln w="57150" cap="flat" cmpd="sng" algn="ctr">
              <a:solidFill>
                <a:srgbClr val="FFC000"/>
              </a:solidFill>
              <a:prstDash val="solid"/>
              <a:round/>
              <a:headEnd type="none" w="med" len="med"/>
              <a:tailEnd type="arrow"/>
            </a:ln>
            <a:effectLst/>
          </p:spPr>
        </p:cxnSp>
        <p:sp>
          <p:nvSpPr>
            <p:cNvPr id="12" name="TextBox 11"/>
            <p:cNvSpPr txBox="1"/>
            <p:nvPr/>
          </p:nvSpPr>
          <p:spPr>
            <a:xfrm>
              <a:off x="2743200" y="4953000"/>
              <a:ext cx="1371600" cy="400110"/>
            </a:xfrm>
            <a:prstGeom prst="rect">
              <a:avLst/>
            </a:prstGeom>
            <a:noFill/>
          </p:spPr>
          <p:txBody>
            <a:bodyPr wrap="square" rtlCol="0">
              <a:spAutoFit/>
            </a:bodyPr>
            <a:lstStyle/>
            <a:p>
              <a:r>
                <a:rPr lang="en-US" sz="2000" b="1" dirty="0"/>
                <a:t>Data flow</a:t>
              </a:r>
            </a:p>
          </p:txBody>
        </p:sp>
      </p:grpSp>
      <p:grpSp>
        <p:nvGrpSpPr>
          <p:cNvPr id="6" name="Group 5"/>
          <p:cNvGrpSpPr/>
          <p:nvPr/>
        </p:nvGrpSpPr>
        <p:grpSpPr>
          <a:xfrm>
            <a:off x="6400800" y="2819400"/>
            <a:ext cx="1887140" cy="1447800"/>
            <a:chOff x="4876800" y="2819400"/>
            <a:chExt cx="1887140" cy="1447800"/>
          </a:xfrm>
        </p:grpSpPr>
        <p:sp>
          <p:nvSpPr>
            <p:cNvPr id="13" name="Rectangle 12"/>
            <p:cNvSpPr/>
            <p:nvPr/>
          </p:nvSpPr>
          <p:spPr bwMode="auto">
            <a:xfrm>
              <a:off x="4876800" y="2819400"/>
              <a:ext cx="1524000" cy="1447800"/>
            </a:xfrm>
            <a:prstGeom prst="rect">
              <a:avLst/>
            </a:prstGeom>
            <a:noFill/>
            <a:ln w="5715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a:latin typeface="Times New Roman" pitchFamily="18" charset="0"/>
              </a:endParaRPr>
            </a:p>
          </p:txBody>
        </p:sp>
        <p:sp>
          <p:nvSpPr>
            <p:cNvPr id="14" name="TextBox 13"/>
            <p:cNvSpPr txBox="1"/>
            <p:nvPr/>
          </p:nvSpPr>
          <p:spPr>
            <a:xfrm>
              <a:off x="4935140" y="3429000"/>
              <a:ext cx="1828800" cy="400110"/>
            </a:xfrm>
            <a:prstGeom prst="rect">
              <a:avLst/>
            </a:prstGeom>
            <a:noFill/>
          </p:spPr>
          <p:txBody>
            <a:bodyPr wrap="square" rtlCol="0">
              <a:spAutoFit/>
            </a:bodyPr>
            <a:lstStyle/>
            <a:p>
              <a:r>
                <a:rPr lang="en-US" sz="2000" b="1" dirty="0"/>
                <a:t>Source/sink</a:t>
              </a:r>
            </a:p>
          </p:txBody>
        </p:sp>
      </p:grpSp>
      <p:grpSp>
        <p:nvGrpSpPr>
          <p:cNvPr id="8" name="Group 7"/>
          <p:cNvGrpSpPr/>
          <p:nvPr/>
        </p:nvGrpSpPr>
        <p:grpSpPr>
          <a:xfrm>
            <a:off x="6475930" y="4953000"/>
            <a:ext cx="1753670" cy="685800"/>
            <a:chOff x="4951930" y="4953000"/>
            <a:chExt cx="1753670" cy="685800"/>
          </a:xfrm>
        </p:grpSpPr>
        <p:grpSp>
          <p:nvGrpSpPr>
            <p:cNvPr id="19" name="Group 18"/>
            <p:cNvGrpSpPr/>
            <p:nvPr/>
          </p:nvGrpSpPr>
          <p:grpSpPr>
            <a:xfrm>
              <a:off x="4951930" y="4953000"/>
              <a:ext cx="1600200" cy="685800"/>
              <a:chOff x="4572000" y="5257800"/>
              <a:chExt cx="1600200" cy="685800"/>
            </a:xfrm>
          </p:grpSpPr>
          <p:cxnSp>
            <p:nvCxnSpPr>
              <p:cNvPr id="16" name="Straight Connector 15"/>
              <p:cNvCxnSpPr/>
              <p:nvPr/>
            </p:nvCxnSpPr>
            <p:spPr bwMode="auto">
              <a:xfrm>
                <a:off x="4572000" y="5257800"/>
                <a:ext cx="1600200" cy="0"/>
              </a:xfrm>
              <a:prstGeom prst="line">
                <a:avLst/>
              </a:prstGeom>
              <a:solidFill>
                <a:schemeClr val="accent1"/>
              </a:solidFill>
              <a:ln w="57150" cap="flat" cmpd="sng" algn="ctr">
                <a:solidFill>
                  <a:srgbClr val="FFC000"/>
                </a:solidFill>
                <a:prstDash val="solid"/>
                <a:round/>
                <a:headEnd type="none" w="med" len="med"/>
                <a:tailEnd type="none" w="med" len="med"/>
              </a:ln>
              <a:effectLst/>
            </p:spPr>
          </p:cxnSp>
          <p:cxnSp>
            <p:nvCxnSpPr>
              <p:cNvPr id="17" name="Straight Connector 16"/>
              <p:cNvCxnSpPr/>
              <p:nvPr/>
            </p:nvCxnSpPr>
            <p:spPr bwMode="auto">
              <a:xfrm>
                <a:off x="4572000" y="5943600"/>
                <a:ext cx="1600200" cy="0"/>
              </a:xfrm>
              <a:prstGeom prst="line">
                <a:avLst/>
              </a:prstGeom>
              <a:solidFill>
                <a:schemeClr val="accent1"/>
              </a:solidFill>
              <a:ln w="57150" cap="flat" cmpd="sng" algn="ctr">
                <a:solidFill>
                  <a:srgbClr val="FFC000"/>
                </a:solidFill>
                <a:prstDash val="solid"/>
                <a:round/>
                <a:headEnd type="none" w="med" len="med"/>
                <a:tailEnd type="none" w="med" len="med"/>
              </a:ln>
              <a:effectLst/>
            </p:spPr>
          </p:cxnSp>
          <p:sp>
            <p:nvSpPr>
              <p:cNvPr id="18" name="Rectangle 17"/>
              <p:cNvSpPr/>
              <p:nvPr/>
            </p:nvSpPr>
            <p:spPr bwMode="auto">
              <a:xfrm>
                <a:off x="4572000" y="5257800"/>
                <a:ext cx="381000" cy="685800"/>
              </a:xfrm>
              <a:prstGeom prst="rect">
                <a:avLst/>
              </a:prstGeom>
              <a:noFill/>
              <a:ln w="5715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a:latin typeface="Times New Roman" pitchFamily="18" charset="0"/>
                </a:endParaRPr>
              </a:p>
            </p:txBody>
          </p:sp>
        </p:grpSp>
        <p:sp>
          <p:nvSpPr>
            <p:cNvPr id="20" name="TextBox 19"/>
            <p:cNvSpPr txBox="1"/>
            <p:nvPr/>
          </p:nvSpPr>
          <p:spPr>
            <a:xfrm>
              <a:off x="5334000" y="5095845"/>
              <a:ext cx="1371600" cy="400110"/>
            </a:xfrm>
            <a:prstGeom prst="rect">
              <a:avLst/>
            </a:prstGeom>
            <a:noFill/>
          </p:spPr>
          <p:txBody>
            <a:bodyPr wrap="square" rtlCol="0">
              <a:spAutoFit/>
            </a:bodyPr>
            <a:lstStyle/>
            <a:p>
              <a:r>
                <a:rPr lang="en-US" sz="2000" b="1" dirty="0"/>
                <a:t>Data store</a:t>
              </a:r>
            </a:p>
          </p:txBody>
        </p:sp>
      </p:grpSp>
      <p:grpSp>
        <p:nvGrpSpPr>
          <p:cNvPr id="5" name="Group 4"/>
          <p:cNvGrpSpPr/>
          <p:nvPr/>
        </p:nvGrpSpPr>
        <p:grpSpPr>
          <a:xfrm>
            <a:off x="4038600" y="2836422"/>
            <a:ext cx="1676400" cy="1714620"/>
            <a:chOff x="2514600" y="2836422"/>
            <a:chExt cx="1676400" cy="1714620"/>
          </a:xfrm>
        </p:grpSpPr>
        <p:sp>
          <p:nvSpPr>
            <p:cNvPr id="9" name="TextBox 8"/>
            <p:cNvSpPr txBox="1"/>
            <p:nvPr/>
          </p:nvSpPr>
          <p:spPr>
            <a:xfrm>
              <a:off x="2819400" y="3429000"/>
              <a:ext cx="1371600" cy="400110"/>
            </a:xfrm>
            <a:prstGeom prst="rect">
              <a:avLst/>
            </a:prstGeom>
            <a:noFill/>
          </p:spPr>
          <p:txBody>
            <a:bodyPr wrap="square" rtlCol="0">
              <a:spAutoFit/>
            </a:bodyPr>
            <a:lstStyle/>
            <a:p>
              <a:r>
                <a:rPr lang="en-US" sz="2000" b="1" dirty="0"/>
                <a:t>Process</a:t>
              </a:r>
            </a:p>
          </p:txBody>
        </p:sp>
        <p:sp>
          <p:nvSpPr>
            <p:cNvPr id="4" name="Oval 3"/>
            <p:cNvSpPr/>
            <p:nvPr/>
          </p:nvSpPr>
          <p:spPr>
            <a:xfrm>
              <a:off x="2514600" y="2836422"/>
              <a:ext cx="1676400" cy="1714620"/>
            </a:xfrm>
            <a:prstGeom prst="ellipse">
              <a:avLst/>
            </a:prstGeom>
            <a:noFill/>
            <a:ln w="476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TextBox 21"/>
          <p:cNvSpPr txBox="1"/>
          <p:nvPr/>
        </p:nvSpPr>
        <p:spPr>
          <a:xfrm>
            <a:off x="4254506" y="6219735"/>
            <a:ext cx="3733800" cy="523220"/>
          </a:xfrm>
          <a:prstGeom prst="rect">
            <a:avLst/>
          </a:prstGeom>
          <a:noFill/>
        </p:spPr>
        <p:txBody>
          <a:bodyPr wrap="square" rtlCol="0">
            <a:spAutoFit/>
          </a:bodyPr>
          <a:lstStyle/>
          <a:p>
            <a:r>
              <a:rPr lang="en-US" sz="2800" b="1" dirty="0"/>
              <a:t>Yourdon/DeMarco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barn(inVertical)">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barn(inVertical)">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barn(inVertical)">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barn(inVertical)">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1000"/>
                                        <p:tgtEl>
                                          <p:spTgt spid="22"/>
                                        </p:tgtEl>
                                      </p:cBhvr>
                                    </p:animEffect>
                                    <p:anim calcmode="lin" valueType="num">
                                      <p:cBhvr>
                                        <p:cTn id="35" dur="1000" fill="hold"/>
                                        <p:tgtEl>
                                          <p:spTgt spid="22"/>
                                        </p:tgtEl>
                                        <p:attrNameLst>
                                          <p:attrName>ppt_x</p:attrName>
                                        </p:attrNameLst>
                                      </p:cBhvr>
                                      <p:tavLst>
                                        <p:tav tm="0">
                                          <p:val>
                                            <p:strVal val="#ppt_x"/>
                                          </p:val>
                                        </p:tav>
                                        <p:tav tm="100000">
                                          <p:val>
                                            <p:strVal val="#ppt_x"/>
                                          </p:val>
                                        </p:tav>
                                      </p:tavLst>
                                    </p:anim>
                                    <p:anim calcmode="lin" valueType="num">
                                      <p:cBhvr>
                                        <p:cTn id="36"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Flow Diagram</a:t>
            </a:r>
          </a:p>
        </p:txBody>
      </p:sp>
      <p:sp>
        <p:nvSpPr>
          <p:cNvPr id="3" name="Content Placeholder 2"/>
          <p:cNvSpPr>
            <a:spLocks noGrp="1"/>
          </p:cNvSpPr>
          <p:nvPr>
            <p:ph idx="1"/>
          </p:nvPr>
        </p:nvSpPr>
        <p:spPr/>
        <p:txBody>
          <a:bodyPr>
            <a:normAutofit/>
          </a:bodyPr>
          <a:lstStyle/>
          <a:p>
            <a:r>
              <a:rPr lang="en-US" dirty="0"/>
              <a:t>Steps in developing DFDs</a:t>
            </a:r>
          </a:p>
          <a:p>
            <a:pPr marL="971550" lvl="1" indent="-514350">
              <a:buFont typeface="+mj-lt"/>
              <a:buAutoNum type="arabicPeriod"/>
            </a:pPr>
            <a:r>
              <a:rPr lang="en-US" dirty="0"/>
              <a:t>Make a list of business activities and use it to determine various data flows, processes, data stores, and sources/sinks.</a:t>
            </a:r>
          </a:p>
          <a:p>
            <a:pPr marL="971550" lvl="1" indent="-514350">
              <a:buFont typeface="+mj-lt"/>
              <a:buAutoNum type="arabicPeriod"/>
            </a:pPr>
            <a:r>
              <a:rPr lang="en-US" dirty="0"/>
              <a:t>Create a context diagram that shows sources/sinks and data flows to and from the system.  </a:t>
            </a:r>
          </a:p>
          <a:p>
            <a:pPr marL="971550" lvl="1" indent="-514350">
              <a:buFont typeface="+mj-lt"/>
              <a:buAutoNum type="arabicPeriod"/>
            </a:pPr>
            <a:r>
              <a:rPr lang="en-US" dirty="0"/>
              <a:t>Draw Diagram 0 (or Level 1), the next level.  Show processes, but keep them general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blinds(horizontal)">
                                      <p:cBhvr>
                                        <p:cTn id="14" dur="500"/>
                                        <p:tgtEl>
                                          <p:spTgt spid="3">
                                            <p:txEl>
                                              <p:pRg st="1" end="1"/>
                                            </p:txEl>
                                          </p:spTgt>
                                        </p:tgtEl>
                                      </p:cBhvr>
                                    </p:animEffect>
                                  </p:childTnLst>
                                </p:cTn>
                              </p:par>
                              <p:par>
                                <p:cTn id="15" presetID="3" presetClass="entr" presetSubtype="1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blinds(horizontal)">
                                      <p:cBhvr>
                                        <p:cTn id="2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Flow Diagram</a:t>
            </a:r>
          </a:p>
        </p:txBody>
      </p:sp>
      <p:sp>
        <p:nvSpPr>
          <p:cNvPr id="3" name="Content Placeholder 2"/>
          <p:cNvSpPr>
            <a:spLocks noGrp="1"/>
          </p:cNvSpPr>
          <p:nvPr>
            <p:ph idx="1"/>
          </p:nvPr>
        </p:nvSpPr>
        <p:spPr/>
        <p:txBody>
          <a:bodyPr>
            <a:normAutofit/>
          </a:bodyPr>
          <a:lstStyle/>
          <a:p>
            <a:pPr marL="971550" lvl="1" indent="-514350">
              <a:buFont typeface="+mj-lt"/>
              <a:buAutoNum type="arabicPeriod" startAt="4"/>
            </a:pPr>
            <a:endParaRPr lang="en-US" dirty="0"/>
          </a:p>
          <a:p>
            <a:pPr marL="971550" lvl="1" indent="-514350">
              <a:buFont typeface="+mj-lt"/>
              <a:buAutoNum type="arabicPeriod" startAt="4"/>
            </a:pPr>
            <a:r>
              <a:rPr lang="en-US" dirty="0"/>
              <a:t>Create a child diagram for each of the processes in Diagram 0 (or Level 1).</a:t>
            </a:r>
          </a:p>
          <a:p>
            <a:pPr marL="971550" lvl="1" indent="-514350">
              <a:buFont typeface="+mj-lt"/>
              <a:buAutoNum type="arabicPeriod" startAt="4"/>
            </a:pPr>
            <a:r>
              <a:rPr lang="en-US" dirty="0"/>
              <a:t>Check for errors and make sure the labels you assign to each process and data flow are meaningful.</a:t>
            </a:r>
          </a:p>
          <a:p>
            <a:pPr marL="971550" lvl="1" indent="-514350">
              <a:buFont typeface="+mj-lt"/>
              <a:buAutoNum type="arabicPeriod" startAt="4"/>
            </a:pPr>
            <a:r>
              <a:rPr lang="en-US" dirty="0"/>
              <a:t>Develop a physical data flow diagram from the logical data flow diagram. </a:t>
            </a:r>
          </a:p>
          <a:p>
            <a:pPr marL="971550" lvl="1" indent="-514350">
              <a:buFont typeface="+mj-lt"/>
              <a:buAutoNum type="arabicPeriod" startAt="7"/>
            </a:pPr>
            <a:r>
              <a:rPr lang="en-US" dirty="0"/>
              <a:t>Partition the physical data flow diagram by separating or grouping parts of the diagram in order to facilitate programming and implementation. </a:t>
            </a:r>
          </a:p>
          <a:p>
            <a:pPr marL="971550" lvl="1" indent="-514350">
              <a:buFont typeface="+mj-lt"/>
              <a:buAutoNum type="arabicPeriod" startAt="4"/>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2778125" y="1981200"/>
            <a:ext cx="7772400" cy="4114800"/>
          </a:xfrm>
          <a:prstGeom prst="rect">
            <a:avLst/>
          </a:prstGeom>
        </p:spPr>
        <p:txBody>
          <a:bodyPr/>
          <a:lstStyle/>
          <a:p>
            <a:pPr marL="342900" indent="-342900" fontAlgn="base">
              <a:spcBef>
                <a:spcPct val="20000"/>
              </a:spcBef>
              <a:spcAft>
                <a:spcPct val="0"/>
              </a:spcAft>
              <a:buClr>
                <a:schemeClr val="tx2"/>
              </a:buClr>
              <a:buFontTx/>
              <a:buChar char="•"/>
              <a:defRPr/>
            </a:pPr>
            <a:r>
              <a:rPr lang="en-US" sz="3200" kern="0" dirty="0"/>
              <a:t>Level 0 : Context Diagram</a:t>
            </a:r>
          </a:p>
        </p:txBody>
      </p:sp>
      <p:sp>
        <p:nvSpPr>
          <p:cNvPr id="31" name="Title 30"/>
          <p:cNvSpPr>
            <a:spLocks noGrp="1"/>
          </p:cNvSpPr>
          <p:nvPr>
            <p:ph type="title"/>
          </p:nvPr>
        </p:nvSpPr>
        <p:spPr/>
        <p:txBody>
          <a:bodyPr/>
          <a:lstStyle/>
          <a:p>
            <a:r>
              <a:rPr lang="en-US" dirty="0"/>
              <a:t>Data Flow Diagram</a:t>
            </a:r>
          </a:p>
        </p:txBody>
      </p:sp>
      <p:grpSp>
        <p:nvGrpSpPr>
          <p:cNvPr id="2" name="Group 1"/>
          <p:cNvGrpSpPr/>
          <p:nvPr/>
        </p:nvGrpSpPr>
        <p:grpSpPr>
          <a:xfrm>
            <a:off x="2884312" y="2667001"/>
            <a:ext cx="6716889" cy="3934599"/>
            <a:chOff x="1360311" y="2667000"/>
            <a:chExt cx="6716889" cy="3934599"/>
          </a:xfrm>
        </p:grpSpPr>
        <p:grpSp>
          <p:nvGrpSpPr>
            <p:cNvPr id="60" name="Group 59"/>
            <p:cNvGrpSpPr/>
            <p:nvPr/>
          </p:nvGrpSpPr>
          <p:grpSpPr>
            <a:xfrm>
              <a:off x="1360311" y="2667000"/>
              <a:ext cx="6716889" cy="3934599"/>
              <a:chOff x="1295400" y="2895600"/>
              <a:chExt cx="6716889" cy="3934599"/>
            </a:xfrm>
          </p:grpSpPr>
          <p:sp>
            <p:nvSpPr>
              <p:cNvPr id="26" name="TextBox 25"/>
              <p:cNvSpPr txBox="1"/>
              <p:nvPr/>
            </p:nvSpPr>
            <p:spPr>
              <a:xfrm>
                <a:off x="3825522" y="5552758"/>
                <a:ext cx="1728611" cy="923330"/>
              </a:xfrm>
              <a:prstGeom prst="rect">
                <a:avLst/>
              </a:prstGeom>
              <a:noFill/>
            </p:spPr>
            <p:txBody>
              <a:bodyPr wrap="square" rtlCol="0">
                <a:spAutoFit/>
              </a:bodyPr>
              <a:lstStyle/>
              <a:p>
                <a:pPr algn="ctr"/>
                <a:r>
                  <a:rPr lang="en-US" dirty="0">
                    <a:ln w="18415" cmpd="sng">
                      <a:noFill/>
                      <a:prstDash val="solid"/>
                    </a:ln>
                    <a:effectLst>
                      <a:outerShdw blurRad="63500" dir="3600000" algn="tl" rotWithShape="0">
                        <a:srgbClr val="000000">
                          <a:alpha val="70000"/>
                        </a:srgbClr>
                      </a:outerShdw>
                    </a:effectLst>
                  </a:rPr>
                  <a:t>Library</a:t>
                </a:r>
              </a:p>
              <a:p>
                <a:pPr algn="ctr"/>
                <a:r>
                  <a:rPr lang="en-US" dirty="0">
                    <a:ln w="18415" cmpd="sng">
                      <a:noFill/>
                      <a:prstDash val="solid"/>
                    </a:ln>
                    <a:effectLst>
                      <a:outerShdw blurRad="63500" dir="3600000" algn="tl" rotWithShape="0">
                        <a:srgbClr val="000000">
                          <a:alpha val="70000"/>
                        </a:srgbClr>
                      </a:outerShdw>
                    </a:effectLst>
                  </a:rPr>
                  <a:t>Database</a:t>
                </a:r>
              </a:p>
              <a:p>
                <a:pPr algn="ctr"/>
                <a:r>
                  <a:rPr lang="en-US" dirty="0">
                    <a:ln w="18415" cmpd="sng">
                      <a:noFill/>
                      <a:prstDash val="solid"/>
                    </a:ln>
                    <a:effectLst>
                      <a:outerShdw blurRad="63500" dir="3600000" algn="tl" rotWithShape="0">
                        <a:srgbClr val="000000">
                          <a:alpha val="70000"/>
                        </a:srgbClr>
                      </a:outerShdw>
                    </a:effectLst>
                  </a:rPr>
                  <a:t>System</a:t>
                </a:r>
              </a:p>
            </p:txBody>
          </p:sp>
          <p:grpSp>
            <p:nvGrpSpPr>
              <p:cNvPr id="8" name="Group 20"/>
              <p:cNvGrpSpPr/>
              <p:nvPr/>
            </p:nvGrpSpPr>
            <p:grpSpPr>
              <a:xfrm>
                <a:off x="1295400" y="2895600"/>
                <a:ext cx="1382889" cy="1244600"/>
                <a:chOff x="1295400" y="2971800"/>
                <a:chExt cx="1524000" cy="1447800"/>
              </a:xfrm>
            </p:grpSpPr>
            <p:sp>
              <p:nvSpPr>
                <p:cNvPr id="23" name="Rectangle 22"/>
                <p:cNvSpPr/>
                <p:nvPr/>
              </p:nvSpPr>
              <p:spPr bwMode="auto">
                <a:xfrm>
                  <a:off x="1295400" y="2971800"/>
                  <a:ext cx="1524000" cy="1447800"/>
                </a:xfrm>
                <a:prstGeom prst="rect">
                  <a:avLst/>
                </a:prstGeom>
                <a:noFill/>
                <a:ln w="5715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a:ln w="18415" cmpd="sng">
                      <a:solidFill>
                        <a:srgbClr val="FFFFFF"/>
                      </a:solidFill>
                      <a:prstDash val="solid"/>
                    </a:ln>
                    <a:effectLst>
                      <a:outerShdw blurRad="63500" dir="3600000" algn="tl" rotWithShape="0">
                        <a:srgbClr val="000000">
                          <a:alpha val="70000"/>
                        </a:srgbClr>
                      </a:outerShdw>
                    </a:effectLst>
                    <a:latin typeface="Times New Roman" pitchFamily="18" charset="0"/>
                  </a:endParaRPr>
                </a:p>
              </p:txBody>
            </p:sp>
            <p:sp>
              <p:nvSpPr>
                <p:cNvPr id="24" name="TextBox 23"/>
                <p:cNvSpPr txBox="1"/>
                <p:nvPr/>
              </p:nvSpPr>
              <p:spPr>
                <a:xfrm>
                  <a:off x="1295400" y="3352800"/>
                  <a:ext cx="1524000" cy="429631"/>
                </a:xfrm>
                <a:prstGeom prst="rect">
                  <a:avLst/>
                </a:prstGeom>
                <a:noFill/>
                <a:effectLst/>
              </p:spPr>
              <p:txBody>
                <a:bodyPr wrap="square" rtlCol="0">
                  <a:spAutoFit/>
                </a:bodyPr>
                <a:lstStyle/>
                <a:p>
                  <a:pPr algn="ctr"/>
                  <a:r>
                    <a:rPr lang="en-US" dirty="0">
                      <a:ln w="18415" cmpd="sng">
                        <a:noFill/>
                        <a:prstDash val="solid"/>
                      </a:ln>
                      <a:effectLst>
                        <a:outerShdw blurRad="63500" dir="3600000" algn="tl" rotWithShape="0">
                          <a:srgbClr val="000000">
                            <a:alpha val="70000"/>
                          </a:srgbClr>
                        </a:outerShdw>
                      </a:effectLst>
                    </a:rPr>
                    <a:t>Borrower</a:t>
                  </a:r>
                </a:p>
              </p:txBody>
            </p:sp>
          </p:grpSp>
          <p:grpSp>
            <p:nvGrpSpPr>
              <p:cNvPr id="9" name="Group 22"/>
              <p:cNvGrpSpPr/>
              <p:nvPr/>
            </p:nvGrpSpPr>
            <p:grpSpPr>
              <a:xfrm>
                <a:off x="6629400" y="2946400"/>
                <a:ext cx="1382889" cy="1244600"/>
                <a:chOff x="6553200" y="3657600"/>
                <a:chExt cx="1524000" cy="1447800"/>
              </a:xfrm>
            </p:grpSpPr>
            <p:sp>
              <p:nvSpPr>
                <p:cNvPr id="21" name="Rectangle 20"/>
                <p:cNvSpPr/>
                <p:nvPr/>
              </p:nvSpPr>
              <p:spPr bwMode="auto">
                <a:xfrm>
                  <a:off x="6553200" y="3657600"/>
                  <a:ext cx="1524000" cy="1447800"/>
                </a:xfrm>
                <a:prstGeom prst="rect">
                  <a:avLst/>
                </a:prstGeom>
                <a:noFill/>
                <a:ln w="5715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a:ln w="18415" cmpd="sng">
                      <a:solidFill>
                        <a:srgbClr val="FFFFFF"/>
                      </a:solidFill>
                      <a:prstDash val="solid"/>
                    </a:ln>
                    <a:effectLst>
                      <a:outerShdw blurRad="63500" dir="3600000" algn="tl" rotWithShape="0">
                        <a:srgbClr val="000000">
                          <a:alpha val="70000"/>
                        </a:srgbClr>
                      </a:outerShdw>
                    </a:effectLst>
                    <a:latin typeface="Times New Roman" pitchFamily="18" charset="0"/>
                  </a:endParaRPr>
                </a:p>
              </p:txBody>
            </p:sp>
            <p:sp>
              <p:nvSpPr>
                <p:cNvPr id="22" name="TextBox 21"/>
                <p:cNvSpPr txBox="1"/>
                <p:nvPr/>
              </p:nvSpPr>
              <p:spPr>
                <a:xfrm>
                  <a:off x="6553200" y="4012163"/>
                  <a:ext cx="1524000" cy="429631"/>
                </a:xfrm>
                <a:prstGeom prst="rect">
                  <a:avLst/>
                </a:prstGeom>
                <a:noFill/>
              </p:spPr>
              <p:txBody>
                <a:bodyPr wrap="square" rtlCol="0">
                  <a:spAutoFit/>
                </a:bodyPr>
                <a:lstStyle/>
                <a:p>
                  <a:pPr algn="ctr"/>
                  <a:r>
                    <a:rPr lang="en-US" dirty="0">
                      <a:ln w="18415" cmpd="sng">
                        <a:noFill/>
                        <a:prstDash val="solid"/>
                      </a:ln>
                      <a:effectLst>
                        <a:outerShdw blurRad="63500" dir="3600000" algn="tl" rotWithShape="0">
                          <a:srgbClr val="000000">
                            <a:alpha val="70000"/>
                          </a:srgbClr>
                        </a:outerShdw>
                      </a:effectLst>
                    </a:rPr>
                    <a:t>Books</a:t>
                  </a:r>
                </a:p>
              </p:txBody>
            </p:sp>
          </p:grpSp>
          <p:sp>
            <p:nvSpPr>
              <p:cNvPr id="16" name="TextBox 15"/>
              <p:cNvSpPr txBox="1"/>
              <p:nvPr/>
            </p:nvSpPr>
            <p:spPr>
              <a:xfrm>
                <a:off x="2122310" y="5398869"/>
                <a:ext cx="1382889" cy="646331"/>
              </a:xfrm>
              <a:prstGeom prst="rect">
                <a:avLst/>
              </a:prstGeom>
              <a:noFill/>
            </p:spPr>
            <p:txBody>
              <a:bodyPr wrap="square" rtlCol="0">
                <a:spAutoFit/>
              </a:bodyPr>
              <a:lstStyle/>
              <a:p>
                <a:pPr algn="ctr"/>
                <a:r>
                  <a:rPr lang="en-US" dirty="0">
                    <a:ln w="18415" cmpd="sng">
                      <a:noFill/>
                      <a:prstDash val="solid"/>
                    </a:ln>
                    <a:effectLst>
                      <a:outerShdw blurRad="63500" dir="3600000" algn="tl" rotWithShape="0">
                        <a:srgbClr val="000000">
                          <a:alpha val="70000"/>
                        </a:srgbClr>
                      </a:outerShdw>
                    </a:effectLst>
                  </a:rPr>
                  <a:t>Loaned Details</a:t>
                </a:r>
              </a:p>
            </p:txBody>
          </p:sp>
          <p:sp>
            <p:nvSpPr>
              <p:cNvPr id="33" name="TextBox 32"/>
              <p:cNvSpPr txBox="1"/>
              <p:nvPr/>
            </p:nvSpPr>
            <p:spPr>
              <a:xfrm>
                <a:off x="3962400" y="5105400"/>
                <a:ext cx="1382889" cy="369332"/>
              </a:xfrm>
              <a:prstGeom prst="rect">
                <a:avLst/>
              </a:prstGeom>
              <a:noFill/>
            </p:spPr>
            <p:txBody>
              <a:bodyPr wrap="square" rtlCol="0">
                <a:spAutoFit/>
              </a:bodyPr>
              <a:lstStyle/>
              <a:p>
                <a:pPr algn="ctr"/>
                <a:r>
                  <a:rPr lang="en-US" dirty="0">
                    <a:ln w="18415" cmpd="sng">
                      <a:noFill/>
                      <a:prstDash val="solid"/>
                    </a:ln>
                    <a:effectLst>
                      <a:outerShdw blurRad="63500" dir="3600000" algn="tl" rotWithShape="0">
                        <a:srgbClr val="000000">
                          <a:alpha val="70000"/>
                        </a:srgbClr>
                      </a:outerShdw>
                    </a:effectLst>
                  </a:rPr>
                  <a:t>0.0</a:t>
                </a:r>
              </a:p>
            </p:txBody>
          </p:sp>
          <p:cxnSp>
            <p:nvCxnSpPr>
              <p:cNvPr id="35" name="Shape 34"/>
              <p:cNvCxnSpPr>
                <a:endCxn id="21" idx="2"/>
              </p:cNvCxnSpPr>
              <p:nvPr/>
            </p:nvCxnSpPr>
            <p:spPr bwMode="auto">
              <a:xfrm flipV="1">
                <a:off x="5482166" y="4191000"/>
                <a:ext cx="1838679" cy="1592209"/>
              </a:xfrm>
              <a:prstGeom prst="bentConnector2">
                <a:avLst/>
              </a:prstGeom>
              <a:solidFill>
                <a:schemeClr val="accent1"/>
              </a:solidFill>
              <a:ln w="38100" cap="flat" cmpd="sng" algn="ctr">
                <a:solidFill>
                  <a:srgbClr val="FF0000"/>
                </a:solidFill>
                <a:prstDash val="solid"/>
                <a:round/>
                <a:headEnd type="none" w="med" len="med"/>
                <a:tailEnd type="arrow"/>
              </a:ln>
              <a:effectLst/>
            </p:spPr>
          </p:cxnSp>
          <p:cxnSp>
            <p:nvCxnSpPr>
              <p:cNvPr id="37" name="Shape 36"/>
              <p:cNvCxnSpPr>
                <a:endCxn id="23" idx="2"/>
              </p:cNvCxnSpPr>
              <p:nvPr/>
            </p:nvCxnSpPr>
            <p:spPr bwMode="auto">
              <a:xfrm rot="10800000">
                <a:off x="1986846" y="4140201"/>
                <a:ext cx="1838677" cy="1603071"/>
              </a:xfrm>
              <a:prstGeom prst="bentConnector2">
                <a:avLst/>
              </a:prstGeom>
              <a:solidFill>
                <a:schemeClr val="accent1"/>
              </a:solidFill>
              <a:ln w="38100" cap="flat" cmpd="sng" algn="ctr">
                <a:solidFill>
                  <a:srgbClr val="FF0000"/>
                </a:solidFill>
                <a:prstDash val="solid"/>
                <a:round/>
                <a:headEnd type="none" w="med" len="med"/>
                <a:tailEnd type="arrow"/>
              </a:ln>
              <a:effectLst/>
            </p:spPr>
          </p:cxnSp>
          <p:cxnSp>
            <p:nvCxnSpPr>
              <p:cNvPr id="48" name="Straight Arrow Connector 47"/>
              <p:cNvCxnSpPr/>
              <p:nvPr/>
            </p:nvCxnSpPr>
            <p:spPr bwMode="auto">
              <a:xfrm>
                <a:off x="1676400" y="6096000"/>
                <a:ext cx="2149122" cy="0"/>
              </a:xfrm>
              <a:prstGeom prst="straightConnector1">
                <a:avLst/>
              </a:prstGeom>
              <a:solidFill>
                <a:schemeClr val="accent1"/>
              </a:solidFill>
              <a:ln w="38100" cap="flat" cmpd="sng" algn="ctr">
                <a:solidFill>
                  <a:srgbClr val="FF0000"/>
                </a:solidFill>
                <a:prstDash val="solid"/>
                <a:round/>
                <a:headEnd type="none" w="med" len="med"/>
                <a:tailEnd type="arrow"/>
              </a:ln>
              <a:effectLst/>
            </p:spPr>
          </p:cxnSp>
          <p:cxnSp>
            <p:nvCxnSpPr>
              <p:cNvPr id="50" name="Straight Arrow Connector 49"/>
              <p:cNvCxnSpPr/>
              <p:nvPr/>
            </p:nvCxnSpPr>
            <p:spPr bwMode="auto">
              <a:xfrm flipH="1">
                <a:off x="5488741" y="6096000"/>
                <a:ext cx="2207459" cy="0"/>
              </a:xfrm>
              <a:prstGeom prst="straightConnector1">
                <a:avLst/>
              </a:prstGeom>
              <a:solidFill>
                <a:schemeClr val="accent1"/>
              </a:solidFill>
              <a:ln w="38100" cap="flat" cmpd="sng" algn="ctr">
                <a:solidFill>
                  <a:srgbClr val="FF0000"/>
                </a:solidFill>
                <a:prstDash val="solid"/>
                <a:round/>
                <a:headEnd type="none" w="med" len="med"/>
                <a:tailEnd type="arrow"/>
              </a:ln>
              <a:effectLst/>
            </p:spPr>
          </p:cxnSp>
          <p:cxnSp>
            <p:nvCxnSpPr>
              <p:cNvPr id="52" name="Straight Connector 51"/>
              <p:cNvCxnSpPr/>
              <p:nvPr/>
            </p:nvCxnSpPr>
            <p:spPr bwMode="auto">
              <a:xfrm flipV="1">
                <a:off x="7696200" y="4191000"/>
                <a:ext cx="0" cy="1905000"/>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56" name="Straight Connector 55"/>
              <p:cNvCxnSpPr/>
              <p:nvPr/>
            </p:nvCxnSpPr>
            <p:spPr bwMode="auto">
              <a:xfrm flipV="1">
                <a:off x="1676400" y="4191000"/>
                <a:ext cx="0" cy="1905000"/>
              </a:xfrm>
              <a:prstGeom prst="line">
                <a:avLst/>
              </a:prstGeom>
              <a:solidFill>
                <a:schemeClr val="accent1"/>
              </a:solidFill>
              <a:ln w="38100" cap="flat" cmpd="sng" algn="ctr">
                <a:solidFill>
                  <a:srgbClr val="FF0000"/>
                </a:solidFill>
                <a:prstDash val="solid"/>
                <a:round/>
                <a:headEnd type="none" w="med" len="med"/>
                <a:tailEnd type="none" w="med" len="med"/>
              </a:ln>
              <a:effectLst/>
            </p:spPr>
          </p:cxnSp>
          <p:sp>
            <p:nvSpPr>
              <p:cNvPr id="57" name="TextBox 56"/>
              <p:cNvSpPr txBox="1"/>
              <p:nvPr/>
            </p:nvSpPr>
            <p:spPr>
              <a:xfrm>
                <a:off x="5545184" y="5449669"/>
                <a:ext cx="1600200" cy="646331"/>
              </a:xfrm>
              <a:prstGeom prst="rect">
                <a:avLst/>
              </a:prstGeom>
              <a:noFill/>
            </p:spPr>
            <p:txBody>
              <a:bodyPr wrap="square" rtlCol="0">
                <a:spAutoFit/>
              </a:bodyPr>
              <a:lstStyle/>
              <a:p>
                <a:pPr algn="ctr"/>
                <a:r>
                  <a:rPr lang="en-US" dirty="0">
                    <a:ln w="18415" cmpd="sng">
                      <a:noFill/>
                      <a:prstDash val="solid"/>
                    </a:ln>
                    <a:effectLst>
                      <a:outerShdw blurRad="63500" dir="3600000" algn="tl" rotWithShape="0">
                        <a:srgbClr val="000000">
                          <a:alpha val="70000"/>
                        </a:srgbClr>
                      </a:outerShdw>
                    </a:effectLst>
                  </a:rPr>
                  <a:t>Search Request</a:t>
                </a:r>
              </a:p>
            </p:txBody>
          </p:sp>
          <p:sp>
            <p:nvSpPr>
              <p:cNvPr id="58" name="TextBox 57"/>
              <p:cNvSpPr txBox="1"/>
              <p:nvPr/>
            </p:nvSpPr>
            <p:spPr>
              <a:xfrm>
                <a:off x="2122311" y="6183868"/>
                <a:ext cx="1382889" cy="646331"/>
              </a:xfrm>
              <a:prstGeom prst="rect">
                <a:avLst/>
              </a:prstGeom>
              <a:noFill/>
            </p:spPr>
            <p:txBody>
              <a:bodyPr wrap="square" rtlCol="0">
                <a:spAutoFit/>
              </a:bodyPr>
              <a:lstStyle/>
              <a:p>
                <a:pPr algn="ctr"/>
                <a:r>
                  <a:rPr lang="en-US" dirty="0">
                    <a:ln w="18415" cmpd="sng">
                      <a:noFill/>
                      <a:prstDash val="solid"/>
                    </a:ln>
                    <a:effectLst>
                      <a:outerShdw blurRad="63500" dir="3600000" algn="tl" rotWithShape="0">
                        <a:srgbClr val="000000">
                          <a:alpha val="70000"/>
                        </a:srgbClr>
                      </a:outerShdw>
                    </a:effectLst>
                  </a:rPr>
                  <a:t>Borrowed Details</a:t>
                </a:r>
              </a:p>
            </p:txBody>
          </p:sp>
          <p:sp>
            <p:nvSpPr>
              <p:cNvPr id="59" name="TextBox 58"/>
              <p:cNvSpPr txBox="1"/>
              <p:nvPr/>
            </p:nvSpPr>
            <p:spPr>
              <a:xfrm>
                <a:off x="5715000" y="6172200"/>
                <a:ext cx="1382889" cy="369332"/>
              </a:xfrm>
              <a:prstGeom prst="rect">
                <a:avLst/>
              </a:prstGeom>
              <a:noFill/>
            </p:spPr>
            <p:txBody>
              <a:bodyPr wrap="square" rtlCol="0">
                <a:spAutoFit/>
              </a:bodyPr>
              <a:lstStyle/>
              <a:p>
                <a:pPr algn="ctr"/>
                <a:r>
                  <a:rPr lang="en-US" dirty="0">
                    <a:ln w="18415" cmpd="sng">
                      <a:noFill/>
                      <a:prstDash val="solid"/>
                    </a:ln>
                    <a:effectLst>
                      <a:outerShdw blurRad="63500" dir="3600000" algn="tl" rotWithShape="0">
                        <a:srgbClr val="000000">
                          <a:alpha val="70000"/>
                        </a:srgbClr>
                      </a:outerShdw>
                    </a:effectLst>
                  </a:rPr>
                  <a:t>Book Status</a:t>
                </a:r>
              </a:p>
            </p:txBody>
          </p:sp>
        </p:grpSp>
        <p:sp>
          <p:nvSpPr>
            <p:cNvPr id="29" name="Oval 28"/>
            <p:cNvSpPr/>
            <p:nvPr/>
          </p:nvSpPr>
          <p:spPr>
            <a:xfrm>
              <a:off x="3877252" y="4845659"/>
              <a:ext cx="1676400" cy="1714620"/>
            </a:xfrm>
            <a:prstGeom prst="ellipse">
              <a:avLst/>
            </a:prstGeom>
            <a:noFill/>
            <a:ln w="476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Flow Diagram</a:t>
            </a:r>
          </a:p>
        </p:txBody>
      </p:sp>
      <p:sp>
        <p:nvSpPr>
          <p:cNvPr id="3" name="Content Placeholder 2"/>
          <p:cNvSpPr>
            <a:spLocks noGrp="1"/>
          </p:cNvSpPr>
          <p:nvPr>
            <p:ph idx="1"/>
          </p:nvPr>
        </p:nvSpPr>
        <p:spPr>
          <a:xfrm>
            <a:off x="2380061" y="1690483"/>
            <a:ext cx="7429499" cy="3541714"/>
          </a:xfrm>
        </p:spPr>
        <p:txBody>
          <a:bodyPr/>
          <a:lstStyle/>
          <a:p>
            <a:r>
              <a:rPr lang="en-US" dirty="0"/>
              <a:t>Level 0 : Context Diagram</a:t>
            </a:r>
          </a:p>
        </p:txBody>
      </p:sp>
      <p:grpSp>
        <p:nvGrpSpPr>
          <p:cNvPr id="26" name="Group 25"/>
          <p:cNvGrpSpPr/>
          <p:nvPr/>
        </p:nvGrpSpPr>
        <p:grpSpPr>
          <a:xfrm>
            <a:off x="2514600" y="2590800"/>
            <a:ext cx="7467600" cy="3815640"/>
            <a:chOff x="990600" y="2590800"/>
            <a:chExt cx="7467600" cy="3815640"/>
          </a:xfrm>
        </p:grpSpPr>
        <p:sp>
          <p:nvSpPr>
            <p:cNvPr id="27" name="TextBox 26"/>
            <p:cNvSpPr txBox="1"/>
            <p:nvPr/>
          </p:nvSpPr>
          <p:spPr>
            <a:xfrm>
              <a:off x="3962400" y="4876800"/>
              <a:ext cx="1382889" cy="369332"/>
            </a:xfrm>
            <a:prstGeom prst="rect">
              <a:avLst/>
            </a:prstGeom>
            <a:noFill/>
          </p:spPr>
          <p:txBody>
            <a:bodyPr wrap="square" rtlCol="0">
              <a:spAutoFit/>
            </a:bodyPr>
            <a:lstStyle/>
            <a:p>
              <a:pPr algn="ctr"/>
              <a:r>
                <a:rPr lang="en-US" dirty="0"/>
                <a:t>0.0</a:t>
              </a:r>
            </a:p>
          </p:txBody>
        </p:sp>
        <p:grpSp>
          <p:nvGrpSpPr>
            <p:cNvPr id="25" name="Group 24"/>
            <p:cNvGrpSpPr/>
            <p:nvPr/>
          </p:nvGrpSpPr>
          <p:grpSpPr>
            <a:xfrm>
              <a:off x="990600" y="2590800"/>
              <a:ext cx="7467600" cy="3815640"/>
              <a:chOff x="990600" y="2590800"/>
              <a:chExt cx="7467600" cy="3815640"/>
            </a:xfrm>
          </p:grpSpPr>
          <p:grpSp>
            <p:nvGrpSpPr>
              <p:cNvPr id="4" name="Group 3"/>
              <p:cNvGrpSpPr/>
              <p:nvPr/>
            </p:nvGrpSpPr>
            <p:grpSpPr>
              <a:xfrm>
                <a:off x="990600" y="2590800"/>
                <a:ext cx="7467600" cy="3668295"/>
                <a:chOff x="381000" y="457200"/>
                <a:chExt cx="8229600" cy="4267200"/>
              </a:xfrm>
            </p:grpSpPr>
            <p:sp>
              <p:nvSpPr>
                <p:cNvPr id="24" name="TextBox 23"/>
                <p:cNvSpPr txBox="1"/>
                <p:nvPr/>
              </p:nvSpPr>
              <p:spPr>
                <a:xfrm>
                  <a:off x="3505200" y="3636820"/>
                  <a:ext cx="1905000" cy="1074078"/>
                </a:xfrm>
                <a:prstGeom prst="rect">
                  <a:avLst/>
                </a:prstGeom>
                <a:noFill/>
              </p:spPr>
              <p:txBody>
                <a:bodyPr wrap="square" rtlCol="0">
                  <a:spAutoFit/>
                </a:bodyPr>
                <a:lstStyle/>
                <a:p>
                  <a:pPr algn="ctr"/>
                  <a:r>
                    <a:rPr lang="en-US" dirty="0">
                      <a:ln w="18415" cmpd="sng">
                        <a:noFill/>
                        <a:prstDash val="solid"/>
                      </a:ln>
                      <a:effectLst>
                        <a:outerShdw blurRad="63500" dir="3600000" algn="tl" rotWithShape="0">
                          <a:srgbClr val="000000">
                            <a:alpha val="70000"/>
                          </a:srgbClr>
                        </a:outerShdw>
                      </a:effectLst>
                    </a:rPr>
                    <a:t>Course</a:t>
                  </a:r>
                </a:p>
                <a:p>
                  <a:pPr algn="ctr"/>
                  <a:r>
                    <a:rPr lang="en-US" dirty="0">
                      <a:ln w="18415" cmpd="sng">
                        <a:noFill/>
                        <a:prstDash val="solid"/>
                      </a:ln>
                      <a:effectLst>
                        <a:outerShdw blurRad="63500" dir="3600000" algn="tl" rotWithShape="0">
                          <a:srgbClr val="000000">
                            <a:alpha val="70000"/>
                          </a:srgbClr>
                        </a:outerShdw>
                      </a:effectLst>
                    </a:rPr>
                    <a:t>Registration</a:t>
                  </a:r>
                </a:p>
                <a:p>
                  <a:pPr algn="ctr"/>
                  <a:r>
                    <a:rPr lang="en-US" dirty="0">
                      <a:ln w="18415" cmpd="sng">
                        <a:noFill/>
                        <a:prstDash val="solid"/>
                      </a:ln>
                      <a:effectLst>
                        <a:outerShdw blurRad="63500" dir="3600000" algn="tl" rotWithShape="0">
                          <a:srgbClr val="000000">
                            <a:alpha val="70000"/>
                          </a:srgbClr>
                        </a:outerShdw>
                      </a:effectLst>
                    </a:rPr>
                    <a:t>System</a:t>
                  </a:r>
                </a:p>
              </p:txBody>
            </p:sp>
            <p:grpSp>
              <p:nvGrpSpPr>
                <p:cNvPr id="6" name="Group 20"/>
                <p:cNvGrpSpPr/>
                <p:nvPr/>
              </p:nvGrpSpPr>
              <p:grpSpPr>
                <a:xfrm>
                  <a:off x="381000" y="3276600"/>
                  <a:ext cx="1524000" cy="1447800"/>
                  <a:chOff x="1295400" y="2971800"/>
                  <a:chExt cx="1524000" cy="1447800"/>
                </a:xfrm>
              </p:grpSpPr>
              <p:sp>
                <p:nvSpPr>
                  <p:cNvPr id="21" name="Rectangle 20"/>
                  <p:cNvSpPr/>
                  <p:nvPr/>
                </p:nvSpPr>
                <p:spPr bwMode="auto">
                  <a:xfrm>
                    <a:off x="1295400" y="2971800"/>
                    <a:ext cx="1524000" cy="1447800"/>
                  </a:xfrm>
                  <a:prstGeom prst="rect">
                    <a:avLst/>
                  </a:prstGeom>
                  <a:noFill/>
                  <a:ln w="5715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a:ln w="18415" cmpd="sng">
                        <a:noFill/>
                        <a:prstDash val="solid"/>
                      </a:ln>
                      <a:effectLst>
                        <a:outerShdw blurRad="63500" dir="3600000" algn="tl" rotWithShape="0">
                          <a:srgbClr val="000000">
                            <a:alpha val="70000"/>
                          </a:srgbClr>
                        </a:outerShdw>
                      </a:effectLst>
                      <a:latin typeface="Times New Roman" pitchFamily="18" charset="0"/>
                    </a:endParaRPr>
                  </a:p>
                </p:txBody>
              </p:sp>
              <p:sp>
                <p:nvSpPr>
                  <p:cNvPr id="22" name="TextBox 21"/>
                  <p:cNvSpPr txBox="1"/>
                  <p:nvPr/>
                </p:nvSpPr>
                <p:spPr>
                  <a:xfrm>
                    <a:off x="1295400" y="3352800"/>
                    <a:ext cx="1524000" cy="751854"/>
                  </a:xfrm>
                  <a:prstGeom prst="rect">
                    <a:avLst/>
                  </a:prstGeom>
                  <a:noFill/>
                </p:spPr>
                <p:txBody>
                  <a:bodyPr wrap="square" rtlCol="0">
                    <a:spAutoFit/>
                  </a:bodyPr>
                  <a:lstStyle/>
                  <a:p>
                    <a:pPr algn="ctr"/>
                    <a:r>
                      <a:rPr lang="en-US" dirty="0">
                        <a:ln w="18415" cmpd="sng">
                          <a:noFill/>
                          <a:prstDash val="solid"/>
                        </a:ln>
                        <a:effectLst>
                          <a:outerShdw blurRad="63500" dir="3600000" algn="tl" rotWithShape="0">
                            <a:srgbClr val="000000">
                              <a:alpha val="70000"/>
                            </a:srgbClr>
                          </a:outerShdw>
                        </a:effectLst>
                      </a:rPr>
                      <a:t>Faculty</a:t>
                    </a:r>
                  </a:p>
                  <a:p>
                    <a:pPr algn="ctr"/>
                    <a:r>
                      <a:rPr lang="en-US" dirty="0">
                        <a:ln w="18415" cmpd="sng">
                          <a:noFill/>
                          <a:prstDash val="solid"/>
                        </a:ln>
                        <a:effectLst>
                          <a:outerShdw blurRad="63500" dir="3600000" algn="tl" rotWithShape="0">
                            <a:srgbClr val="000000">
                              <a:alpha val="70000"/>
                            </a:srgbClr>
                          </a:outerShdw>
                        </a:effectLst>
                      </a:rPr>
                      <a:t>Member</a:t>
                    </a:r>
                  </a:p>
                </p:txBody>
              </p:sp>
            </p:grpSp>
            <p:grpSp>
              <p:nvGrpSpPr>
                <p:cNvPr id="7" name="Group 22"/>
                <p:cNvGrpSpPr/>
                <p:nvPr/>
              </p:nvGrpSpPr>
              <p:grpSpPr>
                <a:xfrm>
                  <a:off x="7086600" y="3276600"/>
                  <a:ext cx="1524000" cy="1447800"/>
                  <a:chOff x="6553200" y="3657600"/>
                  <a:chExt cx="1524000" cy="1447800"/>
                </a:xfrm>
              </p:grpSpPr>
              <p:sp>
                <p:nvSpPr>
                  <p:cNvPr id="19" name="Rectangle 18"/>
                  <p:cNvSpPr/>
                  <p:nvPr/>
                </p:nvSpPr>
                <p:spPr bwMode="auto">
                  <a:xfrm>
                    <a:off x="6553200" y="3657600"/>
                    <a:ext cx="1524000" cy="1447800"/>
                  </a:xfrm>
                  <a:prstGeom prst="rect">
                    <a:avLst/>
                  </a:prstGeom>
                  <a:noFill/>
                  <a:ln w="5715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a:ln w="18415" cmpd="sng">
                        <a:noFill/>
                        <a:prstDash val="solid"/>
                      </a:ln>
                      <a:effectLst>
                        <a:outerShdw blurRad="63500" dir="3600000" algn="tl" rotWithShape="0">
                          <a:srgbClr val="000000">
                            <a:alpha val="70000"/>
                          </a:srgbClr>
                        </a:outerShdw>
                      </a:effectLst>
                      <a:latin typeface="Times New Roman" pitchFamily="18" charset="0"/>
                    </a:endParaRPr>
                  </a:p>
                </p:txBody>
              </p:sp>
              <p:sp>
                <p:nvSpPr>
                  <p:cNvPr id="20" name="TextBox 19"/>
                  <p:cNvSpPr txBox="1"/>
                  <p:nvPr/>
                </p:nvSpPr>
                <p:spPr>
                  <a:xfrm>
                    <a:off x="6553200" y="4202668"/>
                    <a:ext cx="1524000" cy="429631"/>
                  </a:xfrm>
                  <a:prstGeom prst="rect">
                    <a:avLst/>
                  </a:prstGeom>
                  <a:noFill/>
                </p:spPr>
                <p:txBody>
                  <a:bodyPr wrap="square" rtlCol="0">
                    <a:spAutoFit/>
                  </a:bodyPr>
                  <a:lstStyle/>
                  <a:p>
                    <a:pPr algn="ctr"/>
                    <a:r>
                      <a:rPr lang="en-US" dirty="0">
                        <a:ln w="18415" cmpd="sng">
                          <a:noFill/>
                          <a:prstDash val="solid"/>
                        </a:ln>
                        <a:effectLst>
                          <a:outerShdw blurRad="63500" dir="3600000" algn="tl" rotWithShape="0">
                            <a:srgbClr val="000000">
                              <a:alpha val="70000"/>
                            </a:srgbClr>
                          </a:outerShdw>
                        </a:effectLst>
                      </a:rPr>
                      <a:t>Student</a:t>
                    </a:r>
                  </a:p>
                </p:txBody>
              </p:sp>
            </p:grpSp>
            <p:grpSp>
              <p:nvGrpSpPr>
                <p:cNvPr id="8" name="Group 19"/>
                <p:cNvGrpSpPr/>
                <p:nvPr/>
              </p:nvGrpSpPr>
              <p:grpSpPr>
                <a:xfrm>
                  <a:off x="3657600" y="457200"/>
                  <a:ext cx="1524000" cy="1447800"/>
                  <a:chOff x="1524000" y="762000"/>
                  <a:chExt cx="1524000" cy="1447800"/>
                </a:xfrm>
              </p:grpSpPr>
              <p:sp>
                <p:nvSpPr>
                  <p:cNvPr id="17" name="Rectangle 16"/>
                  <p:cNvSpPr/>
                  <p:nvPr/>
                </p:nvSpPr>
                <p:spPr bwMode="auto">
                  <a:xfrm>
                    <a:off x="1524000" y="762000"/>
                    <a:ext cx="1524000" cy="1447800"/>
                  </a:xfrm>
                  <a:prstGeom prst="rect">
                    <a:avLst/>
                  </a:prstGeom>
                  <a:noFill/>
                  <a:ln w="5715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a:ln w="18415" cmpd="sng">
                        <a:noFill/>
                        <a:prstDash val="solid"/>
                      </a:ln>
                      <a:effectLst>
                        <a:outerShdw blurRad="63500" dir="3600000" algn="tl" rotWithShape="0">
                          <a:srgbClr val="000000">
                            <a:alpha val="70000"/>
                          </a:srgbClr>
                        </a:outerShdw>
                      </a:effectLst>
                      <a:latin typeface="Times New Roman" pitchFamily="18" charset="0"/>
                    </a:endParaRPr>
                  </a:p>
                </p:txBody>
              </p:sp>
              <p:sp>
                <p:nvSpPr>
                  <p:cNvPr id="18" name="TextBox 17"/>
                  <p:cNvSpPr txBox="1"/>
                  <p:nvPr/>
                </p:nvSpPr>
                <p:spPr>
                  <a:xfrm>
                    <a:off x="1524000" y="1143000"/>
                    <a:ext cx="1524000" cy="751854"/>
                  </a:xfrm>
                  <a:prstGeom prst="rect">
                    <a:avLst/>
                  </a:prstGeom>
                  <a:noFill/>
                </p:spPr>
                <p:txBody>
                  <a:bodyPr wrap="square" rtlCol="0">
                    <a:spAutoFit/>
                  </a:bodyPr>
                  <a:lstStyle/>
                  <a:p>
                    <a:pPr algn="ctr"/>
                    <a:r>
                      <a:rPr lang="en-US" dirty="0">
                        <a:ln w="18415" cmpd="sng">
                          <a:noFill/>
                          <a:prstDash val="solid"/>
                        </a:ln>
                        <a:effectLst>
                          <a:outerShdw blurRad="63500" dir="3600000" algn="tl" rotWithShape="0">
                            <a:srgbClr val="000000">
                              <a:alpha val="70000"/>
                            </a:srgbClr>
                          </a:outerShdw>
                        </a:effectLst>
                      </a:rPr>
                      <a:t>Academic Department</a:t>
                    </a:r>
                  </a:p>
                </p:txBody>
              </p:sp>
            </p:grpSp>
            <p:cxnSp>
              <p:nvCxnSpPr>
                <p:cNvPr id="9" name="Straight Arrow Connector 8"/>
                <p:cNvCxnSpPr>
                  <a:stCxn id="17" idx="2"/>
                  <a:endCxn id="28" idx="0"/>
                </p:cNvCxnSpPr>
                <p:nvPr/>
              </p:nvCxnSpPr>
              <p:spPr>
                <a:xfrm flipH="1">
                  <a:off x="4400939" y="1905000"/>
                  <a:ext cx="18662" cy="996244"/>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a:off x="5324669" y="3657600"/>
                  <a:ext cx="1685732" cy="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28" idx="2"/>
                </p:cNvCxnSpPr>
                <p:nvPr/>
              </p:nvCxnSpPr>
              <p:spPr>
                <a:xfrm flipH="1" flipV="1">
                  <a:off x="1981200" y="3886200"/>
                  <a:ext cx="1496008" cy="12322"/>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5324669" y="4267200"/>
                  <a:ext cx="1685731" cy="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4419600" y="2069068"/>
                  <a:ext cx="1524000" cy="751854"/>
                </a:xfrm>
                <a:prstGeom prst="rect">
                  <a:avLst/>
                </a:prstGeom>
                <a:noFill/>
              </p:spPr>
              <p:txBody>
                <a:bodyPr wrap="square" rtlCol="0">
                  <a:spAutoFit/>
                </a:bodyPr>
                <a:lstStyle/>
                <a:p>
                  <a:pPr algn="ctr"/>
                  <a:r>
                    <a:rPr lang="en-US" dirty="0">
                      <a:ln w="18415" cmpd="sng">
                        <a:noFill/>
                        <a:prstDash val="solid"/>
                      </a:ln>
                      <a:effectLst>
                        <a:outerShdw blurRad="63500" dir="3600000" algn="tl" rotWithShape="0">
                          <a:srgbClr val="000000">
                            <a:alpha val="70000"/>
                          </a:srgbClr>
                        </a:outerShdw>
                      </a:effectLst>
                    </a:rPr>
                    <a:t>Schedule data</a:t>
                  </a:r>
                </a:p>
              </p:txBody>
            </p:sp>
            <p:sp>
              <p:nvSpPr>
                <p:cNvPr id="14" name="TextBox 13"/>
                <p:cNvSpPr txBox="1"/>
                <p:nvPr/>
              </p:nvSpPr>
              <p:spPr>
                <a:xfrm>
                  <a:off x="5395317" y="2794201"/>
                  <a:ext cx="1496008" cy="751854"/>
                </a:xfrm>
                <a:prstGeom prst="rect">
                  <a:avLst/>
                </a:prstGeom>
                <a:noFill/>
              </p:spPr>
              <p:txBody>
                <a:bodyPr wrap="square" rtlCol="0">
                  <a:spAutoFit/>
                </a:bodyPr>
                <a:lstStyle/>
                <a:p>
                  <a:pPr algn="ctr"/>
                  <a:r>
                    <a:rPr lang="en-US" dirty="0">
                      <a:ln w="18415" cmpd="sng">
                        <a:noFill/>
                        <a:prstDash val="solid"/>
                      </a:ln>
                      <a:effectLst>
                        <a:outerShdw blurRad="63500" dir="3600000" algn="tl" rotWithShape="0">
                          <a:srgbClr val="000000">
                            <a:alpha val="70000"/>
                          </a:srgbClr>
                        </a:outerShdw>
                      </a:effectLst>
                    </a:rPr>
                    <a:t>Enrollment</a:t>
                  </a:r>
                </a:p>
                <a:p>
                  <a:pPr algn="ctr"/>
                  <a:r>
                    <a:rPr lang="en-US" dirty="0">
                      <a:ln w="18415" cmpd="sng">
                        <a:noFill/>
                        <a:prstDash val="solid"/>
                      </a:ln>
                      <a:effectLst>
                        <a:outerShdw blurRad="63500" dir="3600000" algn="tl" rotWithShape="0">
                          <a:srgbClr val="000000">
                            <a:alpha val="70000"/>
                          </a:srgbClr>
                        </a:outerShdw>
                      </a:effectLst>
                    </a:rPr>
                    <a:t>request</a:t>
                  </a:r>
                </a:p>
              </p:txBody>
            </p:sp>
            <p:sp>
              <p:nvSpPr>
                <p:cNvPr id="15" name="TextBox 14"/>
                <p:cNvSpPr txBox="1"/>
                <p:nvPr/>
              </p:nvSpPr>
              <p:spPr>
                <a:xfrm>
                  <a:off x="5334000" y="4267200"/>
                  <a:ext cx="1524000" cy="429631"/>
                </a:xfrm>
                <a:prstGeom prst="rect">
                  <a:avLst/>
                </a:prstGeom>
                <a:noFill/>
              </p:spPr>
              <p:txBody>
                <a:bodyPr wrap="square" rtlCol="0">
                  <a:spAutoFit/>
                </a:bodyPr>
                <a:lstStyle/>
                <a:p>
                  <a:pPr algn="ctr"/>
                  <a:r>
                    <a:rPr lang="en-US" dirty="0">
                      <a:ln w="18415" cmpd="sng">
                        <a:noFill/>
                        <a:prstDash val="solid"/>
                      </a:ln>
                      <a:effectLst>
                        <a:outerShdw blurRad="63500" dir="3600000" algn="tl" rotWithShape="0">
                          <a:srgbClr val="000000">
                            <a:alpha val="70000"/>
                          </a:srgbClr>
                        </a:outerShdw>
                      </a:effectLst>
                    </a:rPr>
                    <a:t>Schedule</a:t>
                  </a:r>
                </a:p>
              </p:txBody>
            </p:sp>
            <p:sp>
              <p:nvSpPr>
                <p:cNvPr id="16" name="TextBox 15"/>
                <p:cNvSpPr txBox="1"/>
                <p:nvPr/>
              </p:nvSpPr>
              <p:spPr>
                <a:xfrm>
                  <a:off x="2111507" y="3346527"/>
                  <a:ext cx="1524000" cy="429631"/>
                </a:xfrm>
                <a:prstGeom prst="rect">
                  <a:avLst/>
                </a:prstGeom>
                <a:noFill/>
              </p:spPr>
              <p:txBody>
                <a:bodyPr wrap="square" rtlCol="0">
                  <a:spAutoFit/>
                </a:bodyPr>
                <a:lstStyle/>
                <a:p>
                  <a:pPr algn="ctr"/>
                  <a:r>
                    <a:rPr lang="en-US" dirty="0">
                      <a:ln w="18415" cmpd="sng">
                        <a:noFill/>
                        <a:prstDash val="solid"/>
                      </a:ln>
                      <a:effectLst>
                        <a:outerShdw blurRad="63500" dir="3600000" algn="tl" rotWithShape="0">
                          <a:srgbClr val="000000">
                            <a:alpha val="70000"/>
                          </a:srgbClr>
                        </a:outerShdw>
                      </a:effectLst>
                    </a:rPr>
                    <a:t>Class list</a:t>
                  </a:r>
                </a:p>
              </p:txBody>
            </p:sp>
          </p:grpSp>
          <p:sp>
            <p:nvSpPr>
              <p:cNvPr id="28" name="Oval 27"/>
              <p:cNvSpPr/>
              <p:nvPr/>
            </p:nvSpPr>
            <p:spPr>
              <a:xfrm>
                <a:off x="3800122" y="4691820"/>
                <a:ext cx="1676400" cy="1714620"/>
              </a:xfrm>
              <a:prstGeom prst="ellipse">
                <a:avLst/>
              </a:prstGeom>
              <a:noFill/>
              <a:ln w="476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1000"/>
                                        <p:tgtEl>
                                          <p:spTgt spid="26"/>
                                        </p:tgtEl>
                                      </p:cBhvr>
                                    </p:animEffect>
                                    <p:anim calcmode="lin" valueType="num">
                                      <p:cBhvr>
                                        <p:cTn id="15" dur="1000" fill="hold"/>
                                        <p:tgtEl>
                                          <p:spTgt spid="26"/>
                                        </p:tgtEl>
                                        <p:attrNameLst>
                                          <p:attrName>ppt_x</p:attrName>
                                        </p:attrNameLst>
                                      </p:cBhvr>
                                      <p:tavLst>
                                        <p:tav tm="0">
                                          <p:val>
                                            <p:strVal val="#ppt_x"/>
                                          </p:val>
                                        </p:tav>
                                        <p:tav tm="100000">
                                          <p:val>
                                            <p:strVal val="#ppt_x"/>
                                          </p:val>
                                        </p:tav>
                                      </p:tavLst>
                                    </p:anim>
                                    <p:anim calcmode="lin" valueType="num">
                                      <p:cBhvr>
                                        <p:cTn id="16"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Flow Diagram</a:t>
            </a:r>
          </a:p>
        </p:txBody>
      </p:sp>
      <p:sp>
        <p:nvSpPr>
          <p:cNvPr id="3" name="Content Placeholder 2"/>
          <p:cNvSpPr>
            <a:spLocks noGrp="1"/>
          </p:cNvSpPr>
          <p:nvPr>
            <p:ph idx="1"/>
          </p:nvPr>
        </p:nvSpPr>
        <p:spPr>
          <a:xfrm>
            <a:off x="2778304" y="1597223"/>
            <a:ext cx="7772400" cy="4114800"/>
          </a:xfrm>
        </p:spPr>
        <p:txBody>
          <a:bodyPr/>
          <a:lstStyle/>
          <a:p>
            <a:r>
              <a:rPr lang="en-US" dirty="0"/>
              <a:t>Level 1: Course Registration System</a:t>
            </a:r>
          </a:p>
        </p:txBody>
      </p:sp>
      <p:grpSp>
        <p:nvGrpSpPr>
          <p:cNvPr id="42" name="Group 41"/>
          <p:cNvGrpSpPr/>
          <p:nvPr/>
        </p:nvGrpSpPr>
        <p:grpSpPr>
          <a:xfrm>
            <a:off x="2443799" y="2362200"/>
            <a:ext cx="7392883" cy="4358804"/>
            <a:chOff x="919798" y="2362200"/>
            <a:chExt cx="7392883" cy="4358804"/>
          </a:xfrm>
        </p:grpSpPr>
        <p:grpSp>
          <p:nvGrpSpPr>
            <p:cNvPr id="70" name="Group 69"/>
            <p:cNvGrpSpPr/>
            <p:nvPr/>
          </p:nvGrpSpPr>
          <p:grpSpPr>
            <a:xfrm>
              <a:off x="921281" y="2362200"/>
              <a:ext cx="7391400" cy="4238580"/>
              <a:chOff x="838200" y="2362200"/>
              <a:chExt cx="7391400" cy="4238580"/>
            </a:xfrm>
          </p:grpSpPr>
          <p:grpSp>
            <p:nvGrpSpPr>
              <p:cNvPr id="4" name="Group 3"/>
              <p:cNvGrpSpPr/>
              <p:nvPr/>
            </p:nvGrpSpPr>
            <p:grpSpPr>
              <a:xfrm>
                <a:off x="838200" y="2585634"/>
                <a:ext cx="7391400" cy="4015146"/>
                <a:chOff x="381000" y="1295400"/>
                <a:chExt cx="7696200" cy="4307156"/>
              </a:xfrm>
            </p:grpSpPr>
            <p:grpSp>
              <p:nvGrpSpPr>
                <p:cNvPr id="5" name="Group 19"/>
                <p:cNvGrpSpPr/>
                <p:nvPr/>
              </p:nvGrpSpPr>
              <p:grpSpPr>
                <a:xfrm>
                  <a:off x="533400" y="1295400"/>
                  <a:ext cx="1143000" cy="1066800"/>
                  <a:chOff x="1524000" y="762000"/>
                  <a:chExt cx="1524000" cy="1447800"/>
                </a:xfrm>
              </p:grpSpPr>
              <p:sp>
                <p:nvSpPr>
                  <p:cNvPr id="64" name="Rectangle 63"/>
                  <p:cNvSpPr/>
                  <p:nvPr/>
                </p:nvSpPr>
                <p:spPr bwMode="auto">
                  <a:xfrm>
                    <a:off x="1524000" y="762000"/>
                    <a:ext cx="1524000" cy="1447800"/>
                  </a:xfrm>
                  <a:prstGeom prst="rect">
                    <a:avLst/>
                  </a:prstGeom>
                  <a:noFill/>
                  <a:ln w="5715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a:ln w="18415" cmpd="sng">
                        <a:noFill/>
                        <a:prstDash val="solid"/>
                      </a:ln>
                      <a:effectLst>
                        <a:outerShdw blurRad="63500" dir="3600000" algn="tl" rotWithShape="0">
                          <a:srgbClr val="000000">
                            <a:alpha val="70000"/>
                          </a:srgbClr>
                        </a:outerShdw>
                      </a:effectLst>
                      <a:latin typeface="Times New Roman" pitchFamily="18" charset="0"/>
                    </a:endParaRPr>
                  </a:p>
                </p:txBody>
              </p:sp>
              <p:sp>
                <p:nvSpPr>
                  <p:cNvPr id="65" name="TextBox 64"/>
                  <p:cNvSpPr txBox="1"/>
                  <p:nvPr/>
                </p:nvSpPr>
                <p:spPr>
                  <a:xfrm>
                    <a:off x="1524000" y="1143000"/>
                    <a:ext cx="1524000" cy="761727"/>
                  </a:xfrm>
                  <a:prstGeom prst="rect">
                    <a:avLst/>
                  </a:prstGeom>
                  <a:noFill/>
                </p:spPr>
                <p:txBody>
                  <a:bodyPr wrap="square" rtlCol="0">
                    <a:spAutoFit/>
                  </a:bodyPr>
                  <a:lstStyle/>
                  <a:p>
                    <a:pPr algn="ctr"/>
                    <a:r>
                      <a:rPr lang="en-US" sz="1400" dirty="0">
                        <a:ln w="18415" cmpd="sng">
                          <a:noFill/>
                          <a:prstDash val="solid"/>
                        </a:ln>
                        <a:effectLst>
                          <a:outerShdw blurRad="63500" dir="3600000" algn="tl" rotWithShape="0">
                            <a:srgbClr val="000000">
                              <a:alpha val="70000"/>
                            </a:srgbClr>
                          </a:outerShdw>
                        </a:effectLst>
                      </a:rPr>
                      <a:t>Academic Department</a:t>
                    </a:r>
                  </a:p>
                </p:txBody>
              </p:sp>
            </p:grpSp>
            <p:grpSp>
              <p:nvGrpSpPr>
                <p:cNvPr id="6" name="Group 49"/>
                <p:cNvGrpSpPr/>
                <p:nvPr/>
              </p:nvGrpSpPr>
              <p:grpSpPr>
                <a:xfrm>
                  <a:off x="381000" y="3581400"/>
                  <a:ext cx="1295400" cy="1106756"/>
                  <a:chOff x="1295400" y="3352800"/>
                  <a:chExt cx="1295400" cy="1106756"/>
                </a:xfrm>
              </p:grpSpPr>
              <p:sp>
                <p:nvSpPr>
                  <p:cNvPr id="61" name="TextBox 60"/>
                  <p:cNvSpPr txBox="1"/>
                  <p:nvPr/>
                </p:nvSpPr>
                <p:spPr>
                  <a:xfrm>
                    <a:off x="1295400" y="3898283"/>
                    <a:ext cx="1295400" cy="561273"/>
                  </a:xfrm>
                  <a:prstGeom prst="rect">
                    <a:avLst/>
                  </a:prstGeom>
                  <a:noFill/>
                </p:spPr>
                <p:txBody>
                  <a:bodyPr wrap="square" rtlCol="0">
                    <a:spAutoFit/>
                  </a:bodyPr>
                  <a:lstStyle/>
                  <a:p>
                    <a:pPr algn="ctr"/>
                    <a:r>
                      <a:rPr lang="en-US" sz="1400" dirty="0">
                        <a:ln w="18415" cmpd="sng">
                          <a:noFill/>
                          <a:prstDash val="solid"/>
                        </a:ln>
                        <a:effectLst>
                          <a:outerShdw blurRad="63500" dir="3600000" algn="tl" rotWithShape="0">
                            <a:srgbClr val="000000">
                              <a:alpha val="70000"/>
                            </a:srgbClr>
                          </a:outerShdw>
                        </a:effectLst>
                      </a:rPr>
                      <a:t>Schedule </a:t>
                    </a:r>
                  </a:p>
                  <a:p>
                    <a:pPr algn="ctr"/>
                    <a:r>
                      <a:rPr lang="en-US" sz="1400" dirty="0">
                        <a:ln w="18415" cmpd="sng">
                          <a:noFill/>
                          <a:prstDash val="solid"/>
                        </a:ln>
                        <a:effectLst>
                          <a:outerShdw blurRad="63500" dir="3600000" algn="tl" rotWithShape="0">
                            <a:srgbClr val="000000">
                              <a:alpha val="70000"/>
                            </a:srgbClr>
                          </a:outerShdw>
                        </a:effectLst>
                      </a:rPr>
                      <a:t>course</a:t>
                    </a:r>
                  </a:p>
                </p:txBody>
              </p:sp>
              <p:sp>
                <p:nvSpPr>
                  <p:cNvPr id="59" name="TextBox 58"/>
                  <p:cNvSpPr txBox="1"/>
                  <p:nvPr/>
                </p:nvSpPr>
                <p:spPr>
                  <a:xfrm>
                    <a:off x="1600200" y="3352800"/>
                    <a:ext cx="762000" cy="330161"/>
                  </a:xfrm>
                  <a:prstGeom prst="rect">
                    <a:avLst/>
                  </a:prstGeom>
                  <a:noFill/>
                </p:spPr>
                <p:txBody>
                  <a:bodyPr wrap="square" rtlCol="0">
                    <a:spAutoFit/>
                  </a:bodyPr>
                  <a:lstStyle/>
                  <a:p>
                    <a:pPr algn="ctr"/>
                    <a:r>
                      <a:rPr lang="en-US" sz="1400" dirty="0">
                        <a:ln w="18415" cmpd="sng">
                          <a:noFill/>
                          <a:prstDash val="solid"/>
                        </a:ln>
                        <a:effectLst>
                          <a:outerShdw blurRad="63500" dir="3600000" algn="tl" rotWithShape="0">
                            <a:srgbClr val="000000">
                              <a:alpha val="70000"/>
                            </a:srgbClr>
                          </a:outerShdw>
                        </a:effectLst>
                      </a:rPr>
                      <a:t>1.0</a:t>
                    </a:r>
                  </a:p>
                </p:txBody>
              </p:sp>
            </p:grpSp>
            <p:grpSp>
              <p:nvGrpSpPr>
                <p:cNvPr id="7" name="Group 50"/>
                <p:cNvGrpSpPr/>
                <p:nvPr/>
              </p:nvGrpSpPr>
              <p:grpSpPr>
                <a:xfrm>
                  <a:off x="6858000" y="4495800"/>
                  <a:ext cx="1143000" cy="1066800"/>
                  <a:chOff x="1524000" y="762000"/>
                  <a:chExt cx="1524000" cy="1447800"/>
                </a:xfrm>
              </p:grpSpPr>
              <p:sp>
                <p:nvSpPr>
                  <p:cNvPr id="56" name="Rectangle 55"/>
                  <p:cNvSpPr/>
                  <p:nvPr/>
                </p:nvSpPr>
                <p:spPr bwMode="auto">
                  <a:xfrm>
                    <a:off x="1524000" y="762000"/>
                    <a:ext cx="1524000" cy="1447800"/>
                  </a:xfrm>
                  <a:prstGeom prst="rect">
                    <a:avLst/>
                  </a:prstGeom>
                  <a:noFill/>
                  <a:ln w="5715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a:ln w="18415" cmpd="sng">
                        <a:noFill/>
                        <a:prstDash val="solid"/>
                      </a:ln>
                      <a:effectLst>
                        <a:outerShdw blurRad="63500" dir="3600000" algn="tl" rotWithShape="0">
                          <a:srgbClr val="000000">
                            <a:alpha val="70000"/>
                          </a:srgbClr>
                        </a:outerShdw>
                      </a:effectLst>
                      <a:latin typeface="Times New Roman" pitchFamily="18" charset="0"/>
                    </a:endParaRPr>
                  </a:p>
                </p:txBody>
              </p:sp>
              <p:sp>
                <p:nvSpPr>
                  <p:cNvPr id="57" name="TextBox 56"/>
                  <p:cNvSpPr txBox="1"/>
                  <p:nvPr/>
                </p:nvSpPr>
                <p:spPr>
                  <a:xfrm>
                    <a:off x="1524000" y="1143000"/>
                    <a:ext cx="1524000" cy="761726"/>
                  </a:xfrm>
                  <a:prstGeom prst="rect">
                    <a:avLst/>
                  </a:prstGeom>
                  <a:noFill/>
                </p:spPr>
                <p:txBody>
                  <a:bodyPr wrap="square" rtlCol="0">
                    <a:spAutoFit/>
                  </a:bodyPr>
                  <a:lstStyle/>
                  <a:p>
                    <a:pPr algn="ctr"/>
                    <a:r>
                      <a:rPr lang="en-US" sz="1400" dirty="0">
                        <a:ln w="18415" cmpd="sng">
                          <a:noFill/>
                          <a:prstDash val="solid"/>
                        </a:ln>
                        <a:effectLst>
                          <a:outerShdw blurRad="63500" dir="3600000" algn="tl" rotWithShape="0">
                            <a:srgbClr val="000000">
                              <a:alpha val="70000"/>
                            </a:srgbClr>
                          </a:outerShdw>
                        </a:effectLst>
                      </a:rPr>
                      <a:t>Faculty</a:t>
                    </a:r>
                  </a:p>
                  <a:p>
                    <a:pPr algn="ctr"/>
                    <a:r>
                      <a:rPr lang="en-US" sz="1400" dirty="0">
                        <a:ln w="18415" cmpd="sng">
                          <a:noFill/>
                          <a:prstDash val="solid"/>
                        </a:ln>
                        <a:effectLst>
                          <a:outerShdw blurRad="63500" dir="3600000" algn="tl" rotWithShape="0">
                            <a:srgbClr val="000000">
                              <a:alpha val="70000"/>
                            </a:srgbClr>
                          </a:outerShdw>
                        </a:effectLst>
                      </a:rPr>
                      <a:t>Member</a:t>
                    </a:r>
                  </a:p>
                </p:txBody>
              </p:sp>
            </p:grpSp>
            <p:grpSp>
              <p:nvGrpSpPr>
                <p:cNvPr id="8" name="Group 53"/>
                <p:cNvGrpSpPr/>
                <p:nvPr/>
              </p:nvGrpSpPr>
              <p:grpSpPr>
                <a:xfrm>
                  <a:off x="6934200" y="1371600"/>
                  <a:ext cx="1143000" cy="1066800"/>
                  <a:chOff x="1524000" y="762000"/>
                  <a:chExt cx="1524000" cy="1447800"/>
                </a:xfrm>
              </p:grpSpPr>
              <p:sp>
                <p:nvSpPr>
                  <p:cNvPr id="54" name="Rectangle 53"/>
                  <p:cNvSpPr/>
                  <p:nvPr/>
                </p:nvSpPr>
                <p:spPr bwMode="auto">
                  <a:xfrm>
                    <a:off x="1524000" y="762000"/>
                    <a:ext cx="1524000" cy="1447800"/>
                  </a:xfrm>
                  <a:prstGeom prst="rect">
                    <a:avLst/>
                  </a:prstGeom>
                  <a:noFill/>
                  <a:ln w="5715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a:ln w="18415" cmpd="sng">
                        <a:noFill/>
                        <a:prstDash val="solid"/>
                      </a:ln>
                      <a:effectLst>
                        <a:outerShdw blurRad="63500" dir="3600000" algn="tl" rotWithShape="0">
                          <a:srgbClr val="000000">
                            <a:alpha val="70000"/>
                          </a:srgbClr>
                        </a:outerShdw>
                      </a:effectLst>
                      <a:latin typeface="Times New Roman" pitchFamily="18" charset="0"/>
                    </a:endParaRPr>
                  </a:p>
                </p:txBody>
              </p:sp>
              <p:sp>
                <p:nvSpPr>
                  <p:cNvPr id="55" name="TextBox 54"/>
                  <p:cNvSpPr txBox="1"/>
                  <p:nvPr/>
                </p:nvSpPr>
                <p:spPr>
                  <a:xfrm>
                    <a:off x="1524000" y="1279070"/>
                    <a:ext cx="1524000" cy="448075"/>
                  </a:xfrm>
                  <a:prstGeom prst="rect">
                    <a:avLst/>
                  </a:prstGeom>
                  <a:noFill/>
                </p:spPr>
                <p:txBody>
                  <a:bodyPr wrap="square" rtlCol="0">
                    <a:spAutoFit/>
                  </a:bodyPr>
                  <a:lstStyle/>
                  <a:p>
                    <a:pPr algn="ctr"/>
                    <a:r>
                      <a:rPr lang="en-US" sz="1400" dirty="0">
                        <a:ln w="18415" cmpd="sng">
                          <a:noFill/>
                          <a:prstDash val="solid"/>
                        </a:ln>
                        <a:effectLst>
                          <a:outerShdw blurRad="63500" dir="3600000" algn="tl" rotWithShape="0">
                            <a:srgbClr val="000000">
                              <a:alpha val="70000"/>
                            </a:srgbClr>
                          </a:outerShdw>
                        </a:effectLst>
                      </a:rPr>
                      <a:t>Student</a:t>
                    </a:r>
                  </a:p>
                </p:txBody>
              </p:sp>
            </p:grpSp>
            <p:grpSp>
              <p:nvGrpSpPr>
                <p:cNvPr id="9" name="Group 56"/>
                <p:cNvGrpSpPr/>
                <p:nvPr/>
              </p:nvGrpSpPr>
              <p:grpSpPr>
                <a:xfrm>
                  <a:off x="4495800" y="4495800"/>
                  <a:ext cx="1295400" cy="1106756"/>
                  <a:chOff x="1295400" y="3352800"/>
                  <a:chExt cx="1295400" cy="1106756"/>
                </a:xfrm>
              </p:grpSpPr>
              <p:sp>
                <p:nvSpPr>
                  <p:cNvPr id="51" name="TextBox 50"/>
                  <p:cNvSpPr txBox="1"/>
                  <p:nvPr/>
                </p:nvSpPr>
                <p:spPr>
                  <a:xfrm>
                    <a:off x="1295400" y="3898283"/>
                    <a:ext cx="1295400" cy="561273"/>
                  </a:xfrm>
                  <a:prstGeom prst="rect">
                    <a:avLst/>
                  </a:prstGeom>
                  <a:noFill/>
                </p:spPr>
                <p:txBody>
                  <a:bodyPr wrap="square" rtlCol="0">
                    <a:spAutoFit/>
                  </a:bodyPr>
                  <a:lstStyle/>
                  <a:p>
                    <a:pPr algn="ctr"/>
                    <a:r>
                      <a:rPr lang="en-US" sz="1400" dirty="0">
                        <a:ln w="18415" cmpd="sng">
                          <a:noFill/>
                          <a:prstDash val="solid"/>
                        </a:ln>
                        <a:effectLst>
                          <a:outerShdw blurRad="63500" dir="3600000" algn="tl" rotWithShape="0">
                            <a:srgbClr val="000000">
                              <a:alpha val="70000"/>
                            </a:srgbClr>
                          </a:outerShdw>
                        </a:effectLst>
                      </a:rPr>
                      <a:t>Produce</a:t>
                    </a:r>
                  </a:p>
                  <a:p>
                    <a:pPr algn="ctr"/>
                    <a:r>
                      <a:rPr lang="en-US" sz="1400" dirty="0">
                        <a:ln w="18415" cmpd="sng">
                          <a:noFill/>
                          <a:prstDash val="solid"/>
                        </a:ln>
                        <a:effectLst>
                          <a:outerShdw blurRad="63500" dir="3600000" algn="tl" rotWithShape="0">
                            <a:srgbClr val="000000">
                              <a:alpha val="70000"/>
                            </a:srgbClr>
                          </a:outerShdw>
                        </a:effectLst>
                      </a:rPr>
                      <a:t>class list</a:t>
                    </a:r>
                  </a:p>
                </p:txBody>
              </p:sp>
              <p:sp>
                <p:nvSpPr>
                  <p:cNvPr id="49" name="TextBox 48"/>
                  <p:cNvSpPr txBox="1"/>
                  <p:nvPr/>
                </p:nvSpPr>
                <p:spPr>
                  <a:xfrm>
                    <a:off x="1600200" y="3352800"/>
                    <a:ext cx="762000" cy="330161"/>
                  </a:xfrm>
                  <a:prstGeom prst="rect">
                    <a:avLst/>
                  </a:prstGeom>
                  <a:noFill/>
                </p:spPr>
                <p:txBody>
                  <a:bodyPr wrap="square" rtlCol="0">
                    <a:spAutoFit/>
                  </a:bodyPr>
                  <a:lstStyle/>
                  <a:p>
                    <a:pPr algn="ctr"/>
                    <a:r>
                      <a:rPr lang="en-US" sz="1400" dirty="0">
                        <a:ln w="18415" cmpd="sng">
                          <a:noFill/>
                          <a:prstDash val="solid"/>
                        </a:ln>
                        <a:effectLst>
                          <a:outerShdw blurRad="63500" dir="3600000" algn="tl" rotWithShape="0">
                            <a:srgbClr val="000000">
                              <a:alpha val="70000"/>
                            </a:srgbClr>
                          </a:outerShdw>
                        </a:effectLst>
                      </a:rPr>
                      <a:t>3.0</a:t>
                    </a:r>
                  </a:p>
                </p:txBody>
              </p:sp>
            </p:grpSp>
            <p:grpSp>
              <p:nvGrpSpPr>
                <p:cNvPr id="10" name="Group 63"/>
                <p:cNvGrpSpPr/>
                <p:nvPr/>
              </p:nvGrpSpPr>
              <p:grpSpPr>
                <a:xfrm>
                  <a:off x="4495800" y="1295400"/>
                  <a:ext cx="1295400" cy="1106756"/>
                  <a:chOff x="1295400" y="3352800"/>
                  <a:chExt cx="1295400" cy="1106756"/>
                </a:xfrm>
              </p:grpSpPr>
              <p:sp>
                <p:nvSpPr>
                  <p:cNvPr id="45" name="TextBox 44"/>
                  <p:cNvSpPr txBox="1"/>
                  <p:nvPr/>
                </p:nvSpPr>
                <p:spPr>
                  <a:xfrm>
                    <a:off x="1295400" y="3898283"/>
                    <a:ext cx="1295400" cy="561273"/>
                  </a:xfrm>
                  <a:prstGeom prst="rect">
                    <a:avLst/>
                  </a:prstGeom>
                  <a:noFill/>
                </p:spPr>
                <p:txBody>
                  <a:bodyPr wrap="square" rtlCol="0">
                    <a:spAutoFit/>
                  </a:bodyPr>
                  <a:lstStyle/>
                  <a:p>
                    <a:pPr algn="ctr"/>
                    <a:r>
                      <a:rPr lang="en-US" sz="1400" dirty="0">
                        <a:ln w="18415" cmpd="sng">
                          <a:noFill/>
                          <a:prstDash val="solid"/>
                        </a:ln>
                        <a:effectLst>
                          <a:outerShdw blurRad="63500" dir="3600000" algn="tl" rotWithShape="0">
                            <a:srgbClr val="000000">
                              <a:alpha val="70000"/>
                            </a:srgbClr>
                          </a:outerShdw>
                        </a:effectLst>
                      </a:rPr>
                      <a:t>Enroll </a:t>
                    </a:r>
                  </a:p>
                  <a:p>
                    <a:pPr algn="ctr"/>
                    <a:r>
                      <a:rPr lang="en-US" sz="1400" dirty="0">
                        <a:ln w="18415" cmpd="sng">
                          <a:noFill/>
                          <a:prstDash val="solid"/>
                        </a:ln>
                        <a:effectLst>
                          <a:outerShdw blurRad="63500" dir="3600000" algn="tl" rotWithShape="0">
                            <a:srgbClr val="000000">
                              <a:alpha val="70000"/>
                            </a:srgbClr>
                          </a:outerShdw>
                        </a:effectLst>
                      </a:rPr>
                      <a:t>student</a:t>
                    </a:r>
                  </a:p>
                </p:txBody>
              </p:sp>
              <p:sp>
                <p:nvSpPr>
                  <p:cNvPr id="43" name="TextBox 42"/>
                  <p:cNvSpPr txBox="1"/>
                  <p:nvPr/>
                </p:nvSpPr>
                <p:spPr>
                  <a:xfrm>
                    <a:off x="1600200" y="3352800"/>
                    <a:ext cx="762000" cy="330161"/>
                  </a:xfrm>
                  <a:prstGeom prst="rect">
                    <a:avLst/>
                  </a:prstGeom>
                  <a:noFill/>
                </p:spPr>
                <p:txBody>
                  <a:bodyPr wrap="square" rtlCol="0">
                    <a:spAutoFit/>
                  </a:bodyPr>
                  <a:lstStyle/>
                  <a:p>
                    <a:pPr algn="ctr"/>
                    <a:r>
                      <a:rPr lang="en-US" sz="1400" dirty="0">
                        <a:ln w="18415" cmpd="sng">
                          <a:noFill/>
                          <a:prstDash val="solid"/>
                        </a:ln>
                        <a:effectLst>
                          <a:outerShdw blurRad="63500" dir="3600000" algn="tl" rotWithShape="0">
                            <a:srgbClr val="000000">
                              <a:alpha val="70000"/>
                            </a:srgbClr>
                          </a:outerShdw>
                        </a:effectLst>
                      </a:rPr>
                      <a:t>2.0</a:t>
                    </a:r>
                  </a:p>
                </p:txBody>
              </p:sp>
            </p:grpSp>
            <p:grpSp>
              <p:nvGrpSpPr>
                <p:cNvPr id="11" name="Group 75"/>
                <p:cNvGrpSpPr/>
                <p:nvPr/>
              </p:nvGrpSpPr>
              <p:grpSpPr>
                <a:xfrm>
                  <a:off x="2438400" y="3886200"/>
                  <a:ext cx="1371600" cy="609600"/>
                  <a:chOff x="2286000" y="5181600"/>
                  <a:chExt cx="1447800" cy="609600"/>
                </a:xfrm>
              </p:grpSpPr>
              <p:grpSp>
                <p:nvGrpSpPr>
                  <p:cNvPr id="37" name="Group 70"/>
                  <p:cNvGrpSpPr/>
                  <p:nvPr/>
                </p:nvGrpSpPr>
                <p:grpSpPr>
                  <a:xfrm>
                    <a:off x="2286000" y="5181600"/>
                    <a:ext cx="1295400" cy="609600"/>
                    <a:chOff x="4572000" y="5257800"/>
                    <a:chExt cx="1600200" cy="685800"/>
                  </a:xfrm>
                </p:grpSpPr>
                <p:cxnSp>
                  <p:nvCxnSpPr>
                    <p:cNvPr id="39" name="Straight Connector 38"/>
                    <p:cNvCxnSpPr/>
                    <p:nvPr/>
                  </p:nvCxnSpPr>
                  <p:spPr bwMode="auto">
                    <a:xfrm>
                      <a:off x="4572000" y="5257800"/>
                      <a:ext cx="1600200" cy="0"/>
                    </a:xfrm>
                    <a:prstGeom prst="line">
                      <a:avLst/>
                    </a:prstGeom>
                    <a:solidFill>
                      <a:schemeClr val="accent1"/>
                    </a:solidFill>
                    <a:ln w="57150" cap="flat" cmpd="sng" algn="ctr">
                      <a:solidFill>
                        <a:srgbClr val="FFC000"/>
                      </a:solidFill>
                      <a:prstDash val="solid"/>
                      <a:round/>
                      <a:headEnd type="none" w="med" len="med"/>
                      <a:tailEnd type="none" w="med" len="med"/>
                    </a:ln>
                    <a:effectLst/>
                  </p:spPr>
                </p:cxnSp>
                <p:cxnSp>
                  <p:nvCxnSpPr>
                    <p:cNvPr id="40" name="Straight Connector 39"/>
                    <p:cNvCxnSpPr/>
                    <p:nvPr/>
                  </p:nvCxnSpPr>
                  <p:spPr bwMode="auto">
                    <a:xfrm>
                      <a:off x="4572000" y="5943600"/>
                      <a:ext cx="1600200" cy="0"/>
                    </a:xfrm>
                    <a:prstGeom prst="line">
                      <a:avLst/>
                    </a:prstGeom>
                    <a:solidFill>
                      <a:schemeClr val="accent1"/>
                    </a:solidFill>
                    <a:ln w="57150" cap="flat" cmpd="sng" algn="ctr">
                      <a:solidFill>
                        <a:srgbClr val="FFC000"/>
                      </a:solidFill>
                      <a:prstDash val="solid"/>
                      <a:round/>
                      <a:headEnd type="none" w="med" len="med"/>
                      <a:tailEnd type="none" w="med" len="med"/>
                    </a:ln>
                    <a:effectLst/>
                  </p:spPr>
                </p:cxnSp>
                <p:sp>
                  <p:nvSpPr>
                    <p:cNvPr id="41" name="Rectangle 40"/>
                    <p:cNvSpPr/>
                    <p:nvPr/>
                  </p:nvSpPr>
                  <p:spPr bwMode="auto">
                    <a:xfrm>
                      <a:off x="4572000" y="5257800"/>
                      <a:ext cx="381000" cy="685800"/>
                    </a:xfrm>
                    <a:prstGeom prst="rect">
                      <a:avLst/>
                    </a:prstGeom>
                    <a:noFill/>
                    <a:ln w="5715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a:ln w="18415" cmpd="sng">
                          <a:noFill/>
                          <a:prstDash val="solid"/>
                        </a:ln>
                        <a:effectLst>
                          <a:outerShdw blurRad="63500" dir="3600000" algn="tl" rotWithShape="0">
                            <a:srgbClr val="000000">
                              <a:alpha val="70000"/>
                            </a:srgbClr>
                          </a:outerShdw>
                        </a:effectLst>
                        <a:latin typeface="Times New Roman" pitchFamily="18" charset="0"/>
                      </a:endParaRPr>
                    </a:p>
                  </p:txBody>
                </p:sp>
              </p:grpSp>
              <p:sp>
                <p:nvSpPr>
                  <p:cNvPr id="38" name="TextBox 37"/>
                  <p:cNvSpPr txBox="1"/>
                  <p:nvPr/>
                </p:nvSpPr>
                <p:spPr>
                  <a:xfrm>
                    <a:off x="2438400" y="5181600"/>
                    <a:ext cx="1295400" cy="561273"/>
                  </a:xfrm>
                  <a:prstGeom prst="rect">
                    <a:avLst/>
                  </a:prstGeom>
                  <a:noFill/>
                </p:spPr>
                <p:txBody>
                  <a:bodyPr wrap="square" rtlCol="0">
                    <a:spAutoFit/>
                  </a:bodyPr>
                  <a:lstStyle/>
                  <a:p>
                    <a:pPr algn="ctr"/>
                    <a:r>
                      <a:rPr lang="en-US" sz="1400" dirty="0">
                        <a:ln w="18415" cmpd="sng">
                          <a:noFill/>
                          <a:prstDash val="solid"/>
                        </a:ln>
                        <a:effectLst>
                          <a:outerShdw blurRad="63500" dir="3600000" algn="tl" rotWithShape="0">
                            <a:srgbClr val="000000">
                              <a:alpha val="70000"/>
                            </a:srgbClr>
                          </a:outerShdw>
                        </a:effectLst>
                      </a:rPr>
                      <a:t>Offered</a:t>
                    </a:r>
                  </a:p>
                  <a:p>
                    <a:pPr algn="ctr"/>
                    <a:r>
                      <a:rPr lang="en-US" sz="1400" dirty="0">
                        <a:ln w="18415" cmpd="sng">
                          <a:noFill/>
                          <a:prstDash val="solid"/>
                        </a:ln>
                        <a:effectLst>
                          <a:outerShdw blurRad="63500" dir="3600000" algn="tl" rotWithShape="0">
                            <a:srgbClr val="000000">
                              <a:alpha val="70000"/>
                            </a:srgbClr>
                          </a:outerShdw>
                        </a:effectLst>
                      </a:rPr>
                      <a:t>course</a:t>
                    </a:r>
                  </a:p>
                </p:txBody>
              </p:sp>
            </p:grpSp>
            <p:grpSp>
              <p:nvGrpSpPr>
                <p:cNvPr id="12" name="Group 76"/>
                <p:cNvGrpSpPr/>
                <p:nvPr/>
              </p:nvGrpSpPr>
              <p:grpSpPr>
                <a:xfrm>
                  <a:off x="2438400" y="2209800"/>
                  <a:ext cx="1371600" cy="609600"/>
                  <a:chOff x="2286000" y="5181600"/>
                  <a:chExt cx="1447800" cy="609600"/>
                </a:xfrm>
              </p:grpSpPr>
              <p:grpSp>
                <p:nvGrpSpPr>
                  <p:cNvPr id="32" name="Group 70"/>
                  <p:cNvGrpSpPr/>
                  <p:nvPr/>
                </p:nvGrpSpPr>
                <p:grpSpPr>
                  <a:xfrm>
                    <a:off x="2286000" y="5181600"/>
                    <a:ext cx="1295400" cy="609600"/>
                    <a:chOff x="4572000" y="5257800"/>
                    <a:chExt cx="1600200" cy="685800"/>
                  </a:xfrm>
                </p:grpSpPr>
                <p:cxnSp>
                  <p:nvCxnSpPr>
                    <p:cNvPr id="34" name="Straight Connector 33"/>
                    <p:cNvCxnSpPr/>
                    <p:nvPr/>
                  </p:nvCxnSpPr>
                  <p:spPr bwMode="auto">
                    <a:xfrm>
                      <a:off x="4572000" y="5257800"/>
                      <a:ext cx="1600200" cy="0"/>
                    </a:xfrm>
                    <a:prstGeom prst="line">
                      <a:avLst/>
                    </a:prstGeom>
                    <a:solidFill>
                      <a:schemeClr val="accent1"/>
                    </a:solidFill>
                    <a:ln w="57150" cap="flat" cmpd="sng" algn="ctr">
                      <a:solidFill>
                        <a:srgbClr val="FFC000"/>
                      </a:solidFill>
                      <a:prstDash val="solid"/>
                      <a:round/>
                      <a:headEnd type="none" w="med" len="med"/>
                      <a:tailEnd type="none" w="med" len="med"/>
                    </a:ln>
                    <a:effectLst/>
                  </p:spPr>
                </p:cxnSp>
                <p:cxnSp>
                  <p:nvCxnSpPr>
                    <p:cNvPr id="35" name="Straight Connector 34"/>
                    <p:cNvCxnSpPr/>
                    <p:nvPr/>
                  </p:nvCxnSpPr>
                  <p:spPr bwMode="auto">
                    <a:xfrm>
                      <a:off x="4572000" y="5943600"/>
                      <a:ext cx="1600200" cy="0"/>
                    </a:xfrm>
                    <a:prstGeom prst="line">
                      <a:avLst/>
                    </a:prstGeom>
                    <a:solidFill>
                      <a:schemeClr val="accent1"/>
                    </a:solidFill>
                    <a:ln w="57150" cap="flat" cmpd="sng" algn="ctr">
                      <a:solidFill>
                        <a:srgbClr val="FFC000"/>
                      </a:solidFill>
                      <a:prstDash val="solid"/>
                      <a:round/>
                      <a:headEnd type="none" w="med" len="med"/>
                      <a:tailEnd type="none" w="med" len="med"/>
                    </a:ln>
                    <a:effectLst/>
                  </p:spPr>
                </p:cxnSp>
                <p:sp>
                  <p:nvSpPr>
                    <p:cNvPr id="36" name="Rectangle 35"/>
                    <p:cNvSpPr/>
                    <p:nvPr/>
                  </p:nvSpPr>
                  <p:spPr bwMode="auto">
                    <a:xfrm>
                      <a:off x="4572000" y="5257800"/>
                      <a:ext cx="381000" cy="685800"/>
                    </a:xfrm>
                    <a:prstGeom prst="rect">
                      <a:avLst/>
                    </a:prstGeom>
                    <a:noFill/>
                    <a:ln w="5715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a:ln w="18415" cmpd="sng">
                          <a:noFill/>
                          <a:prstDash val="solid"/>
                        </a:ln>
                        <a:effectLst>
                          <a:outerShdw blurRad="63500" dir="3600000" algn="tl" rotWithShape="0">
                            <a:srgbClr val="000000">
                              <a:alpha val="70000"/>
                            </a:srgbClr>
                          </a:outerShdw>
                        </a:effectLst>
                        <a:latin typeface="Times New Roman" pitchFamily="18" charset="0"/>
                      </a:endParaRPr>
                    </a:p>
                  </p:txBody>
                </p:sp>
              </p:grpSp>
              <p:sp>
                <p:nvSpPr>
                  <p:cNvPr id="33" name="TextBox 32"/>
                  <p:cNvSpPr txBox="1"/>
                  <p:nvPr/>
                </p:nvSpPr>
                <p:spPr>
                  <a:xfrm>
                    <a:off x="2438400" y="5331023"/>
                    <a:ext cx="1295400" cy="330161"/>
                  </a:xfrm>
                  <a:prstGeom prst="rect">
                    <a:avLst/>
                  </a:prstGeom>
                  <a:noFill/>
                </p:spPr>
                <p:txBody>
                  <a:bodyPr wrap="square" rtlCol="0">
                    <a:spAutoFit/>
                  </a:bodyPr>
                  <a:lstStyle/>
                  <a:p>
                    <a:pPr algn="ctr"/>
                    <a:r>
                      <a:rPr lang="en-US" sz="1400" dirty="0">
                        <a:ln w="18415" cmpd="sng">
                          <a:noFill/>
                          <a:prstDash val="solid"/>
                        </a:ln>
                        <a:effectLst>
                          <a:outerShdw blurRad="63500" dir="3600000" algn="tl" rotWithShape="0">
                            <a:srgbClr val="000000">
                              <a:alpha val="70000"/>
                            </a:srgbClr>
                          </a:outerShdw>
                        </a:effectLst>
                      </a:rPr>
                      <a:t>Student</a:t>
                    </a:r>
                  </a:p>
                </p:txBody>
              </p:sp>
            </p:grpSp>
            <p:grpSp>
              <p:nvGrpSpPr>
                <p:cNvPr id="13" name="Group 82"/>
                <p:cNvGrpSpPr/>
                <p:nvPr/>
              </p:nvGrpSpPr>
              <p:grpSpPr>
                <a:xfrm>
                  <a:off x="4572000" y="3124200"/>
                  <a:ext cx="1371600" cy="609600"/>
                  <a:chOff x="2286000" y="5181600"/>
                  <a:chExt cx="1447800" cy="609600"/>
                </a:xfrm>
              </p:grpSpPr>
              <p:grpSp>
                <p:nvGrpSpPr>
                  <p:cNvPr id="27" name="Group 70"/>
                  <p:cNvGrpSpPr/>
                  <p:nvPr/>
                </p:nvGrpSpPr>
                <p:grpSpPr>
                  <a:xfrm>
                    <a:off x="2286000" y="5181600"/>
                    <a:ext cx="1295400" cy="609600"/>
                    <a:chOff x="4572000" y="5257800"/>
                    <a:chExt cx="1600200" cy="685800"/>
                  </a:xfrm>
                </p:grpSpPr>
                <p:cxnSp>
                  <p:nvCxnSpPr>
                    <p:cNvPr id="29" name="Straight Connector 28"/>
                    <p:cNvCxnSpPr/>
                    <p:nvPr/>
                  </p:nvCxnSpPr>
                  <p:spPr bwMode="auto">
                    <a:xfrm>
                      <a:off x="4572000" y="5257800"/>
                      <a:ext cx="1600200" cy="0"/>
                    </a:xfrm>
                    <a:prstGeom prst="line">
                      <a:avLst/>
                    </a:prstGeom>
                    <a:solidFill>
                      <a:schemeClr val="accent1"/>
                    </a:solidFill>
                    <a:ln w="57150" cap="flat" cmpd="sng" algn="ctr">
                      <a:solidFill>
                        <a:srgbClr val="FFC000"/>
                      </a:solidFill>
                      <a:prstDash val="solid"/>
                      <a:round/>
                      <a:headEnd type="none" w="med" len="med"/>
                      <a:tailEnd type="none" w="med" len="med"/>
                    </a:ln>
                    <a:effectLst/>
                  </p:spPr>
                </p:cxnSp>
                <p:cxnSp>
                  <p:nvCxnSpPr>
                    <p:cNvPr id="30" name="Straight Connector 29"/>
                    <p:cNvCxnSpPr/>
                    <p:nvPr/>
                  </p:nvCxnSpPr>
                  <p:spPr bwMode="auto">
                    <a:xfrm>
                      <a:off x="4572000" y="5943600"/>
                      <a:ext cx="1600200" cy="0"/>
                    </a:xfrm>
                    <a:prstGeom prst="line">
                      <a:avLst/>
                    </a:prstGeom>
                    <a:solidFill>
                      <a:schemeClr val="accent1"/>
                    </a:solidFill>
                    <a:ln w="57150" cap="flat" cmpd="sng" algn="ctr">
                      <a:solidFill>
                        <a:srgbClr val="FFC000"/>
                      </a:solidFill>
                      <a:prstDash val="solid"/>
                      <a:round/>
                      <a:headEnd type="none" w="med" len="med"/>
                      <a:tailEnd type="none" w="med" len="med"/>
                    </a:ln>
                    <a:effectLst/>
                  </p:spPr>
                </p:cxnSp>
                <p:sp>
                  <p:nvSpPr>
                    <p:cNvPr id="31" name="Rectangle 30"/>
                    <p:cNvSpPr/>
                    <p:nvPr/>
                  </p:nvSpPr>
                  <p:spPr bwMode="auto">
                    <a:xfrm>
                      <a:off x="4572000" y="5257800"/>
                      <a:ext cx="381000" cy="685800"/>
                    </a:xfrm>
                    <a:prstGeom prst="rect">
                      <a:avLst/>
                    </a:prstGeom>
                    <a:noFill/>
                    <a:ln w="5715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a:ln w="18415" cmpd="sng">
                          <a:noFill/>
                          <a:prstDash val="solid"/>
                        </a:ln>
                        <a:effectLst>
                          <a:outerShdw blurRad="63500" dir="3600000" algn="tl" rotWithShape="0">
                            <a:srgbClr val="000000">
                              <a:alpha val="70000"/>
                            </a:srgbClr>
                          </a:outerShdw>
                        </a:effectLst>
                        <a:latin typeface="Times New Roman" pitchFamily="18" charset="0"/>
                      </a:endParaRPr>
                    </a:p>
                  </p:txBody>
                </p:sp>
              </p:grpSp>
              <p:sp>
                <p:nvSpPr>
                  <p:cNvPr id="28" name="TextBox 27"/>
                  <p:cNvSpPr txBox="1"/>
                  <p:nvPr/>
                </p:nvSpPr>
                <p:spPr>
                  <a:xfrm>
                    <a:off x="2438400" y="5181600"/>
                    <a:ext cx="1295400" cy="561273"/>
                  </a:xfrm>
                  <a:prstGeom prst="rect">
                    <a:avLst/>
                  </a:prstGeom>
                  <a:noFill/>
                </p:spPr>
                <p:txBody>
                  <a:bodyPr wrap="square" rtlCol="0">
                    <a:spAutoFit/>
                  </a:bodyPr>
                  <a:lstStyle/>
                  <a:p>
                    <a:pPr algn="ctr"/>
                    <a:r>
                      <a:rPr lang="en-US" sz="1400" dirty="0">
                        <a:ln w="18415" cmpd="sng">
                          <a:noFill/>
                          <a:prstDash val="solid"/>
                        </a:ln>
                        <a:effectLst>
                          <a:outerShdw blurRad="63500" dir="3600000" algn="tl" rotWithShape="0">
                            <a:srgbClr val="000000">
                              <a:alpha val="70000"/>
                            </a:srgbClr>
                          </a:outerShdw>
                        </a:effectLst>
                      </a:rPr>
                      <a:t>Course</a:t>
                    </a:r>
                  </a:p>
                  <a:p>
                    <a:pPr algn="ctr"/>
                    <a:r>
                      <a:rPr lang="en-US" sz="1400" dirty="0">
                        <a:ln w="18415" cmpd="sng">
                          <a:noFill/>
                          <a:prstDash val="solid"/>
                        </a:ln>
                        <a:effectLst>
                          <a:outerShdw blurRad="63500" dir="3600000" algn="tl" rotWithShape="0">
                            <a:srgbClr val="000000">
                              <a:alpha val="70000"/>
                            </a:srgbClr>
                          </a:outerShdw>
                        </a:effectLst>
                      </a:rPr>
                      <a:t>enrollment</a:t>
                    </a:r>
                  </a:p>
                </p:txBody>
              </p:sp>
            </p:grpSp>
            <p:cxnSp>
              <p:nvCxnSpPr>
                <p:cNvPr id="14" name="Straight Arrow Connector 13"/>
                <p:cNvCxnSpPr/>
                <p:nvPr/>
              </p:nvCxnSpPr>
              <p:spPr>
                <a:xfrm flipH="1">
                  <a:off x="5775370" y="1600200"/>
                  <a:ext cx="1082630" cy="16788"/>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5775370" y="2200102"/>
                  <a:ext cx="1082629" cy="9699"/>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5181600" y="3810000"/>
                  <a:ext cx="0" cy="53340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5181600" y="2590800"/>
                  <a:ext cx="0" cy="45720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72" idx="6"/>
                </p:cNvCxnSpPr>
                <p:nvPr/>
              </p:nvCxnSpPr>
              <p:spPr>
                <a:xfrm flipV="1">
                  <a:off x="5775370" y="5029201"/>
                  <a:ext cx="1006429" cy="10667"/>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a:off x="3695827" y="2489325"/>
                  <a:ext cx="615599" cy="2379691"/>
                </a:xfrm>
                <a:prstGeom prst="bentConnector2">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0" name="Shape 19"/>
                <p:cNvCxnSpPr/>
                <p:nvPr/>
              </p:nvCxnSpPr>
              <p:spPr>
                <a:xfrm>
                  <a:off x="3468184" y="4343400"/>
                  <a:ext cx="918212" cy="915363"/>
                </a:xfrm>
                <a:prstGeom prst="bentConnector3">
                  <a:avLst>
                    <a:gd name="adj1" fmla="val 50000"/>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1676400" y="4343400"/>
                  <a:ext cx="685800" cy="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2" name="Elbow Connector 21"/>
                <p:cNvCxnSpPr>
                  <a:endCxn id="71" idx="2"/>
                </p:cNvCxnSpPr>
                <p:nvPr/>
              </p:nvCxnSpPr>
              <p:spPr>
                <a:xfrm flipV="1">
                  <a:off x="3048000" y="1874205"/>
                  <a:ext cx="1445350" cy="259395"/>
                </a:xfrm>
                <a:prstGeom prst="bentConnector3">
                  <a:avLst>
                    <a:gd name="adj1" fmla="val -1359"/>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2133600" y="1524000"/>
                  <a:ext cx="2438400" cy="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2133600" y="1524000"/>
                  <a:ext cx="0" cy="25146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2133600" y="4038600"/>
                  <a:ext cx="2286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1066800" y="2438400"/>
                  <a:ext cx="0" cy="91440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66" name="TextBox 65"/>
              <p:cNvSpPr txBox="1"/>
              <p:nvPr/>
            </p:nvSpPr>
            <p:spPr>
              <a:xfrm>
                <a:off x="1340667" y="3733800"/>
                <a:ext cx="1097733" cy="523220"/>
              </a:xfrm>
              <a:prstGeom prst="rect">
                <a:avLst/>
              </a:prstGeom>
              <a:noFill/>
            </p:spPr>
            <p:txBody>
              <a:bodyPr wrap="square" rtlCol="0">
                <a:spAutoFit/>
              </a:bodyPr>
              <a:lstStyle/>
              <a:p>
                <a:pPr algn="ctr"/>
                <a:r>
                  <a:rPr lang="en-US" sz="1400" dirty="0">
                    <a:ln w="18415" cmpd="sng">
                      <a:noFill/>
                      <a:prstDash val="solid"/>
                    </a:ln>
                    <a:effectLst>
                      <a:outerShdw blurRad="63500" dir="3600000" algn="tl" rotWithShape="0">
                        <a:srgbClr val="000000">
                          <a:alpha val="70000"/>
                        </a:srgbClr>
                      </a:outerShdw>
                    </a:effectLst>
                  </a:rPr>
                  <a:t>Schedule</a:t>
                </a:r>
              </a:p>
              <a:p>
                <a:pPr algn="ctr"/>
                <a:r>
                  <a:rPr lang="en-US" sz="1400" dirty="0">
                    <a:ln w="18415" cmpd="sng">
                      <a:noFill/>
                      <a:prstDash val="solid"/>
                    </a:ln>
                    <a:effectLst>
                      <a:outerShdw blurRad="63500" dir="3600000" algn="tl" rotWithShape="0">
                        <a:srgbClr val="000000">
                          <a:alpha val="70000"/>
                        </a:srgbClr>
                      </a:outerShdw>
                    </a:effectLst>
                  </a:rPr>
                  <a:t>date</a:t>
                </a:r>
              </a:p>
            </p:txBody>
          </p:sp>
          <p:sp>
            <p:nvSpPr>
              <p:cNvPr id="67" name="TextBox 66"/>
              <p:cNvSpPr txBox="1"/>
              <p:nvPr/>
            </p:nvSpPr>
            <p:spPr>
              <a:xfrm>
                <a:off x="6019800" y="2362200"/>
                <a:ext cx="1097733" cy="523220"/>
              </a:xfrm>
              <a:prstGeom prst="rect">
                <a:avLst/>
              </a:prstGeom>
              <a:noFill/>
            </p:spPr>
            <p:txBody>
              <a:bodyPr wrap="square" rtlCol="0">
                <a:spAutoFit/>
              </a:bodyPr>
              <a:lstStyle/>
              <a:p>
                <a:pPr algn="ctr"/>
                <a:r>
                  <a:rPr lang="en-US" sz="1400" dirty="0">
                    <a:ln w="18415" cmpd="sng">
                      <a:noFill/>
                      <a:prstDash val="solid"/>
                    </a:ln>
                    <a:effectLst>
                      <a:outerShdw blurRad="63500" dir="3600000" algn="tl" rotWithShape="0">
                        <a:srgbClr val="000000">
                          <a:alpha val="70000"/>
                        </a:srgbClr>
                      </a:outerShdw>
                    </a:effectLst>
                  </a:rPr>
                  <a:t>Enrollment</a:t>
                </a:r>
              </a:p>
              <a:p>
                <a:pPr algn="ctr"/>
                <a:r>
                  <a:rPr lang="en-US" sz="1400" dirty="0">
                    <a:ln w="18415" cmpd="sng">
                      <a:noFill/>
                      <a:prstDash val="solid"/>
                    </a:ln>
                    <a:effectLst>
                      <a:outerShdw blurRad="63500" dir="3600000" algn="tl" rotWithShape="0">
                        <a:srgbClr val="000000">
                          <a:alpha val="70000"/>
                        </a:srgbClr>
                      </a:outerShdw>
                    </a:effectLst>
                  </a:rPr>
                  <a:t>request</a:t>
                </a:r>
              </a:p>
            </p:txBody>
          </p:sp>
          <p:sp>
            <p:nvSpPr>
              <p:cNvPr id="68" name="TextBox 67"/>
              <p:cNvSpPr txBox="1"/>
              <p:nvPr/>
            </p:nvSpPr>
            <p:spPr>
              <a:xfrm>
                <a:off x="5943600" y="3429000"/>
                <a:ext cx="1097733" cy="307777"/>
              </a:xfrm>
              <a:prstGeom prst="rect">
                <a:avLst/>
              </a:prstGeom>
              <a:noFill/>
            </p:spPr>
            <p:txBody>
              <a:bodyPr wrap="square" rtlCol="0">
                <a:spAutoFit/>
              </a:bodyPr>
              <a:lstStyle/>
              <a:p>
                <a:pPr algn="ctr"/>
                <a:r>
                  <a:rPr lang="en-US" sz="1400" dirty="0">
                    <a:ln w="18415" cmpd="sng">
                      <a:noFill/>
                      <a:prstDash val="solid"/>
                    </a:ln>
                    <a:effectLst>
                      <a:outerShdw blurRad="63500" dir="3600000" algn="tl" rotWithShape="0">
                        <a:srgbClr val="000000">
                          <a:alpha val="70000"/>
                        </a:srgbClr>
                      </a:outerShdw>
                    </a:effectLst>
                  </a:rPr>
                  <a:t>Schedule</a:t>
                </a:r>
              </a:p>
            </p:txBody>
          </p:sp>
          <p:sp>
            <p:nvSpPr>
              <p:cNvPr id="69" name="TextBox 68"/>
              <p:cNvSpPr txBox="1"/>
              <p:nvPr/>
            </p:nvSpPr>
            <p:spPr>
              <a:xfrm>
                <a:off x="5867400" y="5712023"/>
                <a:ext cx="1097733" cy="307777"/>
              </a:xfrm>
              <a:prstGeom prst="rect">
                <a:avLst/>
              </a:prstGeom>
              <a:noFill/>
            </p:spPr>
            <p:txBody>
              <a:bodyPr wrap="square" rtlCol="0">
                <a:spAutoFit/>
              </a:bodyPr>
              <a:lstStyle/>
              <a:p>
                <a:pPr algn="ctr"/>
                <a:r>
                  <a:rPr lang="en-US" sz="1400" dirty="0">
                    <a:ln w="18415" cmpd="sng">
                      <a:noFill/>
                      <a:prstDash val="solid"/>
                    </a:ln>
                    <a:effectLst>
                      <a:outerShdw blurRad="63500" dir="3600000" algn="tl" rotWithShape="0">
                        <a:srgbClr val="000000">
                          <a:alpha val="70000"/>
                        </a:srgbClr>
                      </a:outerShdw>
                    </a:effectLst>
                  </a:rPr>
                  <a:t>Class list</a:t>
                </a:r>
              </a:p>
            </p:txBody>
          </p:sp>
        </p:grpSp>
        <p:sp>
          <p:nvSpPr>
            <p:cNvPr id="71" name="Oval 70"/>
            <p:cNvSpPr/>
            <p:nvPr/>
          </p:nvSpPr>
          <p:spPr>
            <a:xfrm>
              <a:off x="4870765" y="2480433"/>
              <a:ext cx="1260785" cy="1289529"/>
            </a:xfrm>
            <a:prstGeom prst="ellipse">
              <a:avLst/>
            </a:prstGeom>
            <a:noFill/>
            <a:ln w="476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2" name="Oval 71"/>
            <p:cNvSpPr/>
            <p:nvPr/>
          </p:nvSpPr>
          <p:spPr>
            <a:xfrm>
              <a:off x="4841228" y="5431475"/>
              <a:ext cx="1260785" cy="1289529"/>
            </a:xfrm>
            <a:prstGeom prst="ellipse">
              <a:avLst/>
            </a:prstGeom>
            <a:noFill/>
            <a:ln w="476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3" name="Oval 72"/>
            <p:cNvSpPr/>
            <p:nvPr/>
          </p:nvSpPr>
          <p:spPr>
            <a:xfrm>
              <a:off x="919798" y="4540883"/>
              <a:ext cx="1260785" cy="1289529"/>
            </a:xfrm>
            <a:prstGeom prst="ellipse">
              <a:avLst/>
            </a:prstGeom>
            <a:noFill/>
            <a:ln w="476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2"/>
                                        </p:tgtEl>
                                        <p:attrNameLst>
                                          <p:attrName>style.visibility</p:attrName>
                                        </p:attrNameLst>
                                      </p:cBhvr>
                                      <p:to>
                                        <p:strVal val="visible"/>
                                      </p:to>
                                    </p:set>
                                    <p:animEffect transition="in" filter="fade">
                                      <p:cBhvr>
                                        <p:cTn id="14" dur="1000"/>
                                        <p:tgtEl>
                                          <p:spTgt spid="42"/>
                                        </p:tgtEl>
                                      </p:cBhvr>
                                    </p:animEffect>
                                    <p:anim calcmode="lin" valueType="num">
                                      <p:cBhvr>
                                        <p:cTn id="15" dur="1000" fill="hold"/>
                                        <p:tgtEl>
                                          <p:spTgt spid="42"/>
                                        </p:tgtEl>
                                        <p:attrNameLst>
                                          <p:attrName>ppt_x</p:attrName>
                                        </p:attrNameLst>
                                      </p:cBhvr>
                                      <p:tavLst>
                                        <p:tav tm="0">
                                          <p:val>
                                            <p:strVal val="#ppt_x"/>
                                          </p:val>
                                        </p:tav>
                                        <p:tav tm="100000">
                                          <p:val>
                                            <p:strVal val="#ppt_x"/>
                                          </p:val>
                                        </p:tav>
                                      </p:tavLst>
                                    </p:anim>
                                    <p:anim calcmode="lin" valueType="num">
                                      <p:cBhvr>
                                        <p:cTn id="16"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Flow Diagram</a:t>
            </a:r>
          </a:p>
        </p:txBody>
      </p:sp>
      <p:sp>
        <p:nvSpPr>
          <p:cNvPr id="3" name="Content Placeholder 2"/>
          <p:cNvSpPr>
            <a:spLocks noGrp="1"/>
          </p:cNvSpPr>
          <p:nvPr>
            <p:ph idx="1"/>
          </p:nvPr>
        </p:nvSpPr>
        <p:spPr>
          <a:xfrm>
            <a:off x="2392268" y="1828713"/>
            <a:ext cx="7429499" cy="3541714"/>
          </a:xfrm>
        </p:spPr>
        <p:txBody>
          <a:bodyPr/>
          <a:lstStyle/>
          <a:p>
            <a:r>
              <a:rPr lang="en-US" dirty="0"/>
              <a:t>Level 2 : Schedule Course </a:t>
            </a:r>
          </a:p>
        </p:txBody>
      </p:sp>
      <p:grpSp>
        <p:nvGrpSpPr>
          <p:cNvPr id="41" name="Group 40"/>
          <p:cNvGrpSpPr/>
          <p:nvPr/>
        </p:nvGrpSpPr>
        <p:grpSpPr>
          <a:xfrm>
            <a:off x="3352800" y="2653346"/>
            <a:ext cx="5715000" cy="3725022"/>
            <a:chOff x="1828800" y="2653346"/>
            <a:chExt cx="5715000" cy="3725022"/>
          </a:xfrm>
        </p:grpSpPr>
        <p:grpSp>
          <p:nvGrpSpPr>
            <p:cNvPr id="4" name="Group 3"/>
            <p:cNvGrpSpPr/>
            <p:nvPr/>
          </p:nvGrpSpPr>
          <p:grpSpPr>
            <a:xfrm>
              <a:off x="1828800" y="2763374"/>
              <a:ext cx="5715000" cy="3525215"/>
              <a:chOff x="990600" y="1245650"/>
              <a:chExt cx="6324600" cy="4621949"/>
            </a:xfrm>
          </p:grpSpPr>
          <p:grpSp>
            <p:nvGrpSpPr>
              <p:cNvPr id="5" name="Group 19"/>
              <p:cNvGrpSpPr/>
              <p:nvPr/>
            </p:nvGrpSpPr>
            <p:grpSpPr>
              <a:xfrm>
                <a:off x="990600" y="2895600"/>
                <a:ext cx="1143000" cy="1249207"/>
                <a:chOff x="1524000" y="762000"/>
                <a:chExt cx="1524000" cy="1695352"/>
              </a:xfrm>
            </p:grpSpPr>
            <p:sp>
              <p:nvSpPr>
                <p:cNvPr id="53" name="Rectangle 52"/>
                <p:cNvSpPr/>
                <p:nvPr/>
              </p:nvSpPr>
              <p:spPr bwMode="auto">
                <a:xfrm>
                  <a:off x="1524000" y="762000"/>
                  <a:ext cx="1524000" cy="1447800"/>
                </a:xfrm>
                <a:prstGeom prst="rect">
                  <a:avLst/>
                </a:prstGeom>
                <a:noFill/>
                <a:ln w="5715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a:ln w="18415" cmpd="sng">
                      <a:noFill/>
                      <a:prstDash val="solid"/>
                    </a:ln>
                    <a:effectLst>
                      <a:outerShdw blurRad="63500" dir="3600000" algn="tl" rotWithShape="0">
                        <a:srgbClr val="000000">
                          <a:alpha val="70000"/>
                        </a:srgbClr>
                      </a:outerShdw>
                    </a:effectLst>
                    <a:latin typeface="Times New Roman" pitchFamily="18" charset="0"/>
                  </a:endParaRPr>
                </a:p>
              </p:txBody>
            </p:sp>
            <p:sp>
              <p:nvSpPr>
                <p:cNvPr id="54" name="TextBox 53"/>
                <p:cNvSpPr txBox="1"/>
                <p:nvPr/>
              </p:nvSpPr>
              <p:spPr>
                <a:xfrm>
                  <a:off x="1524000" y="1142999"/>
                  <a:ext cx="1524000" cy="1314353"/>
                </a:xfrm>
                <a:prstGeom prst="rect">
                  <a:avLst/>
                </a:prstGeom>
                <a:noFill/>
              </p:spPr>
              <p:txBody>
                <a:bodyPr wrap="square" rtlCol="0">
                  <a:spAutoFit/>
                </a:bodyPr>
                <a:lstStyle/>
                <a:p>
                  <a:pPr algn="ctr"/>
                  <a:r>
                    <a:rPr lang="en-US" sz="1400" dirty="0">
                      <a:ln w="18415" cmpd="sng">
                        <a:noFill/>
                        <a:prstDash val="solid"/>
                      </a:ln>
                      <a:effectLst>
                        <a:outerShdw blurRad="63500" dir="3600000" algn="tl" rotWithShape="0">
                          <a:srgbClr val="000000">
                            <a:alpha val="70000"/>
                          </a:srgbClr>
                        </a:outerShdw>
                      </a:effectLst>
                    </a:rPr>
                    <a:t>Academic Department</a:t>
                  </a:r>
                </a:p>
              </p:txBody>
            </p:sp>
          </p:grpSp>
          <p:grpSp>
            <p:nvGrpSpPr>
              <p:cNvPr id="6" name="Group 49"/>
              <p:cNvGrpSpPr/>
              <p:nvPr/>
            </p:nvGrpSpPr>
            <p:grpSpPr>
              <a:xfrm>
                <a:off x="2743199" y="1245650"/>
                <a:ext cx="1295400" cy="1383249"/>
                <a:chOff x="1295399" y="3303050"/>
                <a:chExt cx="1295400" cy="1383249"/>
              </a:xfrm>
            </p:grpSpPr>
            <p:sp>
              <p:nvSpPr>
                <p:cNvPr id="50" name="TextBox 44"/>
                <p:cNvSpPr txBox="1"/>
                <p:nvPr/>
              </p:nvSpPr>
              <p:spPr>
                <a:xfrm>
                  <a:off x="1295399" y="3717829"/>
                  <a:ext cx="1295400" cy="968470"/>
                </a:xfrm>
                <a:prstGeom prst="rect">
                  <a:avLst/>
                </a:prstGeom>
                <a:noFill/>
              </p:spPr>
              <p:txBody>
                <a:bodyPr wrap="square" rtlCol="0">
                  <a:spAutoFit/>
                </a:bodyPr>
                <a:lstStyle/>
                <a:p>
                  <a:pPr algn="ctr"/>
                  <a:r>
                    <a:rPr lang="en-US" sz="1400" dirty="0">
                      <a:ln w="18415" cmpd="sng">
                        <a:noFill/>
                        <a:prstDash val="solid"/>
                      </a:ln>
                      <a:effectLst>
                        <a:outerShdw blurRad="63500" dir="3600000" algn="tl" rotWithShape="0">
                          <a:srgbClr val="000000">
                            <a:alpha val="70000"/>
                          </a:srgbClr>
                        </a:outerShdw>
                      </a:effectLst>
                    </a:rPr>
                    <a:t>Choose</a:t>
                  </a:r>
                </a:p>
                <a:p>
                  <a:pPr algn="ctr"/>
                  <a:r>
                    <a:rPr lang="en-US" sz="1400" dirty="0">
                      <a:ln w="18415" cmpd="sng">
                        <a:noFill/>
                        <a:prstDash val="solid"/>
                      </a:ln>
                      <a:effectLst>
                        <a:outerShdw blurRad="63500" dir="3600000" algn="tl" rotWithShape="0">
                          <a:srgbClr val="000000">
                            <a:alpha val="70000"/>
                          </a:srgbClr>
                        </a:outerShdw>
                      </a:effectLst>
                    </a:rPr>
                    <a:t>days and</a:t>
                  </a:r>
                </a:p>
                <a:p>
                  <a:pPr algn="ctr"/>
                  <a:r>
                    <a:rPr lang="en-US" sz="1400" dirty="0">
                      <a:ln w="18415" cmpd="sng">
                        <a:noFill/>
                        <a:prstDash val="solid"/>
                      </a:ln>
                      <a:effectLst>
                        <a:outerShdw blurRad="63500" dir="3600000" algn="tl" rotWithShape="0">
                          <a:srgbClr val="000000">
                            <a:alpha val="70000"/>
                          </a:srgbClr>
                        </a:outerShdw>
                      </a:effectLst>
                    </a:rPr>
                    <a:t>times</a:t>
                  </a:r>
                </a:p>
              </p:txBody>
            </p:sp>
            <p:sp>
              <p:nvSpPr>
                <p:cNvPr id="48" name="TextBox 47"/>
                <p:cNvSpPr txBox="1"/>
                <p:nvPr/>
              </p:nvSpPr>
              <p:spPr>
                <a:xfrm>
                  <a:off x="1574451" y="3303050"/>
                  <a:ext cx="762000" cy="403530"/>
                </a:xfrm>
                <a:prstGeom prst="rect">
                  <a:avLst/>
                </a:prstGeom>
                <a:noFill/>
              </p:spPr>
              <p:txBody>
                <a:bodyPr wrap="square" rtlCol="0">
                  <a:spAutoFit/>
                </a:bodyPr>
                <a:lstStyle/>
                <a:p>
                  <a:pPr algn="ctr"/>
                  <a:r>
                    <a:rPr lang="en-US" sz="1400" dirty="0">
                      <a:ln w="18415" cmpd="sng">
                        <a:noFill/>
                        <a:prstDash val="solid"/>
                      </a:ln>
                      <a:effectLst>
                        <a:outerShdw blurRad="63500" dir="3600000" algn="tl" rotWithShape="0">
                          <a:srgbClr val="000000">
                            <a:alpha val="70000"/>
                          </a:srgbClr>
                        </a:outerShdw>
                      </a:effectLst>
                    </a:rPr>
                    <a:t>1.1</a:t>
                  </a:r>
                </a:p>
              </p:txBody>
            </p:sp>
          </p:grpSp>
          <p:grpSp>
            <p:nvGrpSpPr>
              <p:cNvPr id="7" name="Group 56"/>
              <p:cNvGrpSpPr/>
              <p:nvPr/>
            </p:nvGrpSpPr>
            <p:grpSpPr>
              <a:xfrm>
                <a:off x="2743200" y="4620460"/>
                <a:ext cx="1295400" cy="1106818"/>
                <a:chOff x="1295400" y="3477460"/>
                <a:chExt cx="1295400" cy="1106818"/>
              </a:xfrm>
            </p:grpSpPr>
            <p:sp>
              <p:nvSpPr>
                <p:cNvPr id="44" name="TextBox 43"/>
                <p:cNvSpPr txBox="1"/>
                <p:nvPr/>
              </p:nvSpPr>
              <p:spPr>
                <a:xfrm>
                  <a:off x="1295400" y="3898280"/>
                  <a:ext cx="1295400" cy="685998"/>
                </a:xfrm>
                <a:prstGeom prst="rect">
                  <a:avLst/>
                </a:prstGeom>
                <a:noFill/>
              </p:spPr>
              <p:txBody>
                <a:bodyPr wrap="square" rtlCol="0">
                  <a:spAutoFit/>
                </a:bodyPr>
                <a:lstStyle/>
                <a:p>
                  <a:pPr algn="ctr"/>
                  <a:r>
                    <a:rPr lang="en-US" sz="1400" dirty="0">
                      <a:ln w="18415" cmpd="sng">
                        <a:noFill/>
                        <a:prstDash val="solid"/>
                      </a:ln>
                      <a:effectLst>
                        <a:outerShdw blurRad="63500" dir="3600000" algn="tl" rotWithShape="0">
                          <a:srgbClr val="000000">
                            <a:alpha val="70000"/>
                          </a:srgbClr>
                        </a:outerShdw>
                      </a:effectLst>
                    </a:rPr>
                    <a:t>Assign</a:t>
                  </a:r>
                </a:p>
                <a:p>
                  <a:pPr algn="ctr"/>
                  <a:r>
                    <a:rPr lang="en-US" sz="1400" dirty="0">
                      <a:ln w="18415" cmpd="sng">
                        <a:noFill/>
                        <a:prstDash val="solid"/>
                      </a:ln>
                      <a:effectLst>
                        <a:outerShdw blurRad="63500" dir="3600000" algn="tl" rotWithShape="0">
                          <a:srgbClr val="000000">
                            <a:alpha val="70000"/>
                          </a:srgbClr>
                        </a:outerShdw>
                      </a:effectLst>
                    </a:rPr>
                    <a:t>faculty</a:t>
                  </a:r>
                </a:p>
              </p:txBody>
            </p:sp>
            <p:sp>
              <p:nvSpPr>
                <p:cNvPr id="42" name="TextBox 41"/>
                <p:cNvSpPr txBox="1"/>
                <p:nvPr/>
              </p:nvSpPr>
              <p:spPr>
                <a:xfrm>
                  <a:off x="1562099" y="3477460"/>
                  <a:ext cx="762000" cy="403530"/>
                </a:xfrm>
                <a:prstGeom prst="rect">
                  <a:avLst/>
                </a:prstGeom>
                <a:noFill/>
              </p:spPr>
              <p:txBody>
                <a:bodyPr wrap="square" rtlCol="0">
                  <a:spAutoFit/>
                </a:bodyPr>
                <a:lstStyle/>
                <a:p>
                  <a:pPr algn="ctr"/>
                  <a:r>
                    <a:rPr lang="en-US" sz="1400" dirty="0">
                      <a:ln w="18415" cmpd="sng">
                        <a:noFill/>
                        <a:prstDash val="solid"/>
                      </a:ln>
                      <a:effectLst>
                        <a:outerShdw blurRad="63500" dir="3600000" algn="tl" rotWithShape="0">
                          <a:srgbClr val="000000">
                            <a:alpha val="70000"/>
                          </a:srgbClr>
                        </a:outerShdw>
                      </a:effectLst>
                    </a:rPr>
                    <a:t>1.2</a:t>
                  </a:r>
                </a:p>
              </p:txBody>
            </p:sp>
          </p:grpSp>
          <p:grpSp>
            <p:nvGrpSpPr>
              <p:cNvPr id="8" name="Group 63"/>
              <p:cNvGrpSpPr/>
              <p:nvPr/>
            </p:nvGrpSpPr>
            <p:grpSpPr>
              <a:xfrm>
                <a:off x="5867400" y="1295400"/>
                <a:ext cx="1295400" cy="1231478"/>
                <a:chOff x="1295400" y="3352800"/>
                <a:chExt cx="1295400" cy="1231478"/>
              </a:xfrm>
            </p:grpSpPr>
            <p:sp>
              <p:nvSpPr>
                <p:cNvPr id="38" name="TextBox 37"/>
                <p:cNvSpPr txBox="1"/>
                <p:nvPr/>
              </p:nvSpPr>
              <p:spPr>
                <a:xfrm>
                  <a:off x="1295400" y="3898279"/>
                  <a:ext cx="1295400" cy="685999"/>
                </a:xfrm>
                <a:prstGeom prst="rect">
                  <a:avLst/>
                </a:prstGeom>
                <a:noFill/>
              </p:spPr>
              <p:txBody>
                <a:bodyPr wrap="square" rtlCol="0">
                  <a:spAutoFit/>
                </a:bodyPr>
                <a:lstStyle/>
                <a:p>
                  <a:pPr algn="ctr"/>
                  <a:r>
                    <a:rPr lang="en-US" sz="1400" dirty="0">
                      <a:ln w="18415" cmpd="sng">
                        <a:noFill/>
                        <a:prstDash val="solid"/>
                      </a:ln>
                      <a:effectLst>
                        <a:outerShdw blurRad="63500" dir="3600000" algn="tl" rotWithShape="0">
                          <a:srgbClr val="000000">
                            <a:alpha val="70000"/>
                          </a:srgbClr>
                        </a:outerShdw>
                      </a:effectLst>
                    </a:rPr>
                    <a:t>Assign</a:t>
                  </a:r>
                </a:p>
                <a:p>
                  <a:pPr algn="ctr"/>
                  <a:r>
                    <a:rPr lang="en-US" sz="1400" dirty="0">
                      <a:ln w="18415" cmpd="sng">
                        <a:noFill/>
                        <a:prstDash val="solid"/>
                      </a:ln>
                      <a:effectLst>
                        <a:outerShdw blurRad="63500" dir="3600000" algn="tl" rotWithShape="0">
                          <a:srgbClr val="000000">
                            <a:alpha val="70000"/>
                          </a:srgbClr>
                        </a:outerShdw>
                      </a:effectLst>
                    </a:rPr>
                    <a:t>rooms</a:t>
                  </a:r>
                </a:p>
              </p:txBody>
            </p:sp>
            <p:sp>
              <p:nvSpPr>
                <p:cNvPr id="36" name="TextBox 35"/>
                <p:cNvSpPr txBox="1"/>
                <p:nvPr/>
              </p:nvSpPr>
              <p:spPr>
                <a:xfrm>
                  <a:off x="1600200" y="3352800"/>
                  <a:ext cx="762000" cy="403530"/>
                </a:xfrm>
                <a:prstGeom prst="rect">
                  <a:avLst/>
                </a:prstGeom>
                <a:noFill/>
              </p:spPr>
              <p:txBody>
                <a:bodyPr wrap="square" rtlCol="0">
                  <a:spAutoFit/>
                </a:bodyPr>
                <a:lstStyle/>
                <a:p>
                  <a:pPr algn="ctr"/>
                  <a:r>
                    <a:rPr lang="en-US" sz="1400" dirty="0">
                      <a:ln w="18415" cmpd="sng">
                        <a:noFill/>
                        <a:prstDash val="solid"/>
                      </a:ln>
                      <a:effectLst>
                        <a:outerShdw blurRad="63500" dir="3600000" algn="tl" rotWithShape="0">
                          <a:srgbClr val="000000">
                            <a:alpha val="70000"/>
                          </a:srgbClr>
                        </a:outerShdw>
                      </a:effectLst>
                    </a:rPr>
                    <a:t>1.3</a:t>
                  </a:r>
                </a:p>
              </p:txBody>
            </p:sp>
          </p:grpSp>
          <p:grpSp>
            <p:nvGrpSpPr>
              <p:cNvPr id="9" name="Group 75"/>
              <p:cNvGrpSpPr/>
              <p:nvPr/>
            </p:nvGrpSpPr>
            <p:grpSpPr>
              <a:xfrm>
                <a:off x="4267200" y="3276600"/>
                <a:ext cx="1371600" cy="686000"/>
                <a:chOff x="2286000" y="5181600"/>
                <a:chExt cx="1447800" cy="686000"/>
              </a:xfrm>
            </p:grpSpPr>
            <p:grpSp>
              <p:nvGrpSpPr>
                <p:cNvPr id="30" name="Group 70"/>
                <p:cNvGrpSpPr/>
                <p:nvPr/>
              </p:nvGrpSpPr>
              <p:grpSpPr>
                <a:xfrm>
                  <a:off x="2286000" y="5181600"/>
                  <a:ext cx="1295400" cy="609600"/>
                  <a:chOff x="4572000" y="5257800"/>
                  <a:chExt cx="1600200" cy="685800"/>
                </a:xfrm>
              </p:grpSpPr>
              <p:cxnSp>
                <p:nvCxnSpPr>
                  <p:cNvPr id="32" name="Straight Connector 31"/>
                  <p:cNvCxnSpPr/>
                  <p:nvPr/>
                </p:nvCxnSpPr>
                <p:spPr bwMode="auto">
                  <a:xfrm>
                    <a:off x="4572000" y="5257800"/>
                    <a:ext cx="1600200" cy="0"/>
                  </a:xfrm>
                  <a:prstGeom prst="line">
                    <a:avLst/>
                  </a:prstGeom>
                  <a:solidFill>
                    <a:schemeClr val="accent1"/>
                  </a:solidFill>
                  <a:ln w="57150" cap="flat" cmpd="sng" algn="ctr">
                    <a:solidFill>
                      <a:srgbClr val="FFC000"/>
                    </a:solidFill>
                    <a:prstDash val="solid"/>
                    <a:round/>
                    <a:headEnd type="none" w="med" len="med"/>
                    <a:tailEnd type="none" w="med" len="med"/>
                  </a:ln>
                  <a:effectLst/>
                </p:spPr>
              </p:cxnSp>
              <p:cxnSp>
                <p:nvCxnSpPr>
                  <p:cNvPr id="33" name="Straight Connector 32"/>
                  <p:cNvCxnSpPr/>
                  <p:nvPr/>
                </p:nvCxnSpPr>
                <p:spPr bwMode="auto">
                  <a:xfrm>
                    <a:off x="4572000" y="5943600"/>
                    <a:ext cx="1600200" cy="0"/>
                  </a:xfrm>
                  <a:prstGeom prst="line">
                    <a:avLst/>
                  </a:prstGeom>
                  <a:solidFill>
                    <a:schemeClr val="accent1"/>
                  </a:solidFill>
                  <a:ln w="57150" cap="flat" cmpd="sng" algn="ctr">
                    <a:solidFill>
                      <a:srgbClr val="FFC000"/>
                    </a:solidFill>
                    <a:prstDash val="solid"/>
                    <a:round/>
                    <a:headEnd type="none" w="med" len="med"/>
                    <a:tailEnd type="none" w="med" len="med"/>
                  </a:ln>
                  <a:effectLst/>
                </p:spPr>
              </p:cxnSp>
              <p:sp>
                <p:nvSpPr>
                  <p:cNvPr id="34" name="Rectangle 33"/>
                  <p:cNvSpPr/>
                  <p:nvPr/>
                </p:nvSpPr>
                <p:spPr bwMode="auto">
                  <a:xfrm>
                    <a:off x="4572000" y="5257800"/>
                    <a:ext cx="381000" cy="685800"/>
                  </a:xfrm>
                  <a:prstGeom prst="rect">
                    <a:avLst/>
                  </a:prstGeom>
                  <a:noFill/>
                  <a:ln w="5715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a:ln w="18415" cmpd="sng">
                        <a:noFill/>
                        <a:prstDash val="solid"/>
                      </a:ln>
                      <a:effectLst>
                        <a:outerShdw blurRad="63500" dir="3600000" algn="tl" rotWithShape="0">
                          <a:srgbClr val="000000">
                            <a:alpha val="70000"/>
                          </a:srgbClr>
                        </a:outerShdw>
                      </a:effectLst>
                      <a:latin typeface="Times New Roman" pitchFamily="18" charset="0"/>
                    </a:endParaRPr>
                  </a:p>
                </p:txBody>
              </p:sp>
            </p:grpSp>
            <p:sp>
              <p:nvSpPr>
                <p:cNvPr id="31" name="TextBox 30"/>
                <p:cNvSpPr txBox="1"/>
                <p:nvPr/>
              </p:nvSpPr>
              <p:spPr>
                <a:xfrm>
                  <a:off x="2438400" y="5181600"/>
                  <a:ext cx="1295400" cy="686000"/>
                </a:xfrm>
                <a:prstGeom prst="rect">
                  <a:avLst/>
                </a:prstGeom>
                <a:noFill/>
              </p:spPr>
              <p:txBody>
                <a:bodyPr wrap="square" rtlCol="0">
                  <a:spAutoFit/>
                </a:bodyPr>
                <a:lstStyle/>
                <a:p>
                  <a:pPr algn="ctr"/>
                  <a:r>
                    <a:rPr lang="en-US" sz="1400" dirty="0">
                      <a:ln w="18415" cmpd="sng">
                        <a:noFill/>
                        <a:prstDash val="solid"/>
                      </a:ln>
                      <a:effectLst>
                        <a:outerShdw blurRad="63500" dir="3600000" algn="tl" rotWithShape="0">
                          <a:srgbClr val="000000">
                            <a:alpha val="70000"/>
                          </a:srgbClr>
                        </a:outerShdw>
                      </a:effectLst>
                    </a:rPr>
                    <a:t>Offered</a:t>
                  </a:r>
                </a:p>
                <a:p>
                  <a:pPr algn="ctr"/>
                  <a:r>
                    <a:rPr lang="en-US" sz="1400" dirty="0">
                      <a:ln w="18415" cmpd="sng">
                        <a:noFill/>
                        <a:prstDash val="solid"/>
                      </a:ln>
                      <a:effectLst>
                        <a:outerShdw blurRad="63500" dir="3600000" algn="tl" rotWithShape="0">
                          <a:srgbClr val="000000">
                            <a:alpha val="70000"/>
                          </a:srgbClr>
                        </a:outerShdw>
                      </a:effectLst>
                    </a:rPr>
                    <a:t>course</a:t>
                  </a:r>
                </a:p>
              </p:txBody>
            </p:sp>
          </p:grpSp>
          <p:grpSp>
            <p:nvGrpSpPr>
              <p:cNvPr id="10" name="Group 166"/>
              <p:cNvGrpSpPr/>
              <p:nvPr/>
            </p:nvGrpSpPr>
            <p:grpSpPr>
              <a:xfrm>
                <a:off x="5943600" y="4876800"/>
                <a:ext cx="1371600" cy="686000"/>
                <a:chOff x="2286000" y="5181600"/>
                <a:chExt cx="1447800" cy="686000"/>
              </a:xfrm>
            </p:grpSpPr>
            <p:grpSp>
              <p:nvGrpSpPr>
                <p:cNvPr id="25" name="Group 70"/>
                <p:cNvGrpSpPr/>
                <p:nvPr/>
              </p:nvGrpSpPr>
              <p:grpSpPr>
                <a:xfrm>
                  <a:off x="2286000" y="5181600"/>
                  <a:ext cx="1295400" cy="609600"/>
                  <a:chOff x="4572000" y="5257800"/>
                  <a:chExt cx="1600200" cy="685800"/>
                </a:xfrm>
              </p:grpSpPr>
              <p:cxnSp>
                <p:nvCxnSpPr>
                  <p:cNvPr id="27" name="Straight Connector 26"/>
                  <p:cNvCxnSpPr/>
                  <p:nvPr/>
                </p:nvCxnSpPr>
                <p:spPr bwMode="auto">
                  <a:xfrm>
                    <a:off x="4572000" y="5257800"/>
                    <a:ext cx="1600200" cy="0"/>
                  </a:xfrm>
                  <a:prstGeom prst="line">
                    <a:avLst/>
                  </a:prstGeom>
                  <a:solidFill>
                    <a:schemeClr val="accent1"/>
                  </a:solidFill>
                  <a:ln w="57150" cap="flat" cmpd="sng" algn="ctr">
                    <a:solidFill>
                      <a:srgbClr val="FFC000"/>
                    </a:solidFill>
                    <a:prstDash val="solid"/>
                    <a:round/>
                    <a:headEnd type="none" w="med" len="med"/>
                    <a:tailEnd type="none" w="med" len="med"/>
                  </a:ln>
                  <a:effectLst/>
                </p:spPr>
              </p:cxnSp>
              <p:cxnSp>
                <p:nvCxnSpPr>
                  <p:cNvPr id="28" name="Straight Connector 27"/>
                  <p:cNvCxnSpPr/>
                  <p:nvPr/>
                </p:nvCxnSpPr>
                <p:spPr bwMode="auto">
                  <a:xfrm>
                    <a:off x="4572000" y="5943600"/>
                    <a:ext cx="1600200" cy="0"/>
                  </a:xfrm>
                  <a:prstGeom prst="line">
                    <a:avLst/>
                  </a:prstGeom>
                  <a:solidFill>
                    <a:schemeClr val="accent1"/>
                  </a:solidFill>
                  <a:ln w="57150" cap="flat" cmpd="sng" algn="ctr">
                    <a:solidFill>
                      <a:srgbClr val="FFC000"/>
                    </a:solidFill>
                    <a:prstDash val="solid"/>
                    <a:round/>
                    <a:headEnd type="none" w="med" len="med"/>
                    <a:tailEnd type="none" w="med" len="med"/>
                  </a:ln>
                  <a:effectLst/>
                </p:spPr>
              </p:cxnSp>
              <p:sp>
                <p:nvSpPr>
                  <p:cNvPr id="29" name="Rectangle 28"/>
                  <p:cNvSpPr/>
                  <p:nvPr/>
                </p:nvSpPr>
                <p:spPr bwMode="auto">
                  <a:xfrm>
                    <a:off x="4572000" y="5257800"/>
                    <a:ext cx="381000" cy="685800"/>
                  </a:xfrm>
                  <a:prstGeom prst="rect">
                    <a:avLst/>
                  </a:prstGeom>
                  <a:noFill/>
                  <a:ln w="5715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a:ln w="18415" cmpd="sng">
                        <a:noFill/>
                        <a:prstDash val="solid"/>
                      </a:ln>
                      <a:effectLst>
                        <a:outerShdw blurRad="63500" dir="3600000" algn="tl" rotWithShape="0">
                          <a:srgbClr val="000000">
                            <a:alpha val="70000"/>
                          </a:srgbClr>
                        </a:outerShdw>
                      </a:effectLst>
                      <a:latin typeface="Times New Roman" pitchFamily="18" charset="0"/>
                    </a:endParaRPr>
                  </a:p>
                </p:txBody>
              </p:sp>
            </p:grpSp>
            <p:sp>
              <p:nvSpPr>
                <p:cNvPr id="26" name="TextBox 25"/>
                <p:cNvSpPr txBox="1"/>
                <p:nvPr/>
              </p:nvSpPr>
              <p:spPr>
                <a:xfrm>
                  <a:off x="2438400" y="5181600"/>
                  <a:ext cx="1295400" cy="686000"/>
                </a:xfrm>
                <a:prstGeom prst="rect">
                  <a:avLst/>
                </a:prstGeom>
                <a:noFill/>
              </p:spPr>
              <p:txBody>
                <a:bodyPr wrap="square" rtlCol="0">
                  <a:spAutoFit/>
                </a:bodyPr>
                <a:lstStyle/>
                <a:p>
                  <a:pPr algn="ctr"/>
                  <a:r>
                    <a:rPr lang="en-US" sz="1400" dirty="0">
                      <a:ln w="18415" cmpd="sng">
                        <a:noFill/>
                        <a:prstDash val="solid"/>
                      </a:ln>
                      <a:effectLst>
                        <a:outerShdw blurRad="63500" dir="3600000" algn="tl" rotWithShape="0">
                          <a:srgbClr val="000000">
                            <a:alpha val="70000"/>
                          </a:srgbClr>
                        </a:outerShdw>
                      </a:effectLst>
                    </a:rPr>
                    <a:t>Offered</a:t>
                  </a:r>
                </a:p>
                <a:p>
                  <a:pPr algn="ctr"/>
                  <a:r>
                    <a:rPr lang="en-US" sz="1400" dirty="0">
                      <a:ln w="18415" cmpd="sng">
                        <a:noFill/>
                        <a:prstDash val="solid"/>
                      </a:ln>
                      <a:effectLst>
                        <a:outerShdw blurRad="63500" dir="3600000" algn="tl" rotWithShape="0">
                          <a:srgbClr val="000000">
                            <a:alpha val="70000"/>
                          </a:srgbClr>
                        </a:outerShdw>
                      </a:effectLst>
                    </a:rPr>
                    <a:t>course</a:t>
                  </a:r>
                </a:p>
              </p:txBody>
            </p:sp>
          </p:grpSp>
          <p:cxnSp>
            <p:nvCxnSpPr>
              <p:cNvPr id="11" name="Straight Arrow Connector 10"/>
              <p:cNvCxnSpPr>
                <a:stCxn id="55" idx="4"/>
              </p:cNvCxnSpPr>
              <p:nvPr/>
            </p:nvCxnSpPr>
            <p:spPr>
              <a:xfrm flipH="1">
                <a:off x="6556248" y="2632410"/>
                <a:ext cx="12666" cy="224439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5181600" y="2057400"/>
                <a:ext cx="0" cy="11430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4724400" y="1822543"/>
                <a:ext cx="0" cy="137785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V="1">
                <a:off x="4876800" y="3962400"/>
                <a:ext cx="0" cy="1295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1600200" y="1828800"/>
                <a:ext cx="12192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58" idx="2"/>
              </p:cNvCxnSpPr>
              <p:nvPr/>
            </p:nvCxnSpPr>
            <p:spPr>
              <a:xfrm>
                <a:off x="1600200" y="5181599"/>
                <a:ext cx="1093066" cy="38201"/>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600200" y="1828800"/>
                <a:ext cx="0" cy="9906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1600200" y="4038600"/>
                <a:ext cx="0" cy="11430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endCxn id="58" idx="6"/>
              </p:cNvCxnSpPr>
              <p:nvPr/>
            </p:nvCxnSpPr>
            <p:spPr>
              <a:xfrm flipH="1" flipV="1">
                <a:off x="4088535" y="5219800"/>
                <a:ext cx="788265" cy="380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flipV="1">
                <a:off x="4106221" y="1822543"/>
                <a:ext cx="618180" cy="1833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5181600" y="2057400"/>
                <a:ext cx="6858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1524000" y="1419013"/>
                <a:ext cx="1227221" cy="403530"/>
              </a:xfrm>
              <a:prstGeom prst="rect">
                <a:avLst/>
              </a:prstGeom>
              <a:noFill/>
            </p:spPr>
            <p:txBody>
              <a:bodyPr wrap="square" rtlCol="0">
                <a:spAutoFit/>
              </a:bodyPr>
              <a:lstStyle/>
              <a:p>
                <a:pPr algn="ctr"/>
                <a:r>
                  <a:rPr lang="en-US" sz="1400" dirty="0">
                    <a:ln w="18415" cmpd="sng">
                      <a:noFill/>
                      <a:prstDash val="solid"/>
                    </a:ln>
                    <a:effectLst>
                      <a:outerShdw blurRad="63500" dir="3600000" algn="tl" rotWithShape="0">
                        <a:srgbClr val="000000">
                          <a:alpha val="70000"/>
                        </a:srgbClr>
                      </a:outerShdw>
                    </a:effectLst>
                  </a:rPr>
                  <a:t>Course</a:t>
                </a:r>
              </a:p>
            </p:txBody>
          </p:sp>
          <p:sp>
            <p:nvSpPr>
              <p:cNvPr id="23" name="TextBox 22"/>
              <p:cNvSpPr txBox="1"/>
              <p:nvPr/>
            </p:nvSpPr>
            <p:spPr>
              <a:xfrm>
                <a:off x="1447801" y="5181599"/>
                <a:ext cx="1227221" cy="686000"/>
              </a:xfrm>
              <a:prstGeom prst="rect">
                <a:avLst/>
              </a:prstGeom>
              <a:noFill/>
            </p:spPr>
            <p:txBody>
              <a:bodyPr wrap="square" rtlCol="0">
                <a:spAutoFit/>
              </a:bodyPr>
              <a:lstStyle/>
              <a:p>
                <a:pPr algn="ctr"/>
                <a:r>
                  <a:rPr lang="en-US" sz="1400" dirty="0">
                    <a:ln w="18415" cmpd="sng">
                      <a:noFill/>
                      <a:prstDash val="solid"/>
                    </a:ln>
                    <a:effectLst>
                      <a:outerShdw blurRad="63500" dir="3600000" algn="tl" rotWithShape="0">
                        <a:srgbClr val="000000">
                          <a:alpha val="70000"/>
                        </a:srgbClr>
                      </a:outerShdw>
                    </a:effectLst>
                  </a:rPr>
                  <a:t>Available</a:t>
                </a:r>
              </a:p>
              <a:p>
                <a:pPr algn="ctr"/>
                <a:r>
                  <a:rPr lang="en-US" sz="1400" dirty="0">
                    <a:ln w="18415" cmpd="sng">
                      <a:noFill/>
                      <a:prstDash val="solid"/>
                    </a:ln>
                    <a:effectLst>
                      <a:outerShdw blurRad="63500" dir="3600000" algn="tl" rotWithShape="0">
                        <a:srgbClr val="000000">
                          <a:alpha val="70000"/>
                        </a:srgbClr>
                      </a:outerShdw>
                    </a:effectLst>
                  </a:rPr>
                  <a:t>faculty</a:t>
                </a:r>
              </a:p>
            </p:txBody>
          </p:sp>
          <p:sp>
            <p:nvSpPr>
              <p:cNvPr id="24" name="TextBox 23"/>
              <p:cNvSpPr txBox="1"/>
              <p:nvPr/>
            </p:nvSpPr>
            <p:spPr>
              <a:xfrm>
                <a:off x="5486400" y="3429000"/>
                <a:ext cx="1227221" cy="686000"/>
              </a:xfrm>
              <a:prstGeom prst="rect">
                <a:avLst/>
              </a:prstGeom>
              <a:noFill/>
            </p:spPr>
            <p:txBody>
              <a:bodyPr wrap="square" rtlCol="0">
                <a:spAutoFit/>
              </a:bodyPr>
              <a:lstStyle/>
              <a:p>
                <a:pPr algn="ctr"/>
                <a:r>
                  <a:rPr lang="en-US" sz="1400" dirty="0">
                    <a:ln w="18415" cmpd="sng">
                      <a:noFill/>
                      <a:prstDash val="solid"/>
                    </a:ln>
                    <a:effectLst>
                      <a:outerShdw blurRad="63500" dir="3600000" algn="tl" rotWithShape="0">
                        <a:srgbClr val="000000">
                          <a:alpha val="70000"/>
                        </a:srgbClr>
                      </a:outerShdw>
                    </a:effectLst>
                  </a:rPr>
                  <a:t>Available</a:t>
                </a:r>
              </a:p>
              <a:p>
                <a:pPr algn="ctr"/>
                <a:r>
                  <a:rPr lang="en-US" sz="1400" dirty="0">
                    <a:ln w="18415" cmpd="sng">
                      <a:noFill/>
                      <a:prstDash val="solid"/>
                    </a:ln>
                    <a:effectLst>
                      <a:outerShdw blurRad="63500" dir="3600000" algn="tl" rotWithShape="0">
                        <a:srgbClr val="000000">
                          <a:alpha val="70000"/>
                        </a:srgbClr>
                      </a:outerShdw>
                    </a:effectLst>
                  </a:rPr>
                  <a:t>rooms</a:t>
                </a:r>
              </a:p>
            </p:txBody>
          </p:sp>
        </p:grpSp>
        <p:sp>
          <p:nvSpPr>
            <p:cNvPr id="55" name="Oval 54"/>
            <p:cNvSpPr/>
            <p:nvPr/>
          </p:nvSpPr>
          <p:spPr>
            <a:xfrm>
              <a:off x="6239052" y="2653346"/>
              <a:ext cx="1260786" cy="1167726"/>
            </a:xfrm>
            <a:prstGeom prst="ellipse">
              <a:avLst/>
            </a:prstGeom>
            <a:noFill/>
            <a:ln w="476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6" name="Oval 55"/>
            <p:cNvSpPr/>
            <p:nvPr/>
          </p:nvSpPr>
          <p:spPr>
            <a:xfrm>
              <a:off x="3383334" y="2745200"/>
              <a:ext cx="1260786" cy="1167726"/>
            </a:xfrm>
            <a:prstGeom prst="ellipse">
              <a:avLst/>
            </a:prstGeom>
            <a:noFill/>
            <a:ln w="476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8" name="Oval 57"/>
            <p:cNvSpPr/>
            <p:nvPr/>
          </p:nvSpPr>
          <p:spPr>
            <a:xfrm>
              <a:off x="3367353" y="5210642"/>
              <a:ext cx="1260786" cy="1167726"/>
            </a:xfrm>
            <a:prstGeom prst="ellipse">
              <a:avLst/>
            </a:prstGeom>
            <a:noFill/>
            <a:ln w="476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1"/>
                                        </p:tgtEl>
                                        <p:attrNameLst>
                                          <p:attrName>style.visibility</p:attrName>
                                        </p:attrNameLst>
                                      </p:cBhvr>
                                      <p:to>
                                        <p:strVal val="visible"/>
                                      </p:to>
                                    </p:set>
                                    <p:animEffect transition="in" filter="fade">
                                      <p:cBhvr>
                                        <p:cTn id="14" dur="1000"/>
                                        <p:tgtEl>
                                          <p:spTgt spid="41"/>
                                        </p:tgtEl>
                                      </p:cBhvr>
                                    </p:animEffect>
                                    <p:anim calcmode="lin" valueType="num">
                                      <p:cBhvr>
                                        <p:cTn id="15" dur="1000" fill="hold"/>
                                        <p:tgtEl>
                                          <p:spTgt spid="41"/>
                                        </p:tgtEl>
                                        <p:attrNameLst>
                                          <p:attrName>ppt_x</p:attrName>
                                        </p:attrNameLst>
                                      </p:cBhvr>
                                      <p:tavLst>
                                        <p:tav tm="0">
                                          <p:val>
                                            <p:strVal val="#ppt_x"/>
                                          </p:val>
                                        </p:tav>
                                        <p:tav tm="100000">
                                          <p:val>
                                            <p:strVal val="#ppt_x"/>
                                          </p:val>
                                        </p:tav>
                                      </p:tavLst>
                                    </p:anim>
                                    <p:anim calcmode="lin" valueType="num">
                                      <p:cBhvr>
                                        <p:cTn id="16"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Flow Diagram</a:t>
            </a:r>
          </a:p>
        </p:txBody>
      </p:sp>
      <p:sp>
        <p:nvSpPr>
          <p:cNvPr id="3" name="Content Placeholder 2"/>
          <p:cNvSpPr>
            <a:spLocks noGrp="1"/>
          </p:cNvSpPr>
          <p:nvPr>
            <p:ph idx="1"/>
          </p:nvPr>
        </p:nvSpPr>
        <p:spPr>
          <a:xfrm>
            <a:off x="2380061" y="2097089"/>
            <a:ext cx="7429499" cy="4379911"/>
          </a:xfrm>
        </p:spPr>
        <p:txBody>
          <a:bodyPr>
            <a:normAutofit/>
          </a:bodyPr>
          <a:lstStyle/>
          <a:p>
            <a:r>
              <a:rPr lang="en-US" sz="3600" dirty="0"/>
              <a:t>Data Flow Rules</a:t>
            </a:r>
          </a:p>
          <a:p>
            <a:pPr lvl="1"/>
            <a:r>
              <a:rPr lang="en-US" sz="3200" dirty="0"/>
              <a:t>Process</a:t>
            </a:r>
          </a:p>
          <a:p>
            <a:pPr lvl="2"/>
            <a:r>
              <a:rPr lang="en-US" sz="2400" dirty="0"/>
              <a:t>No process can have only outputs.  It is making data from nothing.  If an object has only outputs, then it must be a source.</a:t>
            </a:r>
          </a:p>
          <a:p>
            <a:pPr lvl="3"/>
            <a:r>
              <a:rPr lang="en-US" sz="2000" dirty="0"/>
              <a:t>MIRACLE</a:t>
            </a:r>
          </a:p>
          <a:p>
            <a:pPr lvl="2"/>
            <a:r>
              <a:rPr lang="en-US" sz="2400" dirty="0"/>
              <a:t>No process can have only inputs.  If an object has only inputs, then it must be a sink.</a:t>
            </a:r>
          </a:p>
          <a:p>
            <a:pPr lvl="3"/>
            <a:r>
              <a:rPr lang="en-US" sz="2000" dirty="0"/>
              <a:t>BLACK HOLE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blinds(horizontal)">
                                      <p:cBhvr>
                                        <p:cTn id="14" dur="500"/>
                                        <p:tgtEl>
                                          <p:spTgt spid="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slide(fromBottom)">
                                      <p:cBhvr>
                                        <p:cTn id="19" dur="500"/>
                                        <p:tgtEl>
                                          <p:spTgt spid="3">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slide(fromBottom)">
                                      <p:cBhvr>
                                        <p:cTn id="24" dur="500"/>
                                        <p:tgtEl>
                                          <p:spTgt spid="3">
                                            <p:txEl>
                                              <p:pRg st="3" end="3"/>
                                            </p:txEl>
                                          </p:spTgt>
                                        </p:tgtEl>
                                      </p:cBhvr>
                                    </p:animEffect>
                                  </p:childTnLst>
                                </p:cTn>
                              </p:par>
                            </p:childTnLst>
                          </p:cTn>
                        </p:par>
                        <p:par>
                          <p:cTn id="25" fill="hold">
                            <p:stCondLst>
                              <p:cond delay="500"/>
                            </p:stCondLst>
                            <p:childTnLst>
                              <p:par>
                                <p:cTn id="26" presetID="12" presetClass="entr" presetSubtype="4" fill="hold" nodeType="after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slide(fromBottom)">
                                      <p:cBhvr>
                                        <p:cTn id="28" dur="500"/>
                                        <p:tgtEl>
                                          <p:spTgt spid="3">
                                            <p:txEl>
                                              <p:pRg st="4" end="4"/>
                                            </p:txEl>
                                          </p:spTgt>
                                        </p:tgtEl>
                                      </p:cBhvr>
                                    </p:animEffect>
                                  </p:childTnLst>
                                </p:cTn>
                              </p:par>
                            </p:childTnLst>
                          </p:cTn>
                        </p:par>
                        <p:par>
                          <p:cTn id="29" fill="hold">
                            <p:stCondLst>
                              <p:cond delay="1000"/>
                            </p:stCondLst>
                            <p:childTnLst>
                              <p:par>
                                <p:cTn id="30" presetID="12" presetClass="entr" presetSubtype="4" fill="hold" nodeType="after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slide(fromBottom)">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Flow Diagram</a:t>
            </a:r>
          </a:p>
        </p:txBody>
      </p:sp>
      <p:sp>
        <p:nvSpPr>
          <p:cNvPr id="3" name="Content Placeholder 2"/>
          <p:cNvSpPr>
            <a:spLocks noGrp="1"/>
          </p:cNvSpPr>
          <p:nvPr>
            <p:ph idx="1"/>
          </p:nvPr>
        </p:nvSpPr>
        <p:spPr/>
        <p:txBody>
          <a:bodyPr>
            <a:normAutofit/>
          </a:bodyPr>
          <a:lstStyle/>
          <a:p>
            <a:pPr lvl="1"/>
            <a:r>
              <a:rPr lang="en-US" sz="3200" dirty="0"/>
              <a:t>Data Store</a:t>
            </a:r>
          </a:p>
          <a:p>
            <a:pPr lvl="2"/>
            <a:r>
              <a:rPr lang="en-US" sz="2400" dirty="0"/>
              <a:t>Data cannot move directly from one data store to another data store.  Data must be moved by a process.</a:t>
            </a:r>
          </a:p>
          <a:p>
            <a:pPr lvl="2"/>
            <a:r>
              <a:rPr lang="en-US" sz="2400" dirty="0"/>
              <a:t>Data cannot move directly from an outside source to a data store.  Data must be moved by a process that receives data from the source and places the data into the data store.</a:t>
            </a:r>
          </a:p>
          <a:p>
            <a:pPr lvl="2"/>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slide(fromBottom)">
                                      <p:cBhvr>
                                        <p:cTn id="12" dur="500"/>
                                        <p:tgtEl>
                                          <p:spTgt spid="3">
                                            <p:txEl>
                                              <p:pRg st="1" end="1"/>
                                            </p:txEl>
                                          </p:spTgt>
                                        </p:tgtEl>
                                      </p:cBhvr>
                                    </p:animEffect>
                                  </p:childTnLst>
                                </p:cTn>
                              </p:par>
                            </p:childTnLst>
                          </p:cTn>
                        </p:par>
                        <p:par>
                          <p:cTn id="13" fill="hold">
                            <p:stCondLst>
                              <p:cond delay="500"/>
                            </p:stCondLst>
                            <p:childTnLst>
                              <p:par>
                                <p:cTn id="14" presetID="12" presetClass="entr" presetSubtype="4" fill="hold" nodeType="after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slide(fromBottom)">
                                      <p:cBhvr>
                                        <p:cTn id="16"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Flow Diagram</a:t>
            </a:r>
          </a:p>
        </p:txBody>
      </p:sp>
      <p:sp>
        <p:nvSpPr>
          <p:cNvPr id="3" name="Content Placeholder 2"/>
          <p:cNvSpPr>
            <a:spLocks noGrp="1"/>
          </p:cNvSpPr>
          <p:nvPr>
            <p:ph idx="1"/>
          </p:nvPr>
        </p:nvSpPr>
        <p:spPr/>
        <p:txBody>
          <a:bodyPr>
            <a:normAutofit/>
          </a:bodyPr>
          <a:lstStyle/>
          <a:p>
            <a:pPr lvl="1"/>
            <a:r>
              <a:rPr lang="en-US" sz="3200" dirty="0"/>
              <a:t>Source/Sink</a:t>
            </a:r>
          </a:p>
          <a:p>
            <a:pPr lvl="2"/>
            <a:r>
              <a:rPr lang="en-US" sz="2400" dirty="0"/>
              <a:t>Data cannot move directly from a source to a sink.  It must be moved by a process if the data are of any concern to our system.  Otherwise, the data flow is not shown on the DFD.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slide(fromBottom)">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364</TotalTime>
  <Words>1212</Words>
  <Application>Microsoft Office PowerPoint</Application>
  <PresentationFormat>Widescreen</PresentationFormat>
  <Paragraphs>207</Paragraphs>
  <Slides>29</Slides>
  <Notes>13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Arial</vt:lpstr>
      <vt:lpstr>Calibri</vt:lpstr>
      <vt:lpstr>Calibri Light</vt:lpstr>
      <vt:lpstr>inter-regular</vt:lpstr>
      <vt:lpstr>Lora</vt:lpstr>
      <vt:lpstr>Noto Sans</vt:lpstr>
      <vt:lpstr>Nunito</vt:lpstr>
      <vt:lpstr>Söhne</vt:lpstr>
      <vt:lpstr>Times New Roman</vt:lpstr>
      <vt:lpstr>Office Theme</vt:lpstr>
      <vt:lpstr>Software Engineering</vt:lpstr>
      <vt:lpstr>PowerPoint Presentation</vt:lpstr>
      <vt:lpstr>Requirements Analysis</vt:lpstr>
      <vt:lpstr>Requirements Analysis</vt:lpstr>
      <vt:lpstr>Gather the Requirements</vt:lpstr>
      <vt:lpstr>Analyze the requirements </vt:lpstr>
      <vt:lpstr>Improve the quality of the requirements </vt:lpstr>
      <vt:lpstr>Model the requirements </vt:lpstr>
      <vt:lpstr>Document and review the requirements </vt:lpstr>
      <vt:lpstr>SRS Example</vt:lpstr>
      <vt:lpstr>Two sets of requirements</vt:lpstr>
      <vt:lpstr>Configuration Management</vt:lpstr>
      <vt:lpstr>Types of Requirements</vt:lpstr>
      <vt:lpstr>Elements of Analysis Model</vt:lpstr>
      <vt:lpstr>Requirements Analysis: Charts Relationship</vt:lpstr>
      <vt:lpstr>Elements of Analysis Model</vt:lpstr>
      <vt:lpstr>Example: Data Flow Diagram</vt:lpstr>
      <vt:lpstr>Software Engineering</vt:lpstr>
      <vt:lpstr>Data Flow Diagram</vt:lpstr>
      <vt:lpstr>Data Flow Diagram</vt:lpstr>
      <vt:lpstr>Data Flow Diagram</vt:lpstr>
      <vt:lpstr>Data Flow Diagram</vt:lpstr>
      <vt:lpstr>Data Flow Diagram</vt:lpstr>
      <vt:lpstr>Data Flow Diagram</vt:lpstr>
      <vt:lpstr>Data Flow Diagram</vt:lpstr>
      <vt:lpstr>Data Flow Diagram</vt:lpstr>
      <vt:lpstr>Data Flow Diagram</vt:lpstr>
      <vt:lpstr>Data Flow Diagram</vt:lpstr>
      <vt:lpstr>Data Flow Diagram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dc:title>
  <dc:creator>Gabby</dc:creator>
  <cp:lastModifiedBy>laptop 16</cp:lastModifiedBy>
  <cp:revision>38</cp:revision>
  <dcterms:created xsi:type="dcterms:W3CDTF">2016-06-21T23:41:49Z</dcterms:created>
  <dcterms:modified xsi:type="dcterms:W3CDTF">2023-09-27T09:50:16Z</dcterms:modified>
</cp:coreProperties>
</file>