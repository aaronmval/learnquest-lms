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8" r:id="rId1"/>
  </p:sldMasterIdLst>
  <p:notesMasterIdLst>
    <p:notesMasterId r:id="rId14"/>
  </p:notesMasterIdLst>
  <p:sldIdLst>
    <p:sldId id="374" r:id="rId2"/>
    <p:sldId id="257" r:id="rId3"/>
    <p:sldId id="259" r:id="rId4"/>
    <p:sldId id="260" r:id="rId5"/>
    <p:sldId id="261" r:id="rId6"/>
    <p:sldId id="370" r:id="rId7"/>
    <p:sldId id="263" r:id="rId8"/>
    <p:sldId id="264" r:id="rId9"/>
    <p:sldId id="265" r:id="rId10"/>
    <p:sldId id="266" r:id="rId11"/>
    <p:sldId id="267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9" autoAdjust="0"/>
    <p:restoredTop sz="94607" autoAdjust="0"/>
  </p:normalViewPr>
  <p:slideViewPr>
    <p:cSldViewPr>
      <p:cViewPr varScale="1">
        <p:scale>
          <a:sx n="70" d="100"/>
          <a:sy n="70" d="100"/>
        </p:scale>
        <p:origin x="62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14526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10092-CDB4-48C5-A542-506A574BA097}" type="datetimeFigureOut">
              <a:rPr lang="en-US" smtClean="0"/>
              <a:pPr/>
              <a:t>7/11/2020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497378-E48C-4627-B90F-3F2B9B0A9ED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497378-E48C-4627-B90F-3F2B9B0A9ED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959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497378-E48C-4627-B90F-3F2B9B0A9ED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468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497378-E48C-4627-B90F-3F2B9B0A9ED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55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497378-E48C-4627-B90F-3F2B9B0A9ED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821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497378-E48C-4627-B90F-3F2B9B0A9ED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436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497378-E48C-4627-B90F-3F2B9B0A9ED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80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497378-E48C-4627-B90F-3F2B9B0A9ED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561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497378-E48C-4627-B90F-3F2B9B0A9ED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03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497378-E48C-4627-B90F-3F2B9B0A9ED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5713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497378-E48C-4627-B90F-3F2B9B0A9ED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9525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497378-E48C-4627-B90F-3F2B9B0A9ED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60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DE77D-4872-44C4-84C3-066A3B879746}" type="datetimeFigureOut">
              <a:rPr lang="en-US" smtClean="0"/>
              <a:t>7/11/2020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59" y="6029325"/>
            <a:ext cx="986682" cy="69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572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5AC17-A5DC-42B5-A4F8-7D0D86F93D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44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44A4-6800-45D5-8B7B-990B6AB6B2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72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A08EB-4B79-49E3-8E14-EB6713EF29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3E14-E0C5-4464-9F0D-C47C2911A8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082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53567-3284-4CBE-9435-AC599BFEC6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33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8ADD2-668C-427E-9B5A-0481E78EC8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42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9DC89-CED1-495A-A335-5BEB4C4FBA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166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DA633-386E-41F3-9B66-ED17F056705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69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C1711-B149-4B0A-A5F7-7D3EF3C639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758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35812-1D97-4C5A-95A4-B2F964388C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899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DE77D-4872-44C4-84C3-066A3B879746}" type="datetimeFigureOut">
              <a:rPr lang="en-US" smtClean="0"/>
              <a:t>7/11/2020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59" y="6029325"/>
            <a:ext cx="986682" cy="69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796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Software Engineering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Analysis Process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679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introduced and popularized for structured analysis and design in the late 1970s (</a:t>
            </a:r>
            <a:r>
              <a:rPr lang="en-US" sz="2800" dirty="0" err="1" smtClean="0"/>
              <a:t>Gane</a:t>
            </a:r>
            <a:r>
              <a:rPr lang="en-US" sz="2800" dirty="0" smtClean="0"/>
              <a:t> and </a:t>
            </a:r>
            <a:r>
              <a:rPr lang="en-US" sz="2800" dirty="0" err="1" smtClean="0"/>
              <a:t>Sarson</a:t>
            </a:r>
            <a:r>
              <a:rPr lang="en-US" sz="2800" dirty="0" smtClean="0"/>
              <a:t> 1979)</a:t>
            </a:r>
          </a:p>
          <a:p>
            <a:r>
              <a:rPr lang="en-US" sz="2800" dirty="0" smtClean="0"/>
              <a:t>invented by Larry Constantine, the original developer of structured design, based on Martin and </a:t>
            </a:r>
            <a:r>
              <a:rPr lang="en-US" sz="2800" dirty="0" err="1" smtClean="0"/>
              <a:t>Estrin’s</a:t>
            </a:r>
            <a:r>
              <a:rPr lang="en-US" sz="2800" dirty="0" smtClean="0"/>
              <a:t> “data flow graph” model of computation </a:t>
            </a:r>
          </a:p>
          <a:p>
            <a:endParaRPr lang="en-US" dirty="0"/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884631"/>
            <a:ext cx="7429499" cy="3541714"/>
          </a:xfrm>
        </p:spPr>
        <p:txBody>
          <a:bodyPr/>
          <a:lstStyle/>
          <a:p>
            <a:r>
              <a:rPr lang="en-US" dirty="0" smtClean="0"/>
              <a:t>DFD Conventions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2730506" y="4953000"/>
            <a:ext cx="1384294" cy="473345"/>
            <a:chOff x="2730506" y="4953000"/>
            <a:chExt cx="1384294" cy="473345"/>
          </a:xfrm>
        </p:grpSpPr>
        <p:cxnSp>
          <p:nvCxnSpPr>
            <p:cNvPr id="11" name="Straight Arrow Connector 10"/>
            <p:cNvCxnSpPr/>
            <p:nvPr/>
          </p:nvCxnSpPr>
          <p:spPr bwMode="auto">
            <a:xfrm>
              <a:off x="2730506" y="5426345"/>
              <a:ext cx="1384294" cy="0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2" name="TextBox 11"/>
            <p:cNvSpPr txBox="1"/>
            <p:nvPr/>
          </p:nvSpPr>
          <p:spPr>
            <a:xfrm>
              <a:off x="2743200" y="4953000"/>
              <a:ext cx="1371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/>
                <a:t>Data flow</a:t>
              </a:r>
              <a:endParaRPr lang="en-US" sz="2000" b="1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876800" y="2819400"/>
            <a:ext cx="1887140" cy="1447800"/>
            <a:chOff x="4876800" y="2819400"/>
            <a:chExt cx="1887140" cy="1447800"/>
          </a:xfrm>
        </p:grpSpPr>
        <p:sp>
          <p:nvSpPr>
            <p:cNvPr id="13" name="Rectangle 12"/>
            <p:cNvSpPr/>
            <p:nvPr/>
          </p:nvSpPr>
          <p:spPr bwMode="auto">
            <a:xfrm>
              <a:off x="4876800" y="2819400"/>
              <a:ext cx="1524000" cy="1447800"/>
            </a:xfrm>
            <a:prstGeom prst="rect">
              <a:avLst/>
            </a:prstGeom>
            <a:noFill/>
            <a:ln w="5715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935140" y="3429000"/>
              <a:ext cx="1828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/>
                <a:t>Source/sink</a:t>
              </a:r>
              <a:endParaRPr lang="en-US" sz="2000" b="1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951930" y="4953000"/>
            <a:ext cx="1753670" cy="685800"/>
            <a:chOff x="4951930" y="4953000"/>
            <a:chExt cx="1753670" cy="685800"/>
          </a:xfrm>
        </p:grpSpPr>
        <p:grpSp>
          <p:nvGrpSpPr>
            <p:cNvPr id="19" name="Group 18"/>
            <p:cNvGrpSpPr/>
            <p:nvPr/>
          </p:nvGrpSpPr>
          <p:grpSpPr>
            <a:xfrm>
              <a:off x="4951930" y="4953000"/>
              <a:ext cx="1600200" cy="685800"/>
              <a:chOff x="4572000" y="5257800"/>
              <a:chExt cx="1600200" cy="685800"/>
            </a:xfrm>
          </p:grpSpPr>
          <p:cxnSp>
            <p:nvCxnSpPr>
              <p:cNvPr id="16" name="Straight Connector 15"/>
              <p:cNvCxnSpPr/>
              <p:nvPr/>
            </p:nvCxnSpPr>
            <p:spPr bwMode="auto">
              <a:xfrm>
                <a:off x="4572000" y="5257800"/>
                <a:ext cx="1600200" cy="0"/>
              </a:xfrm>
              <a:prstGeom prst="line">
                <a:avLst/>
              </a:prstGeom>
              <a:solidFill>
                <a:schemeClr val="accent1"/>
              </a:solidFill>
              <a:ln w="57150" cap="flat" cmpd="sng" algn="ctr">
                <a:solidFill>
                  <a:srgbClr val="FFC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" name="Straight Connector 16"/>
              <p:cNvCxnSpPr/>
              <p:nvPr/>
            </p:nvCxnSpPr>
            <p:spPr bwMode="auto">
              <a:xfrm>
                <a:off x="4572000" y="5943600"/>
                <a:ext cx="1600200" cy="0"/>
              </a:xfrm>
              <a:prstGeom prst="line">
                <a:avLst/>
              </a:prstGeom>
              <a:solidFill>
                <a:schemeClr val="accent1"/>
              </a:solidFill>
              <a:ln w="57150" cap="flat" cmpd="sng" algn="ctr">
                <a:solidFill>
                  <a:srgbClr val="FFC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8" name="Rectangle 17"/>
              <p:cNvSpPr/>
              <p:nvPr/>
            </p:nvSpPr>
            <p:spPr bwMode="auto">
              <a:xfrm>
                <a:off x="4572000" y="5257800"/>
                <a:ext cx="381000" cy="685800"/>
              </a:xfrm>
              <a:prstGeom prst="rect">
                <a:avLst/>
              </a:prstGeom>
              <a:noFill/>
              <a:ln w="57150" cap="flat" cmpd="sng" algn="ctr">
                <a:solidFill>
                  <a:srgbClr val="FFC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5334000" y="5095845"/>
              <a:ext cx="1371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/>
                <a:t>Data store</a:t>
              </a:r>
              <a:endParaRPr lang="en-US" sz="2000" b="1" dirty="0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514600" y="2836422"/>
            <a:ext cx="1676400" cy="1714620"/>
            <a:chOff x="2514600" y="2836422"/>
            <a:chExt cx="1676400" cy="1714620"/>
          </a:xfrm>
        </p:grpSpPr>
        <p:sp>
          <p:nvSpPr>
            <p:cNvPr id="9" name="TextBox 8"/>
            <p:cNvSpPr txBox="1"/>
            <p:nvPr/>
          </p:nvSpPr>
          <p:spPr>
            <a:xfrm>
              <a:off x="2819400" y="3429000"/>
              <a:ext cx="1371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/>
                <a:t>Process</a:t>
              </a:r>
              <a:endParaRPr lang="en-US" sz="2000" b="1" dirty="0"/>
            </a:p>
          </p:txBody>
        </p:sp>
        <p:sp>
          <p:nvSpPr>
            <p:cNvPr id="4" name="Oval 3"/>
            <p:cNvSpPr/>
            <p:nvPr/>
          </p:nvSpPr>
          <p:spPr>
            <a:xfrm>
              <a:off x="2514600" y="2836422"/>
              <a:ext cx="1676400" cy="1714620"/>
            </a:xfrm>
            <a:prstGeom prst="ellipse">
              <a:avLst/>
            </a:prstGeom>
            <a:noFill/>
            <a:ln w="476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730506" y="6219735"/>
            <a:ext cx="373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Yourdon/DeMarco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Steps in developing DFDs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400" dirty="0" smtClean="0"/>
              <a:t>Make a list of business activities and use it to determine various data flows, processes, data stores, and sources/sinks.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400" dirty="0" smtClean="0"/>
              <a:t>Create a context diagram that shows sources/sinks and data flows to and from the system. 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400" dirty="0" smtClean="0"/>
              <a:t>Draw Diagram 0 (or Level 1), the next level.  Show processes, but keep them general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71550" lvl="1" indent="-514350">
              <a:buFont typeface="+mj-lt"/>
              <a:buAutoNum type="arabicPeriod" startAt="4"/>
            </a:pPr>
            <a:endParaRPr lang="en-US" sz="2400" dirty="0" smtClean="0"/>
          </a:p>
          <a:p>
            <a:pPr marL="971550" lvl="1" indent="-514350">
              <a:buFont typeface="+mj-lt"/>
              <a:buAutoNum type="arabicPeriod" startAt="4"/>
            </a:pPr>
            <a:r>
              <a:rPr lang="en-US" sz="2400" dirty="0" smtClean="0"/>
              <a:t>Create a child diagram for each of the processes in Diagram 0 (or Level 1).</a:t>
            </a:r>
          </a:p>
          <a:p>
            <a:pPr marL="971550" lvl="1" indent="-514350">
              <a:buFont typeface="+mj-lt"/>
              <a:buAutoNum type="arabicPeriod" startAt="4"/>
            </a:pPr>
            <a:r>
              <a:rPr lang="en-US" sz="2400" dirty="0" smtClean="0"/>
              <a:t>Check for errors and make sure the labels you assign to each process and data flow are meaningful.</a:t>
            </a:r>
          </a:p>
          <a:p>
            <a:pPr marL="971550" lvl="1" indent="-514350">
              <a:buFont typeface="+mj-lt"/>
              <a:buAutoNum type="arabicPeriod" startAt="4"/>
            </a:pPr>
            <a:r>
              <a:rPr lang="en-US" sz="2400" dirty="0" smtClean="0"/>
              <a:t>Develop a physical data flow diagram from the logical data flow diagram. </a:t>
            </a:r>
            <a:endParaRPr lang="en-US" sz="2400" dirty="0" smtClean="0"/>
          </a:p>
          <a:p>
            <a:pPr marL="971550" lvl="1" indent="-514350">
              <a:buFont typeface="+mj-lt"/>
              <a:buAutoNum type="arabicPeriod" startAt="7"/>
            </a:pPr>
            <a:r>
              <a:rPr lang="en-US" sz="2400" dirty="0" smtClean="0"/>
              <a:t>Partition the physical data flow diagram by separating or grouping parts of the diagram in order to facilitate programming and implementation. </a:t>
            </a:r>
          </a:p>
          <a:p>
            <a:pPr marL="971550" lvl="1" indent="-514350">
              <a:buFont typeface="+mj-lt"/>
              <a:buAutoNum type="arabicPeriod" startAt="4"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1254125" y="1981200"/>
            <a:ext cx="7772400" cy="41148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Char char="•"/>
              <a:tabLst/>
              <a:defRPr/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0 : Context Diagram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Diagram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1360311" y="2667000"/>
            <a:ext cx="6716889" cy="3934599"/>
            <a:chOff x="1360311" y="2667000"/>
            <a:chExt cx="6716889" cy="3934599"/>
          </a:xfrm>
        </p:grpSpPr>
        <p:grpSp>
          <p:nvGrpSpPr>
            <p:cNvPr id="60" name="Group 59"/>
            <p:cNvGrpSpPr/>
            <p:nvPr/>
          </p:nvGrpSpPr>
          <p:grpSpPr>
            <a:xfrm>
              <a:off x="1360311" y="2667000"/>
              <a:ext cx="6716889" cy="3934599"/>
              <a:chOff x="1295400" y="2895600"/>
              <a:chExt cx="6716889" cy="3934599"/>
            </a:xfrm>
          </p:grpSpPr>
          <p:sp>
            <p:nvSpPr>
              <p:cNvPr id="26" name="TextBox 25"/>
              <p:cNvSpPr txBox="1"/>
              <p:nvPr/>
            </p:nvSpPr>
            <p:spPr>
              <a:xfrm>
                <a:off x="3825522" y="5552758"/>
                <a:ext cx="172861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rPr>
                  <a:t>Library</a:t>
                </a:r>
              </a:p>
              <a:p>
                <a:pPr algn="ctr"/>
                <a:r>
                  <a:rPr lang="en-US" dirty="0" smtClean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rPr>
                  <a:t>Database</a:t>
                </a:r>
              </a:p>
              <a:p>
                <a:pPr algn="ctr"/>
                <a:r>
                  <a:rPr lang="en-US" dirty="0" smtClean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rPr>
                  <a:t>System</a:t>
                </a:r>
                <a:endParaRPr lang="en-US" dirty="0">
                  <a:ln w="18415" cmpd="sng">
                    <a:noFill/>
                    <a:prstDash val="solid"/>
                  </a:ln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grpSp>
            <p:nvGrpSpPr>
              <p:cNvPr id="8" name="Group 20"/>
              <p:cNvGrpSpPr/>
              <p:nvPr/>
            </p:nvGrpSpPr>
            <p:grpSpPr>
              <a:xfrm>
                <a:off x="1295400" y="2895600"/>
                <a:ext cx="1382889" cy="1244600"/>
                <a:chOff x="1295400" y="2971800"/>
                <a:chExt cx="1524000" cy="1447800"/>
              </a:xfrm>
            </p:grpSpPr>
            <p:sp>
              <p:nvSpPr>
                <p:cNvPr id="23" name="Rectangle 22"/>
                <p:cNvSpPr/>
                <p:nvPr/>
              </p:nvSpPr>
              <p:spPr bwMode="auto">
                <a:xfrm>
                  <a:off x="1295400" y="2971800"/>
                  <a:ext cx="1524000" cy="1447800"/>
                </a:xfrm>
                <a:prstGeom prst="rect">
                  <a:avLst/>
                </a:prstGeom>
                <a:noFill/>
                <a:ln w="57150" cap="flat" cmpd="sng" algn="ctr">
                  <a:solidFill>
                    <a:srgbClr val="FFC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i="0" u="none" strike="noStrike" normalizeH="0" baseline="0" smtClean="0">
                    <a:ln w="18415" cmpd="sng">
                      <a:solidFill>
                        <a:srgbClr val="FFFFFF"/>
                      </a:solidFill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24" name="TextBox 23"/>
                <p:cNvSpPr txBox="1"/>
                <p:nvPr/>
              </p:nvSpPr>
              <p:spPr>
                <a:xfrm>
                  <a:off x="1295400" y="3352800"/>
                  <a:ext cx="1524000" cy="429631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Borrower</a:t>
                  </a:r>
                  <a:endParaRPr lang="en-US" dirty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9" name="Group 22"/>
              <p:cNvGrpSpPr/>
              <p:nvPr/>
            </p:nvGrpSpPr>
            <p:grpSpPr>
              <a:xfrm>
                <a:off x="6629400" y="2946400"/>
                <a:ext cx="1382889" cy="1244600"/>
                <a:chOff x="6553200" y="3657600"/>
                <a:chExt cx="1524000" cy="1447800"/>
              </a:xfrm>
            </p:grpSpPr>
            <p:sp>
              <p:nvSpPr>
                <p:cNvPr id="21" name="Rectangle 20"/>
                <p:cNvSpPr/>
                <p:nvPr/>
              </p:nvSpPr>
              <p:spPr bwMode="auto">
                <a:xfrm>
                  <a:off x="6553200" y="3657600"/>
                  <a:ext cx="1524000" cy="1447800"/>
                </a:xfrm>
                <a:prstGeom prst="rect">
                  <a:avLst/>
                </a:prstGeom>
                <a:noFill/>
                <a:ln w="57150" cap="flat" cmpd="sng" algn="ctr">
                  <a:solidFill>
                    <a:srgbClr val="FFC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i="0" u="none" strike="noStrike" normalizeH="0" baseline="0" smtClean="0">
                    <a:ln w="18415" cmpd="sng">
                      <a:solidFill>
                        <a:srgbClr val="FFFFFF"/>
                      </a:solidFill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22" name="TextBox 21"/>
                <p:cNvSpPr txBox="1"/>
                <p:nvPr/>
              </p:nvSpPr>
              <p:spPr>
                <a:xfrm>
                  <a:off x="6553200" y="4012163"/>
                  <a:ext cx="1524000" cy="4296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Books</a:t>
                  </a:r>
                  <a:endParaRPr lang="en-US" dirty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16" name="TextBox 15"/>
              <p:cNvSpPr txBox="1"/>
              <p:nvPr/>
            </p:nvSpPr>
            <p:spPr>
              <a:xfrm>
                <a:off x="2122310" y="5398869"/>
                <a:ext cx="138288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rPr>
                  <a:t>Loaned Details</a:t>
                </a:r>
                <a:endParaRPr lang="en-US" dirty="0">
                  <a:ln w="18415" cmpd="sng">
                    <a:noFill/>
                    <a:prstDash val="solid"/>
                  </a:ln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3962400" y="5105400"/>
                <a:ext cx="13828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rPr>
                  <a:t>0.0</a:t>
                </a:r>
                <a:endParaRPr lang="en-US" dirty="0">
                  <a:ln w="18415" cmpd="sng">
                    <a:noFill/>
                    <a:prstDash val="solid"/>
                  </a:ln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cxnSp>
            <p:nvCxnSpPr>
              <p:cNvPr id="35" name="Shape 34"/>
              <p:cNvCxnSpPr>
                <a:endCxn id="21" idx="2"/>
              </p:cNvCxnSpPr>
              <p:nvPr/>
            </p:nvCxnSpPr>
            <p:spPr bwMode="auto">
              <a:xfrm flipV="1">
                <a:off x="5482166" y="4191000"/>
                <a:ext cx="1838679" cy="1592209"/>
              </a:xfrm>
              <a:prstGeom prst="bentConnector2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37" name="Shape 36"/>
              <p:cNvCxnSpPr>
                <a:endCxn id="23" idx="2"/>
              </p:cNvCxnSpPr>
              <p:nvPr/>
            </p:nvCxnSpPr>
            <p:spPr bwMode="auto">
              <a:xfrm rot="10800000">
                <a:off x="1986846" y="4140201"/>
                <a:ext cx="1838677" cy="1603071"/>
              </a:xfrm>
              <a:prstGeom prst="bentConnector2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48" name="Straight Arrow Connector 47"/>
              <p:cNvCxnSpPr/>
              <p:nvPr/>
            </p:nvCxnSpPr>
            <p:spPr bwMode="auto">
              <a:xfrm>
                <a:off x="1676400" y="6096000"/>
                <a:ext cx="2149122" cy="0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50" name="Straight Arrow Connector 49"/>
              <p:cNvCxnSpPr/>
              <p:nvPr/>
            </p:nvCxnSpPr>
            <p:spPr bwMode="auto">
              <a:xfrm flipH="1">
                <a:off x="5488741" y="6096000"/>
                <a:ext cx="2207459" cy="0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52" name="Straight Connector 51"/>
              <p:cNvCxnSpPr/>
              <p:nvPr/>
            </p:nvCxnSpPr>
            <p:spPr bwMode="auto">
              <a:xfrm flipV="1">
                <a:off x="7696200" y="4191000"/>
                <a:ext cx="0" cy="1905000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6" name="Straight Connector 55"/>
              <p:cNvCxnSpPr/>
              <p:nvPr/>
            </p:nvCxnSpPr>
            <p:spPr bwMode="auto">
              <a:xfrm flipV="1">
                <a:off x="1676400" y="4191000"/>
                <a:ext cx="0" cy="1905000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7" name="TextBox 56"/>
              <p:cNvSpPr txBox="1"/>
              <p:nvPr/>
            </p:nvSpPr>
            <p:spPr>
              <a:xfrm>
                <a:off x="5545184" y="5449669"/>
                <a:ext cx="1600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rPr>
                  <a:t>Search Request</a:t>
                </a:r>
                <a:endParaRPr lang="en-US" dirty="0">
                  <a:ln w="18415" cmpd="sng">
                    <a:noFill/>
                    <a:prstDash val="solid"/>
                  </a:ln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2122311" y="6183868"/>
                <a:ext cx="138288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rPr>
                  <a:t>Borrowed Details</a:t>
                </a:r>
                <a:endParaRPr lang="en-US" dirty="0">
                  <a:ln w="18415" cmpd="sng">
                    <a:noFill/>
                    <a:prstDash val="solid"/>
                  </a:ln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5715000" y="6172200"/>
                <a:ext cx="13828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rPr>
                  <a:t>Book Status</a:t>
                </a:r>
                <a:endParaRPr lang="en-US" dirty="0">
                  <a:ln w="18415" cmpd="sng">
                    <a:noFill/>
                    <a:prstDash val="solid"/>
                  </a:ln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29" name="Oval 28"/>
            <p:cNvSpPr/>
            <p:nvPr/>
          </p:nvSpPr>
          <p:spPr>
            <a:xfrm>
              <a:off x="3877252" y="4845659"/>
              <a:ext cx="1676400" cy="1714620"/>
            </a:xfrm>
            <a:prstGeom prst="ellipse">
              <a:avLst/>
            </a:prstGeom>
            <a:noFill/>
            <a:ln w="476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690483"/>
            <a:ext cx="7429499" cy="3541714"/>
          </a:xfrm>
        </p:spPr>
        <p:txBody>
          <a:bodyPr/>
          <a:lstStyle/>
          <a:p>
            <a:r>
              <a:rPr lang="en-US" dirty="0" smtClean="0"/>
              <a:t>Level 0 : Context Diagram</a:t>
            </a:r>
            <a:endParaRPr lang="en-US" dirty="0"/>
          </a:p>
        </p:txBody>
      </p:sp>
      <p:grpSp>
        <p:nvGrpSpPr>
          <p:cNvPr id="26" name="Group 25"/>
          <p:cNvGrpSpPr/>
          <p:nvPr/>
        </p:nvGrpSpPr>
        <p:grpSpPr>
          <a:xfrm>
            <a:off x="990600" y="2590800"/>
            <a:ext cx="7467600" cy="3815640"/>
            <a:chOff x="990600" y="2590800"/>
            <a:chExt cx="7467600" cy="3815640"/>
          </a:xfrm>
        </p:grpSpPr>
        <p:sp>
          <p:nvSpPr>
            <p:cNvPr id="27" name="TextBox 26"/>
            <p:cNvSpPr txBox="1"/>
            <p:nvPr/>
          </p:nvSpPr>
          <p:spPr>
            <a:xfrm>
              <a:off x="3962400" y="4876800"/>
              <a:ext cx="13828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0.0</a:t>
              </a:r>
              <a:endParaRPr lang="en-US" dirty="0"/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990600" y="2590800"/>
              <a:ext cx="7467600" cy="3815640"/>
              <a:chOff x="990600" y="2590800"/>
              <a:chExt cx="7467600" cy="3815640"/>
            </a:xfrm>
          </p:grpSpPr>
          <p:grpSp>
            <p:nvGrpSpPr>
              <p:cNvPr id="4" name="Group 3"/>
              <p:cNvGrpSpPr/>
              <p:nvPr/>
            </p:nvGrpSpPr>
            <p:grpSpPr>
              <a:xfrm>
                <a:off x="990600" y="2590800"/>
                <a:ext cx="7467600" cy="3668295"/>
                <a:chOff x="381000" y="457200"/>
                <a:chExt cx="8229600" cy="4267200"/>
              </a:xfrm>
            </p:grpSpPr>
            <p:sp>
              <p:nvSpPr>
                <p:cNvPr id="24" name="TextBox 23"/>
                <p:cNvSpPr txBox="1"/>
                <p:nvPr/>
              </p:nvSpPr>
              <p:spPr>
                <a:xfrm>
                  <a:off x="3505200" y="3636820"/>
                  <a:ext cx="1905000" cy="10740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Course</a:t>
                  </a:r>
                </a:p>
                <a:p>
                  <a:pPr algn="ctr"/>
                  <a:r>
                    <a:rPr lang="en-US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Registration</a:t>
                  </a:r>
                </a:p>
                <a:p>
                  <a:pPr algn="ctr"/>
                  <a:r>
                    <a:rPr lang="en-US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System</a:t>
                  </a:r>
                  <a:endParaRPr lang="en-US" dirty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  <p:grpSp>
              <p:nvGrpSpPr>
                <p:cNvPr id="6" name="Group 20"/>
                <p:cNvGrpSpPr/>
                <p:nvPr/>
              </p:nvGrpSpPr>
              <p:grpSpPr>
                <a:xfrm>
                  <a:off x="381000" y="3276600"/>
                  <a:ext cx="1524000" cy="1447800"/>
                  <a:chOff x="1295400" y="2971800"/>
                  <a:chExt cx="1524000" cy="1447800"/>
                </a:xfrm>
              </p:grpSpPr>
              <p:sp>
                <p:nvSpPr>
                  <p:cNvPr id="21" name="Rectangle 20"/>
                  <p:cNvSpPr/>
                  <p:nvPr/>
                </p:nvSpPr>
                <p:spPr bwMode="auto">
                  <a:xfrm>
                    <a:off x="1295400" y="2971800"/>
                    <a:ext cx="1524000" cy="1447800"/>
                  </a:xfrm>
                  <a:prstGeom prst="rect">
                    <a:avLst/>
                  </a:prstGeom>
                  <a:noFill/>
                  <a:ln w="57150" cap="flat" cmpd="sng" algn="ctr">
                    <a:solidFill>
                      <a:srgbClr val="FFC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i="0" u="none" strike="noStrike" normalizeH="0" baseline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1295400" y="3352800"/>
                    <a:ext cx="1524000" cy="7518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dirty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Faculty</a:t>
                    </a:r>
                  </a:p>
                  <a:p>
                    <a:pPr algn="ctr"/>
                    <a:r>
                      <a:rPr lang="en-US" dirty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Member</a:t>
                    </a:r>
                    <a:endParaRPr lang="en-US" dirty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7" name="Group 22"/>
                <p:cNvGrpSpPr/>
                <p:nvPr/>
              </p:nvGrpSpPr>
              <p:grpSpPr>
                <a:xfrm>
                  <a:off x="7086600" y="3276600"/>
                  <a:ext cx="1524000" cy="1447800"/>
                  <a:chOff x="6553200" y="3657600"/>
                  <a:chExt cx="1524000" cy="1447800"/>
                </a:xfrm>
              </p:grpSpPr>
              <p:sp>
                <p:nvSpPr>
                  <p:cNvPr id="19" name="Rectangle 18"/>
                  <p:cNvSpPr/>
                  <p:nvPr/>
                </p:nvSpPr>
                <p:spPr bwMode="auto">
                  <a:xfrm>
                    <a:off x="6553200" y="3657600"/>
                    <a:ext cx="1524000" cy="1447800"/>
                  </a:xfrm>
                  <a:prstGeom prst="rect">
                    <a:avLst/>
                  </a:prstGeom>
                  <a:noFill/>
                  <a:ln w="57150" cap="flat" cmpd="sng" algn="ctr">
                    <a:solidFill>
                      <a:srgbClr val="FFC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i="0" u="none" strike="noStrike" normalizeH="0" baseline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20" name="TextBox 19"/>
                  <p:cNvSpPr txBox="1"/>
                  <p:nvPr/>
                </p:nvSpPr>
                <p:spPr>
                  <a:xfrm>
                    <a:off x="6553200" y="4202668"/>
                    <a:ext cx="1524000" cy="4296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dirty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Student</a:t>
                    </a:r>
                    <a:endParaRPr lang="en-US" dirty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8" name="Group 19"/>
                <p:cNvGrpSpPr/>
                <p:nvPr/>
              </p:nvGrpSpPr>
              <p:grpSpPr>
                <a:xfrm>
                  <a:off x="3657600" y="457200"/>
                  <a:ext cx="1524000" cy="1447800"/>
                  <a:chOff x="1524000" y="762000"/>
                  <a:chExt cx="1524000" cy="1447800"/>
                </a:xfrm>
              </p:grpSpPr>
              <p:sp>
                <p:nvSpPr>
                  <p:cNvPr id="17" name="Rectangle 16"/>
                  <p:cNvSpPr/>
                  <p:nvPr/>
                </p:nvSpPr>
                <p:spPr bwMode="auto">
                  <a:xfrm>
                    <a:off x="1524000" y="762000"/>
                    <a:ext cx="1524000" cy="1447800"/>
                  </a:xfrm>
                  <a:prstGeom prst="rect">
                    <a:avLst/>
                  </a:prstGeom>
                  <a:noFill/>
                  <a:ln w="57150" cap="flat" cmpd="sng" algn="ctr">
                    <a:solidFill>
                      <a:srgbClr val="FFC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i="0" u="none" strike="noStrike" normalizeH="0" baseline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18" name="TextBox 17"/>
                  <p:cNvSpPr txBox="1"/>
                  <p:nvPr/>
                </p:nvSpPr>
                <p:spPr>
                  <a:xfrm>
                    <a:off x="1524000" y="1143000"/>
                    <a:ext cx="1524000" cy="7518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dirty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Academic Department</a:t>
                    </a:r>
                    <a:endParaRPr lang="en-US" dirty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</p:grpSp>
            <p:cxnSp>
              <p:nvCxnSpPr>
                <p:cNvPr id="9" name="Straight Arrow Connector 8"/>
                <p:cNvCxnSpPr>
                  <a:stCxn id="17" idx="2"/>
                  <a:endCxn id="28" idx="0"/>
                </p:cNvCxnSpPr>
                <p:nvPr/>
              </p:nvCxnSpPr>
              <p:spPr>
                <a:xfrm flipH="1">
                  <a:off x="4400939" y="1905000"/>
                  <a:ext cx="18662" cy="996244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/>
                <p:cNvCxnSpPr/>
                <p:nvPr/>
              </p:nvCxnSpPr>
              <p:spPr>
                <a:xfrm flipH="1">
                  <a:off x="5324669" y="3657600"/>
                  <a:ext cx="1685732" cy="0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/>
                <p:cNvCxnSpPr>
                  <a:stCxn id="28" idx="2"/>
                </p:cNvCxnSpPr>
                <p:nvPr/>
              </p:nvCxnSpPr>
              <p:spPr>
                <a:xfrm flipH="1" flipV="1">
                  <a:off x="1981200" y="3886200"/>
                  <a:ext cx="1496008" cy="12322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/>
                <p:cNvCxnSpPr/>
                <p:nvPr/>
              </p:nvCxnSpPr>
              <p:spPr>
                <a:xfrm>
                  <a:off x="5324669" y="4267200"/>
                  <a:ext cx="1685731" cy="0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TextBox 12"/>
                <p:cNvSpPr txBox="1"/>
                <p:nvPr/>
              </p:nvSpPr>
              <p:spPr>
                <a:xfrm>
                  <a:off x="4419600" y="2069068"/>
                  <a:ext cx="1524000" cy="751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Schedule data</a:t>
                  </a:r>
                  <a:endParaRPr lang="en-US" dirty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5395317" y="2794201"/>
                  <a:ext cx="1496008" cy="7518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Enrollment</a:t>
                  </a:r>
                </a:p>
                <a:p>
                  <a:pPr algn="ctr"/>
                  <a:r>
                    <a:rPr lang="en-US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request</a:t>
                  </a:r>
                  <a:endParaRPr lang="en-US" dirty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5334000" y="4267200"/>
                  <a:ext cx="1524000" cy="4296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Schedule</a:t>
                  </a:r>
                  <a:endParaRPr lang="en-US" dirty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2111507" y="3346527"/>
                  <a:ext cx="1524000" cy="4296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Class list</a:t>
                  </a:r>
                  <a:endParaRPr lang="en-US" dirty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28" name="Oval 27"/>
              <p:cNvSpPr/>
              <p:nvPr/>
            </p:nvSpPr>
            <p:spPr>
              <a:xfrm>
                <a:off x="3800122" y="4691820"/>
                <a:ext cx="1676400" cy="1714620"/>
              </a:xfrm>
              <a:prstGeom prst="ellipse">
                <a:avLst/>
              </a:prstGeom>
              <a:noFill/>
              <a:ln w="4762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4304" y="1597223"/>
            <a:ext cx="7772400" cy="4114800"/>
          </a:xfrm>
        </p:spPr>
        <p:txBody>
          <a:bodyPr/>
          <a:lstStyle/>
          <a:p>
            <a:r>
              <a:rPr lang="en-US" dirty="0" smtClean="0"/>
              <a:t>Level 1: Course Registration System</a:t>
            </a:r>
            <a:endParaRPr lang="en-US" dirty="0"/>
          </a:p>
        </p:txBody>
      </p:sp>
      <p:grpSp>
        <p:nvGrpSpPr>
          <p:cNvPr id="42" name="Group 41"/>
          <p:cNvGrpSpPr/>
          <p:nvPr/>
        </p:nvGrpSpPr>
        <p:grpSpPr>
          <a:xfrm>
            <a:off x="919798" y="2362200"/>
            <a:ext cx="7392883" cy="4358804"/>
            <a:chOff x="919798" y="2362200"/>
            <a:chExt cx="7392883" cy="4358804"/>
          </a:xfrm>
        </p:grpSpPr>
        <p:grpSp>
          <p:nvGrpSpPr>
            <p:cNvPr id="70" name="Group 69"/>
            <p:cNvGrpSpPr/>
            <p:nvPr/>
          </p:nvGrpSpPr>
          <p:grpSpPr>
            <a:xfrm>
              <a:off x="921281" y="2362200"/>
              <a:ext cx="7391400" cy="4238580"/>
              <a:chOff x="838200" y="2362200"/>
              <a:chExt cx="7391400" cy="4238580"/>
            </a:xfrm>
          </p:grpSpPr>
          <p:grpSp>
            <p:nvGrpSpPr>
              <p:cNvPr id="4" name="Group 3"/>
              <p:cNvGrpSpPr/>
              <p:nvPr/>
            </p:nvGrpSpPr>
            <p:grpSpPr>
              <a:xfrm>
                <a:off x="838200" y="2585634"/>
                <a:ext cx="7391400" cy="4015146"/>
                <a:chOff x="381000" y="1295400"/>
                <a:chExt cx="7696200" cy="4307156"/>
              </a:xfrm>
            </p:grpSpPr>
            <p:grpSp>
              <p:nvGrpSpPr>
                <p:cNvPr id="5" name="Group 19"/>
                <p:cNvGrpSpPr/>
                <p:nvPr/>
              </p:nvGrpSpPr>
              <p:grpSpPr>
                <a:xfrm>
                  <a:off x="533400" y="1295400"/>
                  <a:ext cx="1143000" cy="1066800"/>
                  <a:chOff x="1524000" y="762000"/>
                  <a:chExt cx="1524000" cy="1447800"/>
                </a:xfrm>
              </p:grpSpPr>
              <p:sp>
                <p:nvSpPr>
                  <p:cNvPr id="64" name="Rectangle 63"/>
                  <p:cNvSpPr/>
                  <p:nvPr/>
                </p:nvSpPr>
                <p:spPr bwMode="auto">
                  <a:xfrm>
                    <a:off x="1524000" y="762000"/>
                    <a:ext cx="1524000" cy="1447800"/>
                  </a:xfrm>
                  <a:prstGeom prst="rect">
                    <a:avLst/>
                  </a:prstGeom>
                  <a:noFill/>
                  <a:ln w="57150" cap="flat" cmpd="sng" algn="ctr">
                    <a:solidFill>
                      <a:srgbClr val="FFC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i="0" u="none" strike="noStrike" normalizeH="0" baseline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65" name="TextBox 64"/>
                  <p:cNvSpPr txBox="1"/>
                  <p:nvPr/>
                </p:nvSpPr>
                <p:spPr>
                  <a:xfrm>
                    <a:off x="1524000" y="1143000"/>
                    <a:ext cx="1524000" cy="7617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Academic Department</a:t>
                    </a:r>
                    <a:endParaRPr lang="en-US" sz="1400" dirty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6" name="Group 49"/>
                <p:cNvGrpSpPr/>
                <p:nvPr/>
              </p:nvGrpSpPr>
              <p:grpSpPr>
                <a:xfrm>
                  <a:off x="381000" y="3581400"/>
                  <a:ext cx="1295400" cy="1106756"/>
                  <a:chOff x="1295400" y="3352800"/>
                  <a:chExt cx="1295400" cy="1106756"/>
                </a:xfrm>
              </p:grpSpPr>
              <p:sp>
                <p:nvSpPr>
                  <p:cNvPr id="61" name="TextBox 60"/>
                  <p:cNvSpPr txBox="1"/>
                  <p:nvPr/>
                </p:nvSpPr>
                <p:spPr>
                  <a:xfrm>
                    <a:off x="1295400" y="3898283"/>
                    <a:ext cx="1295400" cy="56127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Schedule </a:t>
                    </a:r>
                  </a:p>
                  <a:p>
                    <a:pPr algn="ctr"/>
                    <a:r>
                      <a:rPr lang="en-US" sz="1400" dirty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course</a:t>
                    </a:r>
                    <a:endParaRPr lang="en-US" sz="1400" dirty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59" name="TextBox 58"/>
                  <p:cNvSpPr txBox="1"/>
                  <p:nvPr/>
                </p:nvSpPr>
                <p:spPr>
                  <a:xfrm>
                    <a:off x="1600200" y="3352800"/>
                    <a:ext cx="762000" cy="3301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1.0</a:t>
                    </a:r>
                    <a:endParaRPr lang="en-US" sz="1400" dirty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7" name="Group 50"/>
                <p:cNvGrpSpPr/>
                <p:nvPr/>
              </p:nvGrpSpPr>
              <p:grpSpPr>
                <a:xfrm>
                  <a:off x="6858000" y="4495800"/>
                  <a:ext cx="1143000" cy="1066800"/>
                  <a:chOff x="1524000" y="762000"/>
                  <a:chExt cx="1524000" cy="1447800"/>
                </a:xfrm>
              </p:grpSpPr>
              <p:sp>
                <p:nvSpPr>
                  <p:cNvPr id="56" name="Rectangle 55"/>
                  <p:cNvSpPr/>
                  <p:nvPr/>
                </p:nvSpPr>
                <p:spPr bwMode="auto">
                  <a:xfrm>
                    <a:off x="1524000" y="762000"/>
                    <a:ext cx="1524000" cy="1447800"/>
                  </a:xfrm>
                  <a:prstGeom prst="rect">
                    <a:avLst/>
                  </a:prstGeom>
                  <a:noFill/>
                  <a:ln w="57150" cap="flat" cmpd="sng" algn="ctr">
                    <a:solidFill>
                      <a:srgbClr val="FFC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i="0" u="none" strike="noStrike" normalizeH="0" baseline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7" name="TextBox 56"/>
                  <p:cNvSpPr txBox="1"/>
                  <p:nvPr/>
                </p:nvSpPr>
                <p:spPr>
                  <a:xfrm>
                    <a:off x="1524000" y="1143000"/>
                    <a:ext cx="1524000" cy="7617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Faculty</a:t>
                    </a:r>
                  </a:p>
                  <a:p>
                    <a:pPr algn="ctr"/>
                    <a:r>
                      <a:rPr lang="en-US" sz="1400" dirty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Member</a:t>
                    </a:r>
                    <a:endParaRPr lang="en-US" sz="1400" dirty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8" name="Group 53"/>
                <p:cNvGrpSpPr/>
                <p:nvPr/>
              </p:nvGrpSpPr>
              <p:grpSpPr>
                <a:xfrm>
                  <a:off x="6934200" y="1371600"/>
                  <a:ext cx="1143000" cy="1066800"/>
                  <a:chOff x="1524000" y="762000"/>
                  <a:chExt cx="1524000" cy="1447800"/>
                </a:xfrm>
              </p:grpSpPr>
              <p:sp>
                <p:nvSpPr>
                  <p:cNvPr id="54" name="Rectangle 53"/>
                  <p:cNvSpPr/>
                  <p:nvPr/>
                </p:nvSpPr>
                <p:spPr bwMode="auto">
                  <a:xfrm>
                    <a:off x="1524000" y="762000"/>
                    <a:ext cx="1524000" cy="1447800"/>
                  </a:xfrm>
                  <a:prstGeom prst="rect">
                    <a:avLst/>
                  </a:prstGeom>
                  <a:noFill/>
                  <a:ln w="57150" cap="flat" cmpd="sng" algn="ctr">
                    <a:solidFill>
                      <a:srgbClr val="FFC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i="0" u="none" strike="noStrike" normalizeH="0" baseline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55" name="TextBox 54"/>
                  <p:cNvSpPr txBox="1"/>
                  <p:nvPr/>
                </p:nvSpPr>
                <p:spPr>
                  <a:xfrm>
                    <a:off x="1524000" y="1279070"/>
                    <a:ext cx="1524000" cy="4480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Student</a:t>
                    </a:r>
                    <a:endParaRPr lang="en-US" sz="1400" dirty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9" name="Group 56"/>
                <p:cNvGrpSpPr/>
                <p:nvPr/>
              </p:nvGrpSpPr>
              <p:grpSpPr>
                <a:xfrm>
                  <a:off x="4495800" y="4495800"/>
                  <a:ext cx="1295400" cy="1106756"/>
                  <a:chOff x="1295400" y="3352800"/>
                  <a:chExt cx="1295400" cy="1106756"/>
                </a:xfrm>
              </p:grpSpPr>
              <p:sp>
                <p:nvSpPr>
                  <p:cNvPr id="51" name="TextBox 50"/>
                  <p:cNvSpPr txBox="1"/>
                  <p:nvPr/>
                </p:nvSpPr>
                <p:spPr>
                  <a:xfrm>
                    <a:off x="1295400" y="3898283"/>
                    <a:ext cx="1295400" cy="56127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Produce</a:t>
                    </a:r>
                  </a:p>
                  <a:p>
                    <a:pPr algn="ctr"/>
                    <a:r>
                      <a:rPr lang="en-US" sz="1400" dirty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c</a:t>
                    </a:r>
                    <a:r>
                      <a:rPr lang="en-US" sz="1400" dirty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lass list</a:t>
                    </a:r>
                    <a:endParaRPr lang="en-US" sz="1400" dirty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9" name="TextBox 48"/>
                  <p:cNvSpPr txBox="1"/>
                  <p:nvPr/>
                </p:nvSpPr>
                <p:spPr>
                  <a:xfrm>
                    <a:off x="1600200" y="3352800"/>
                    <a:ext cx="762000" cy="3301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3.0</a:t>
                    </a:r>
                    <a:endParaRPr lang="en-US" sz="1400" dirty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10" name="Group 63"/>
                <p:cNvGrpSpPr/>
                <p:nvPr/>
              </p:nvGrpSpPr>
              <p:grpSpPr>
                <a:xfrm>
                  <a:off x="4495800" y="1295400"/>
                  <a:ext cx="1295400" cy="1106756"/>
                  <a:chOff x="1295400" y="3352800"/>
                  <a:chExt cx="1295400" cy="1106756"/>
                </a:xfrm>
              </p:grpSpPr>
              <p:sp>
                <p:nvSpPr>
                  <p:cNvPr id="45" name="TextBox 44"/>
                  <p:cNvSpPr txBox="1"/>
                  <p:nvPr/>
                </p:nvSpPr>
                <p:spPr>
                  <a:xfrm>
                    <a:off x="1295400" y="3898283"/>
                    <a:ext cx="1295400" cy="56127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Enroll </a:t>
                    </a:r>
                  </a:p>
                  <a:p>
                    <a:pPr algn="ctr"/>
                    <a:r>
                      <a:rPr lang="en-US" sz="1400" dirty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student</a:t>
                    </a:r>
                    <a:endParaRPr lang="en-US" sz="1400" dirty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43" name="TextBox 42"/>
                  <p:cNvSpPr txBox="1"/>
                  <p:nvPr/>
                </p:nvSpPr>
                <p:spPr>
                  <a:xfrm>
                    <a:off x="1600200" y="3352800"/>
                    <a:ext cx="762000" cy="3301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2.0</a:t>
                    </a:r>
                    <a:endParaRPr lang="en-US" sz="1400" dirty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11" name="Group 75"/>
                <p:cNvGrpSpPr/>
                <p:nvPr/>
              </p:nvGrpSpPr>
              <p:grpSpPr>
                <a:xfrm>
                  <a:off x="2438400" y="3886200"/>
                  <a:ext cx="1371600" cy="609600"/>
                  <a:chOff x="2286000" y="5181600"/>
                  <a:chExt cx="1447800" cy="609600"/>
                </a:xfrm>
              </p:grpSpPr>
              <p:grpSp>
                <p:nvGrpSpPr>
                  <p:cNvPr id="37" name="Group 70"/>
                  <p:cNvGrpSpPr/>
                  <p:nvPr/>
                </p:nvGrpSpPr>
                <p:grpSpPr>
                  <a:xfrm>
                    <a:off x="2286000" y="5181600"/>
                    <a:ext cx="1295400" cy="609600"/>
                    <a:chOff x="4572000" y="5257800"/>
                    <a:chExt cx="1600200" cy="685800"/>
                  </a:xfrm>
                </p:grpSpPr>
                <p:cxnSp>
                  <p:nvCxnSpPr>
                    <p:cNvPr id="39" name="Straight Connector 38"/>
                    <p:cNvCxnSpPr/>
                    <p:nvPr/>
                  </p:nvCxnSpPr>
                  <p:spPr bwMode="auto">
                    <a:xfrm>
                      <a:off x="4572000" y="5257800"/>
                      <a:ext cx="1600200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40" name="Straight Connector 39"/>
                    <p:cNvCxnSpPr/>
                    <p:nvPr/>
                  </p:nvCxnSpPr>
                  <p:spPr bwMode="auto">
                    <a:xfrm>
                      <a:off x="4572000" y="5943600"/>
                      <a:ext cx="1600200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41" name="Rectangle 40"/>
                    <p:cNvSpPr/>
                    <p:nvPr/>
                  </p:nvSpPr>
                  <p:spPr bwMode="auto">
                    <a:xfrm>
                      <a:off x="4572000" y="5257800"/>
                      <a:ext cx="381000" cy="685800"/>
                    </a:xfrm>
                    <a:prstGeom prst="rect">
                      <a:avLst/>
                    </a:prstGeom>
                    <a:noFill/>
                    <a:ln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i="0" u="none" strike="noStrike" normalizeH="0" baseline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  <a:latin typeface="Times New Roman" pitchFamily="18" charset="0"/>
                      </a:endParaRPr>
                    </a:p>
                  </p:txBody>
                </p:sp>
              </p:grpSp>
              <p:sp>
                <p:nvSpPr>
                  <p:cNvPr id="38" name="TextBox 37"/>
                  <p:cNvSpPr txBox="1"/>
                  <p:nvPr/>
                </p:nvSpPr>
                <p:spPr>
                  <a:xfrm>
                    <a:off x="2438400" y="5181600"/>
                    <a:ext cx="1295400" cy="56127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Offered</a:t>
                    </a:r>
                  </a:p>
                  <a:p>
                    <a:pPr algn="ctr"/>
                    <a:r>
                      <a:rPr lang="en-US" sz="1400" dirty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course</a:t>
                    </a:r>
                    <a:endParaRPr lang="en-US" sz="1400" dirty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12" name="Group 76"/>
                <p:cNvGrpSpPr/>
                <p:nvPr/>
              </p:nvGrpSpPr>
              <p:grpSpPr>
                <a:xfrm>
                  <a:off x="2438400" y="2209800"/>
                  <a:ext cx="1371600" cy="609600"/>
                  <a:chOff x="2286000" y="5181600"/>
                  <a:chExt cx="1447800" cy="609600"/>
                </a:xfrm>
              </p:grpSpPr>
              <p:grpSp>
                <p:nvGrpSpPr>
                  <p:cNvPr id="32" name="Group 70"/>
                  <p:cNvGrpSpPr/>
                  <p:nvPr/>
                </p:nvGrpSpPr>
                <p:grpSpPr>
                  <a:xfrm>
                    <a:off x="2286000" y="5181600"/>
                    <a:ext cx="1295400" cy="609600"/>
                    <a:chOff x="4572000" y="5257800"/>
                    <a:chExt cx="1600200" cy="685800"/>
                  </a:xfrm>
                </p:grpSpPr>
                <p:cxnSp>
                  <p:nvCxnSpPr>
                    <p:cNvPr id="34" name="Straight Connector 33"/>
                    <p:cNvCxnSpPr/>
                    <p:nvPr/>
                  </p:nvCxnSpPr>
                  <p:spPr bwMode="auto">
                    <a:xfrm>
                      <a:off x="4572000" y="5257800"/>
                      <a:ext cx="1600200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35" name="Straight Connector 34"/>
                    <p:cNvCxnSpPr/>
                    <p:nvPr/>
                  </p:nvCxnSpPr>
                  <p:spPr bwMode="auto">
                    <a:xfrm>
                      <a:off x="4572000" y="5943600"/>
                      <a:ext cx="1600200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36" name="Rectangle 35"/>
                    <p:cNvSpPr/>
                    <p:nvPr/>
                  </p:nvSpPr>
                  <p:spPr bwMode="auto">
                    <a:xfrm>
                      <a:off x="4572000" y="5257800"/>
                      <a:ext cx="381000" cy="685800"/>
                    </a:xfrm>
                    <a:prstGeom prst="rect">
                      <a:avLst/>
                    </a:prstGeom>
                    <a:noFill/>
                    <a:ln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i="0" u="none" strike="noStrike" normalizeH="0" baseline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  <a:latin typeface="Times New Roman" pitchFamily="18" charset="0"/>
                      </a:endParaRPr>
                    </a:p>
                  </p:txBody>
                </p:sp>
              </p:grpSp>
              <p:sp>
                <p:nvSpPr>
                  <p:cNvPr id="33" name="TextBox 32"/>
                  <p:cNvSpPr txBox="1"/>
                  <p:nvPr/>
                </p:nvSpPr>
                <p:spPr>
                  <a:xfrm>
                    <a:off x="2438400" y="5331023"/>
                    <a:ext cx="1295400" cy="3301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Student</a:t>
                    </a:r>
                    <a:endParaRPr lang="en-US" sz="1400" dirty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13" name="Group 82"/>
                <p:cNvGrpSpPr/>
                <p:nvPr/>
              </p:nvGrpSpPr>
              <p:grpSpPr>
                <a:xfrm>
                  <a:off x="4572000" y="3124200"/>
                  <a:ext cx="1371600" cy="609600"/>
                  <a:chOff x="2286000" y="5181600"/>
                  <a:chExt cx="1447800" cy="609600"/>
                </a:xfrm>
              </p:grpSpPr>
              <p:grpSp>
                <p:nvGrpSpPr>
                  <p:cNvPr id="27" name="Group 70"/>
                  <p:cNvGrpSpPr/>
                  <p:nvPr/>
                </p:nvGrpSpPr>
                <p:grpSpPr>
                  <a:xfrm>
                    <a:off x="2286000" y="5181600"/>
                    <a:ext cx="1295400" cy="609600"/>
                    <a:chOff x="4572000" y="5257800"/>
                    <a:chExt cx="1600200" cy="685800"/>
                  </a:xfrm>
                </p:grpSpPr>
                <p:cxnSp>
                  <p:nvCxnSpPr>
                    <p:cNvPr id="29" name="Straight Connector 28"/>
                    <p:cNvCxnSpPr/>
                    <p:nvPr/>
                  </p:nvCxnSpPr>
                  <p:spPr bwMode="auto">
                    <a:xfrm>
                      <a:off x="4572000" y="5257800"/>
                      <a:ext cx="1600200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30" name="Straight Connector 29"/>
                    <p:cNvCxnSpPr/>
                    <p:nvPr/>
                  </p:nvCxnSpPr>
                  <p:spPr bwMode="auto">
                    <a:xfrm>
                      <a:off x="4572000" y="5943600"/>
                      <a:ext cx="1600200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sp>
                  <p:nvSpPr>
                    <p:cNvPr id="31" name="Rectangle 30"/>
                    <p:cNvSpPr/>
                    <p:nvPr/>
                  </p:nvSpPr>
                  <p:spPr bwMode="auto">
                    <a:xfrm>
                      <a:off x="4572000" y="5257800"/>
                      <a:ext cx="381000" cy="685800"/>
                    </a:xfrm>
                    <a:prstGeom prst="rect">
                      <a:avLst/>
                    </a:prstGeom>
                    <a:noFill/>
                    <a:ln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i="0" u="none" strike="noStrike" normalizeH="0" baseline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  <a:latin typeface="Times New Roman" pitchFamily="18" charset="0"/>
                      </a:endParaRPr>
                    </a:p>
                  </p:txBody>
                </p:sp>
              </p:grpSp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2438400" y="5181600"/>
                    <a:ext cx="1295400" cy="56127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Course</a:t>
                    </a:r>
                  </a:p>
                  <a:p>
                    <a:pPr algn="ctr"/>
                    <a:r>
                      <a:rPr lang="en-US" sz="1400" dirty="0" smtClean="0">
                        <a:ln w="18415" cmpd="sng">
                          <a:noFill/>
                          <a:prstDash val="solid"/>
                        </a:ln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rPr>
                      <a:t>enrollment</a:t>
                    </a:r>
                    <a:endParaRPr lang="en-US" sz="1400" dirty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</p:grpSp>
            <p:cxnSp>
              <p:nvCxnSpPr>
                <p:cNvPr id="14" name="Straight Arrow Connector 13"/>
                <p:cNvCxnSpPr/>
                <p:nvPr/>
              </p:nvCxnSpPr>
              <p:spPr>
                <a:xfrm flipH="1">
                  <a:off x="5775370" y="1600200"/>
                  <a:ext cx="1082630" cy="16788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/>
                <p:cNvCxnSpPr/>
                <p:nvPr/>
              </p:nvCxnSpPr>
              <p:spPr>
                <a:xfrm>
                  <a:off x="5775370" y="2200102"/>
                  <a:ext cx="1082629" cy="9699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/>
                <p:cNvCxnSpPr/>
                <p:nvPr/>
              </p:nvCxnSpPr>
              <p:spPr>
                <a:xfrm>
                  <a:off x="5181600" y="3810000"/>
                  <a:ext cx="0" cy="533400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Arrow Connector 16"/>
                <p:cNvCxnSpPr/>
                <p:nvPr/>
              </p:nvCxnSpPr>
              <p:spPr>
                <a:xfrm>
                  <a:off x="5181600" y="2590800"/>
                  <a:ext cx="0" cy="457200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Arrow Connector 17"/>
                <p:cNvCxnSpPr>
                  <a:stCxn id="72" idx="6"/>
                </p:cNvCxnSpPr>
                <p:nvPr/>
              </p:nvCxnSpPr>
              <p:spPr>
                <a:xfrm flipV="1">
                  <a:off x="5775370" y="5029201"/>
                  <a:ext cx="1006429" cy="10667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Elbow Connector 18"/>
                <p:cNvCxnSpPr/>
                <p:nvPr/>
              </p:nvCxnSpPr>
              <p:spPr>
                <a:xfrm>
                  <a:off x="3695827" y="2489325"/>
                  <a:ext cx="615599" cy="2379691"/>
                </a:xfrm>
                <a:prstGeom prst="bentConnector2">
                  <a:avLst/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hape 19"/>
                <p:cNvCxnSpPr/>
                <p:nvPr/>
              </p:nvCxnSpPr>
              <p:spPr>
                <a:xfrm>
                  <a:off x="3468184" y="4343400"/>
                  <a:ext cx="918212" cy="915363"/>
                </a:xfrm>
                <a:prstGeom prst="bentConnector3">
                  <a:avLst>
                    <a:gd name="adj1" fmla="val 50000"/>
                  </a:avLst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Arrow Connector 20"/>
                <p:cNvCxnSpPr/>
                <p:nvPr/>
              </p:nvCxnSpPr>
              <p:spPr>
                <a:xfrm>
                  <a:off x="1676400" y="4343400"/>
                  <a:ext cx="685800" cy="0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Elbow Connector 21"/>
                <p:cNvCxnSpPr>
                  <a:endCxn id="71" idx="2"/>
                </p:cNvCxnSpPr>
                <p:nvPr/>
              </p:nvCxnSpPr>
              <p:spPr>
                <a:xfrm flipV="1">
                  <a:off x="3048000" y="1874205"/>
                  <a:ext cx="1445350" cy="259395"/>
                </a:xfrm>
                <a:prstGeom prst="bentConnector3">
                  <a:avLst>
                    <a:gd name="adj1" fmla="val -1359"/>
                  </a:avLst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Arrow Connector 22"/>
                <p:cNvCxnSpPr/>
                <p:nvPr/>
              </p:nvCxnSpPr>
              <p:spPr>
                <a:xfrm>
                  <a:off x="2133600" y="1524000"/>
                  <a:ext cx="2438400" cy="0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2133600" y="1524000"/>
                  <a:ext cx="0" cy="251460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>
                  <a:off x="2133600" y="4038600"/>
                  <a:ext cx="228600" cy="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/>
                <p:cNvCxnSpPr/>
                <p:nvPr/>
              </p:nvCxnSpPr>
              <p:spPr>
                <a:xfrm>
                  <a:off x="1066800" y="2438400"/>
                  <a:ext cx="0" cy="914400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TextBox 65"/>
              <p:cNvSpPr txBox="1"/>
              <p:nvPr/>
            </p:nvSpPr>
            <p:spPr>
              <a:xfrm>
                <a:off x="1340667" y="3733800"/>
                <a:ext cx="10977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 smtClean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rPr>
                  <a:t>Schedule</a:t>
                </a:r>
              </a:p>
              <a:p>
                <a:pPr algn="ctr"/>
                <a:r>
                  <a:rPr lang="en-US" sz="1400" dirty="0" smtClean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rPr>
                  <a:t>date</a:t>
                </a:r>
                <a:endParaRPr lang="en-US" sz="1400" dirty="0">
                  <a:ln w="18415" cmpd="sng">
                    <a:noFill/>
                    <a:prstDash val="solid"/>
                  </a:ln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6019800" y="2362200"/>
                <a:ext cx="10977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 smtClean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rPr>
                  <a:t>Enrollment</a:t>
                </a:r>
              </a:p>
              <a:p>
                <a:pPr algn="ctr"/>
                <a:r>
                  <a:rPr lang="en-US" sz="1400" dirty="0" smtClean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rPr>
                  <a:t>request</a:t>
                </a:r>
                <a:endParaRPr lang="en-US" sz="1400" dirty="0">
                  <a:ln w="18415" cmpd="sng">
                    <a:noFill/>
                    <a:prstDash val="solid"/>
                  </a:ln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5943600" y="3429000"/>
                <a:ext cx="10977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 smtClean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rPr>
                  <a:t>Schedule</a:t>
                </a:r>
                <a:endParaRPr lang="en-US" sz="1400" dirty="0">
                  <a:ln w="18415" cmpd="sng">
                    <a:noFill/>
                    <a:prstDash val="solid"/>
                  </a:ln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5867400" y="5712023"/>
                <a:ext cx="10977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 smtClean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rPr>
                  <a:t>Class list</a:t>
                </a:r>
                <a:endParaRPr lang="en-US" sz="1400" dirty="0">
                  <a:ln w="18415" cmpd="sng">
                    <a:noFill/>
                    <a:prstDash val="solid"/>
                  </a:ln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71" name="Oval 70"/>
            <p:cNvSpPr/>
            <p:nvPr/>
          </p:nvSpPr>
          <p:spPr>
            <a:xfrm>
              <a:off x="4870765" y="2480433"/>
              <a:ext cx="1260785" cy="1289529"/>
            </a:xfrm>
            <a:prstGeom prst="ellipse">
              <a:avLst/>
            </a:prstGeom>
            <a:noFill/>
            <a:ln w="476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2" name="Oval 71"/>
            <p:cNvSpPr/>
            <p:nvPr/>
          </p:nvSpPr>
          <p:spPr>
            <a:xfrm>
              <a:off x="4841228" y="5431475"/>
              <a:ext cx="1260785" cy="1289529"/>
            </a:xfrm>
            <a:prstGeom prst="ellipse">
              <a:avLst/>
            </a:prstGeom>
            <a:noFill/>
            <a:ln w="476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3" name="Oval 72"/>
            <p:cNvSpPr/>
            <p:nvPr/>
          </p:nvSpPr>
          <p:spPr>
            <a:xfrm>
              <a:off x="919798" y="4540883"/>
              <a:ext cx="1260785" cy="1289529"/>
            </a:xfrm>
            <a:prstGeom prst="ellipse">
              <a:avLst/>
            </a:prstGeom>
            <a:noFill/>
            <a:ln w="476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267" y="1828713"/>
            <a:ext cx="7429499" cy="3541714"/>
          </a:xfrm>
        </p:spPr>
        <p:txBody>
          <a:bodyPr/>
          <a:lstStyle/>
          <a:p>
            <a:r>
              <a:rPr lang="en-US" dirty="0" smtClean="0"/>
              <a:t>Level 2 : Schedule Course </a:t>
            </a:r>
            <a:endParaRPr lang="en-US" dirty="0"/>
          </a:p>
        </p:txBody>
      </p:sp>
      <p:grpSp>
        <p:nvGrpSpPr>
          <p:cNvPr id="41" name="Group 40"/>
          <p:cNvGrpSpPr/>
          <p:nvPr/>
        </p:nvGrpSpPr>
        <p:grpSpPr>
          <a:xfrm>
            <a:off x="1828800" y="2653346"/>
            <a:ext cx="5715000" cy="3725022"/>
            <a:chOff x="1828800" y="2653346"/>
            <a:chExt cx="5715000" cy="3725022"/>
          </a:xfrm>
        </p:grpSpPr>
        <p:grpSp>
          <p:nvGrpSpPr>
            <p:cNvPr id="4" name="Group 3"/>
            <p:cNvGrpSpPr/>
            <p:nvPr/>
          </p:nvGrpSpPr>
          <p:grpSpPr>
            <a:xfrm>
              <a:off x="1828800" y="2763374"/>
              <a:ext cx="5715000" cy="3525215"/>
              <a:chOff x="990600" y="1245650"/>
              <a:chExt cx="6324600" cy="4621949"/>
            </a:xfrm>
          </p:grpSpPr>
          <p:grpSp>
            <p:nvGrpSpPr>
              <p:cNvPr id="5" name="Group 19"/>
              <p:cNvGrpSpPr/>
              <p:nvPr/>
            </p:nvGrpSpPr>
            <p:grpSpPr>
              <a:xfrm>
                <a:off x="990600" y="2895600"/>
                <a:ext cx="1143000" cy="1249207"/>
                <a:chOff x="1524000" y="762000"/>
                <a:chExt cx="1524000" cy="1695352"/>
              </a:xfrm>
            </p:grpSpPr>
            <p:sp>
              <p:nvSpPr>
                <p:cNvPr id="53" name="Rectangle 52"/>
                <p:cNvSpPr/>
                <p:nvPr/>
              </p:nvSpPr>
              <p:spPr bwMode="auto">
                <a:xfrm>
                  <a:off x="1524000" y="762000"/>
                  <a:ext cx="1524000" cy="1447800"/>
                </a:xfrm>
                <a:prstGeom prst="rect">
                  <a:avLst/>
                </a:prstGeom>
                <a:noFill/>
                <a:ln w="57150" cap="flat" cmpd="sng" algn="ctr">
                  <a:solidFill>
                    <a:srgbClr val="FFC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i="0" u="none" strike="noStrike" normalizeH="0" baseline="0" smtClean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54" name="TextBox 53"/>
                <p:cNvSpPr txBox="1"/>
                <p:nvPr/>
              </p:nvSpPr>
              <p:spPr>
                <a:xfrm>
                  <a:off x="1524000" y="1142999"/>
                  <a:ext cx="1524000" cy="13143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Academic Department</a:t>
                  </a:r>
                  <a:endParaRPr lang="en-US" sz="1400" dirty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6" name="Group 49"/>
              <p:cNvGrpSpPr/>
              <p:nvPr/>
            </p:nvGrpSpPr>
            <p:grpSpPr>
              <a:xfrm>
                <a:off x="2743199" y="1245650"/>
                <a:ext cx="1295400" cy="1383249"/>
                <a:chOff x="1295399" y="3303050"/>
                <a:chExt cx="1295400" cy="1383249"/>
              </a:xfrm>
            </p:grpSpPr>
            <p:sp>
              <p:nvSpPr>
                <p:cNvPr id="50" name="TextBox 44"/>
                <p:cNvSpPr txBox="1"/>
                <p:nvPr/>
              </p:nvSpPr>
              <p:spPr>
                <a:xfrm>
                  <a:off x="1295399" y="3717829"/>
                  <a:ext cx="1295400" cy="9684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Choose</a:t>
                  </a:r>
                </a:p>
                <a:p>
                  <a:pPr algn="ctr"/>
                  <a:r>
                    <a:rPr lang="en-US" sz="1400" dirty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d</a:t>
                  </a:r>
                  <a:r>
                    <a:rPr lang="en-US" sz="1400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ays and</a:t>
                  </a:r>
                </a:p>
                <a:p>
                  <a:pPr algn="ctr"/>
                  <a:r>
                    <a:rPr lang="en-US" sz="1400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times</a:t>
                  </a:r>
                  <a:endParaRPr lang="en-US" sz="1400" dirty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8" name="TextBox 47"/>
                <p:cNvSpPr txBox="1"/>
                <p:nvPr/>
              </p:nvSpPr>
              <p:spPr>
                <a:xfrm>
                  <a:off x="1574451" y="3303050"/>
                  <a:ext cx="762000" cy="4035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1.1</a:t>
                  </a:r>
                  <a:endParaRPr lang="en-US" sz="1400" dirty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7" name="Group 56"/>
              <p:cNvGrpSpPr/>
              <p:nvPr/>
            </p:nvGrpSpPr>
            <p:grpSpPr>
              <a:xfrm>
                <a:off x="2743200" y="4620460"/>
                <a:ext cx="1295400" cy="1106818"/>
                <a:chOff x="1295400" y="3477460"/>
                <a:chExt cx="1295400" cy="1106818"/>
              </a:xfrm>
            </p:grpSpPr>
            <p:sp>
              <p:nvSpPr>
                <p:cNvPr id="44" name="TextBox 43"/>
                <p:cNvSpPr txBox="1"/>
                <p:nvPr/>
              </p:nvSpPr>
              <p:spPr>
                <a:xfrm>
                  <a:off x="1295400" y="3898280"/>
                  <a:ext cx="1295400" cy="685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Assign</a:t>
                  </a:r>
                </a:p>
                <a:p>
                  <a:pPr algn="ctr"/>
                  <a:r>
                    <a:rPr lang="en-US" sz="1400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faculty</a:t>
                  </a:r>
                  <a:endParaRPr lang="en-US" sz="1400" dirty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2" name="TextBox 41"/>
                <p:cNvSpPr txBox="1"/>
                <p:nvPr/>
              </p:nvSpPr>
              <p:spPr>
                <a:xfrm>
                  <a:off x="1562099" y="3477460"/>
                  <a:ext cx="762000" cy="4035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1.2</a:t>
                  </a:r>
                  <a:endParaRPr lang="en-US" sz="1400" dirty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8" name="Group 63"/>
              <p:cNvGrpSpPr/>
              <p:nvPr/>
            </p:nvGrpSpPr>
            <p:grpSpPr>
              <a:xfrm>
                <a:off x="5867400" y="1295400"/>
                <a:ext cx="1295400" cy="1231478"/>
                <a:chOff x="1295400" y="3352800"/>
                <a:chExt cx="1295400" cy="1231478"/>
              </a:xfrm>
            </p:grpSpPr>
            <p:sp>
              <p:nvSpPr>
                <p:cNvPr id="38" name="TextBox 37"/>
                <p:cNvSpPr txBox="1"/>
                <p:nvPr/>
              </p:nvSpPr>
              <p:spPr>
                <a:xfrm>
                  <a:off x="1295400" y="3898279"/>
                  <a:ext cx="1295400" cy="685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Assign</a:t>
                  </a:r>
                </a:p>
                <a:p>
                  <a:pPr algn="ctr"/>
                  <a:r>
                    <a:rPr lang="en-US" sz="1400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rooms</a:t>
                  </a:r>
                  <a:endParaRPr lang="en-US" sz="1400" dirty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6" name="TextBox 35"/>
                <p:cNvSpPr txBox="1"/>
                <p:nvPr/>
              </p:nvSpPr>
              <p:spPr>
                <a:xfrm>
                  <a:off x="1600200" y="3352800"/>
                  <a:ext cx="762000" cy="4035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1.3</a:t>
                  </a:r>
                  <a:endParaRPr lang="en-US" sz="1400" dirty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9" name="Group 75"/>
              <p:cNvGrpSpPr/>
              <p:nvPr/>
            </p:nvGrpSpPr>
            <p:grpSpPr>
              <a:xfrm>
                <a:off x="4267200" y="3276600"/>
                <a:ext cx="1371600" cy="686000"/>
                <a:chOff x="2286000" y="5181600"/>
                <a:chExt cx="1447800" cy="686000"/>
              </a:xfrm>
            </p:grpSpPr>
            <p:grpSp>
              <p:nvGrpSpPr>
                <p:cNvPr id="30" name="Group 70"/>
                <p:cNvGrpSpPr/>
                <p:nvPr/>
              </p:nvGrpSpPr>
              <p:grpSpPr>
                <a:xfrm>
                  <a:off x="2286000" y="5181600"/>
                  <a:ext cx="1295400" cy="609600"/>
                  <a:chOff x="4572000" y="5257800"/>
                  <a:chExt cx="1600200" cy="685800"/>
                </a:xfrm>
              </p:grpSpPr>
              <p:cxnSp>
                <p:nvCxnSpPr>
                  <p:cNvPr id="32" name="Straight Connector 31"/>
                  <p:cNvCxnSpPr/>
                  <p:nvPr/>
                </p:nvCxnSpPr>
                <p:spPr bwMode="auto">
                  <a:xfrm>
                    <a:off x="4572000" y="5257800"/>
                    <a:ext cx="1600200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57150" cap="flat" cmpd="sng" algn="ctr">
                    <a:solidFill>
                      <a:srgbClr val="FFC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3" name="Straight Connector 32"/>
                  <p:cNvCxnSpPr/>
                  <p:nvPr/>
                </p:nvCxnSpPr>
                <p:spPr bwMode="auto">
                  <a:xfrm>
                    <a:off x="4572000" y="5943600"/>
                    <a:ext cx="1600200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57150" cap="flat" cmpd="sng" algn="ctr">
                    <a:solidFill>
                      <a:srgbClr val="FFC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4" name="Rectangle 33"/>
                  <p:cNvSpPr/>
                  <p:nvPr/>
                </p:nvSpPr>
                <p:spPr bwMode="auto">
                  <a:xfrm>
                    <a:off x="4572000" y="5257800"/>
                    <a:ext cx="381000" cy="685800"/>
                  </a:xfrm>
                  <a:prstGeom prst="rect">
                    <a:avLst/>
                  </a:prstGeom>
                  <a:noFill/>
                  <a:ln w="57150" cap="flat" cmpd="sng" algn="ctr">
                    <a:solidFill>
                      <a:srgbClr val="FFC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i="0" u="none" strike="noStrike" normalizeH="0" baseline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  <a:latin typeface="Times New Roman" pitchFamily="18" charset="0"/>
                    </a:endParaRPr>
                  </a:p>
                </p:txBody>
              </p:sp>
            </p:grpSp>
            <p:sp>
              <p:nvSpPr>
                <p:cNvPr id="31" name="TextBox 30"/>
                <p:cNvSpPr txBox="1"/>
                <p:nvPr/>
              </p:nvSpPr>
              <p:spPr>
                <a:xfrm>
                  <a:off x="2438400" y="5181600"/>
                  <a:ext cx="1295400" cy="686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Offered</a:t>
                  </a:r>
                </a:p>
                <a:p>
                  <a:pPr algn="ctr"/>
                  <a:r>
                    <a:rPr lang="en-US" sz="1400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course</a:t>
                  </a:r>
                  <a:endParaRPr lang="en-US" sz="1400" dirty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10" name="Group 166"/>
              <p:cNvGrpSpPr/>
              <p:nvPr/>
            </p:nvGrpSpPr>
            <p:grpSpPr>
              <a:xfrm>
                <a:off x="5943600" y="4876800"/>
                <a:ext cx="1371600" cy="686000"/>
                <a:chOff x="2286000" y="5181600"/>
                <a:chExt cx="1447800" cy="686000"/>
              </a:xfrm>
            </p:grpSpPr>
            <p:grpSp>
              <p:nvGrpSpPr>
                <p:cNvPr id="25" name="Group 70"/>
                <p:cNvGrpSpPr/>
                <p:nvPr/>
              </p:nvGrpSpPr>
              <p:grpSpPr>
                <a:xfrm>
                  <a:off x="2286000" y="5181600"/>
                  <a:ext cx="1295400" cy="609600"/>
                  <a:chOff x="4572000" y="5257800"/>
                  <a:chExt cx="1600200" cy="685800"/>
                </a:xfrm>
              </p:grpSpPr>
              <p:cxnSp>
                <p:nvCxnSpPr>
                  <p:cNvPr id="27" name="Straight Connector 26"/>
                  <p:cNvCxnSpPr/>
                  <p:nvPr/>
                </p:nvCxnSpPr>
                <p:spPr bwMode="auto">
                  <a:xfrm>
                    <a:off x="4572000" y="5257800"/>
                    <a:ext cx="1600200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57150" cap="flat" cmpd="sng" algn="ctr">
                    <a:solidFill>
                      <a:srgbClr val="FFC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8" name="Straight Connector 27"/>
                  <p:cNvCxnSpPr/>
                  <p:nvPr/>
                </p:nvCxnSpPr>
                <p:spPr bwMode="auto">
                  <a:xfrm>
                    <a:off x="4572000" y="5943600"/>
                    <a:ext cx="1600200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57150" cap="flat" cmpd="sng" algn="ctr">
                    <a:solidFill>
                      <a:srgbClr val="FFC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29" name="Rectangle 28"/>
                  <p:cNvSpPr/>
                  <p:nvPr/>
                </p:nvSpPr>
                <p:spPr bwMode="auto">
                  <a:xfrm>
                    <a:off x="4572000" y="5257800"/>
                    <a:ext cx="381000" cy="685800"/>
                  </a:xfrm>
                  <a:prstGeom prst="rect">
                    <a:avLst/>
                  </a:prstGeom>
                  <a:noFill/>
                  <a:ln w="57150" cap="flat" cmpd="sng" algn="ctr">
                    <a:solidFill>
                      <a:srgbClr val="FFC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i="0" u="none" strike="noStrike" normalizeH="0" baseline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  <a:latin typeface="Times New Roman" pitchFamily="18" charset="0"/>
                    </a:endParaRPr>
                  </a:p>
                </p:txBody>
              </p:sp>
            </p:grpSp>
            <p:sp>
              <p:nvSpPr>
                <p:cNvPr id="26" name="TextBox 25"/>
                <p:cNvSpPr txBox="1"/>
                <p:nvPr/>
              </p:nvSpPr>
              <p:spPr>
                <a:xfrm>
                  <a:off x="2438400" y="5181600"/>
                  <a:ext cx="1295400" cy="6860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Offered</a:t>
                  </a:r>
                </a:p>
                <a:p>
                  <a:pPr algn="ctr"/>
                  <a:r>
                    <a:rPr lang="en-US" sz="1400" dirty="0" smtClean="0">
                      <a:ln w="18415" cmpd="sng">
                        <a:noFill/>
                        <a:prstDash val="solid"/>
                      </a:ln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rPr>
                    <a:t>course</a:t>
                  </a:r>
                  <a:endParaRPr lang="en-US" sz="1400" dirty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</p:grpSp>
          <p:cxnSp>
            <p:nvCxnSpPr>
              <p:cNvPr id="11" name="Straight Arrow Connector 10"/>
              <p:cNvCxnSpPr>
                <a:stCxn id="55" idx="4"/>
              </p:cNvCxnSpPr>
              <p:nvPr/>
            </p:nvCxnSpPr>
            <p:spPr>
              <a:xfrm flipH="1">
                <a:off x="6556248" y="2632410"/>
                <a:ext cx="12666" cy="224439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>
                <a:off x="5181600" y="2057400"/>
                <a:ext cx="0" cy="114300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>
                <a:off x="4724400" y="1822543"/>
                <a:ext cx="0" cy="1377857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/>
              <p:cNvCxnSpPr/>
              <p:nvPr/>
            </p:nvCxnSpPr>
            <p:spPr>
              <a:xfrm flipV="1">
                <a:off x="4876800" y="3962400"/>
                <a:ext cx="0" cy="129540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/>
              <p:nvPr/>
            </p:nvCxnSpPr>
            <p:spPr>
              <a:xfrm>
                <a:off x="1600200" y="1828800"/>
                <a:ext cx="1219200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>
                <a:endCxn id="58" idx="2"/>
              </p:cNvCxnSpPr>
              <p:nvPr/>
            </p:nvCxnSpPr>
            <p:spPr>
              <a:xfrm>
                <a:off x="1600200" y="5181599"/>
                <a:ext cx="1093066" cy="3820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1600200" y="1828800"/>
                <a:ext cx="0" cy="9906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flipV="1">
                <a:off x="1600200" y="4038600"/>
                <a:ext cx="0" cy="11430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>
                <a:endCxn id="58" idx="6"/>
              </p:cNvCxnSpPr>
              <p:nvPr/>
            </p:nvCxnSpPr>
            <p:spPr>
              <a:xfrm flipH="1" flipV="1">
                <a:off x="4088535" y="5219800"/>
                <a:ext cx="788265" cy="380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flipH="1" flipV="1">
                <a:off x="4106221" y="1822543"/>
                <a:ext cx="618180" cy="18336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H="1">
                <a:off x="5181600" y="2057400"/>
                <a:ext cx="685800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/>
              <p:cNvSpPr txBox="1"/>
              <p:nvPr/>
            </p:nvSpPr>
            <p:spPr>
              <a:xfrm>
                <a:off x="1524000" y="1419013"/>
                <a:ext cx="1227221" cy="403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 smtClean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rPr>
                  <a:t>Course</a:t>
                </a:r>
                <a:endParaRPr lang="en-US" sz="1400" dirty="0">
                  <a:ln w="18415" cmpd="sng">
                    <a:noFill/>
                    <a:prstDash val="solid"/>
                  </a:ln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1447801" y="5181599"/>
                <a:ext cx="1227221" cy="686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 smtClean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rPr>
                  <a:t>Available</a:t>
                </a:r>
              </a:p>
              <a:p>
                <a:pPr algn="ctr"/>
                <a:r>
                  <a:rPr lang="en-US" sz="1400" dirty="0" smtClean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rPr>
                  <a:t>faculty</a:t>
                </a:r>
                <a:endParaRPr lang="en-US" sz="1400" dirty="0">
                  <a:ln w="18415" cmpd="sng">
                    <a:noFill/>
                    <a:prstDash val="solid"/>
                  </a:ln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5486400" y="3429000"/>
                <a:ext cx="1227221" cy="686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 smtClean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rPr>
                  <a:t>Available</a:t>
                </a:r>
              </a:p>
              <a:p>
                <a:pPr algn="ctr"/>
                <a:r>
                  <a:rPr lang="en-US" sz="1400" dirty="0" smtClean="0">
                    <a:ln w="18415" cmpd="sng">
                      <a:noFill/>
                      <a:prstDash val="solid"/>
                    </a:ln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rPr>
                  <a:t>rooms</a:t>
                </a:r>
                <a:endParaRPr lang="en-US" sz="1400" dirty="0">
                  <a:ln w="18415" cmpd="sng">
                    <a:noFill/>
                    <a:prstDash val="solid"/>
                  </a:ln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55" name="Oval 54"/>
            <p:cNvSpPr/>
            <p:nvPr/>
          </p:nvSpPr>
          <p:spPr>
            <a:xfrm>
              <a:off x="6239052" y="2653346"/>
              <a:ext cx="1260786" cy="1167726"/>
            </a:xfrm>
            <a:prstGeom prst="ellipse">
              <a:avLst/>
            </a:prstGeom>
            <a:noFill/>
            <a:ln w="476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6" name="Oval 55"/>
            <p:cNvSpPr/>
            <p:nvPr/>
          </p:nvSpPr>
          <p:spPr>
            <a:xfrm>
              <a:off x="3383334" y="2745200"/>
              <a:ext cx="1260786" cy="1167726"/>
            </a:xfrm>
            <a:prstGeom prst="ellipse">
              <a:avLst/>
            </a:prstGeom>
            <a:noFill/>
            <a:ln w="476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8" name="Oval 57"/>
            <p:cNvSpPr/>
            <p:nvPr/>
          </p:nvSpPr>
          <p:spPr>
            <a:xfrm>
              <a:off x="3367353" y="5210642"/>
              <a:ext cx="1260786" cy="1167726"/>
            </a:xfrm>
            <a:prstGeom prst="ellipse">
              <a:avLst/>
            </a:prstGeom>
            <a:noFill/>
            <a:ln w="476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097088"/>
            <a:ext cx="7429499" cy="4379911"/>
          </a:xfrm>
        </p:spPr>
        <p:txBody>
          <a:bodyPr>
            <a:normAutofit/>
          </a:bodyPr>
          <a:lstStyle/>
          <a:p>
            <a:r>
              <a:rPr lang="en-US" sz="3600" dirty="0" smtClean="0"/>
              <a:t>Data Flow Rules</a:t>
            </a:r>
          </a:p>
          <a:p>
            <a:pPr lvl="1"/>
            <a:r>
              <a:rPr lang="en-US" sz="3200" dirty="0" smtClean="0"/>
              <a:t>Process</a:t>
            </a:r>
          </a:p>
          <a:p>
            <a:pPr lvl="2"/>
            <a:r>
              <a:rPr lang="en-US" sz="2400" dirty="0" smtClean="0"/>
              <a:t>No process can have only outputs.  It is making data from nothing.  If an object has only outputs, then it must be a source.</a:t>
            </a:r>
          </a:p>
          <a:p>
            <a:pPr lvl="3"/>
            <a:r>
              <a:rPr lang="en-US" sz="2000" dirty="0" smtClean="0"/>
              <a:t>MIRACLE</a:t>
            </a:r>
          </a:p>
          <a:p>
            <a:pPr lvl="2"/>
            <a:r>
              <a:rPr lang="en-US" sz="2400" dirty="0" smtClean="0"/>
              <a:t>No process can have only inputs.  If an object has only inputs, then it must be a sink.</a:t>
            </a:r>
          </a:p>
          <a:p>
            <a:pPr lvl="3"/>
            <a:r>
              <a:rPr lang="en-US" sz="2000" dirty="0" smtClean="0"/>
              <a:t>BLACK HOLE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3200" dirty="0" smtClean="0"/>
              <a:t>Data Store</a:t>
            </a:r>
          </a:p>
          <a:p>
            <a:pPr lvl="2"/>
            <a:r>
              <a:rPr lang="en-US" sz="2400" dirty="0" smtClean="0"/>
              <a:t>Data cannot move directly from one data store to another data store.  Data must be moved by a process.</a:t>
            </a:r>
          </a:p>
          <a:p>
            <a:pPr lvl="2"/>
            <a:r>
              <a:rPr lang="en-US" sz="2400" dirty="0" smtClean="0"/>
              <a:t>Data cannot move directly from an outside source to a data store.  Data must be moved by a process that receives data from the source and places the data into the data store.</a:t>
            </a:r>
          </a:p>
          <a:p>
            <a:pPr lvl="2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3200" dirty="0" smtClean="0"/>
              <a:t>Source/Sink</a:t>
            </a:r>
          </a:p>
          <a:p>
            <a:pPr lvl="2"/>
            <a:r>
              <a:rPr lang="en-US" sz="2400" dirty="0" smtClean="0"/>
              <a:t>Data cannot move directly from a source to a sink.  It must be moved by a process if the data are of any concern to our system.  Otherwise, the data flow is not shown on the DFD.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1649</TotalTime>
  <Words>489</Words>
  <Application>Microsoft Office PowerPoint</Application>
  <PresentationFormat>On-screen Show (4:3)</PresentationFormat>
  <Paragraphs>123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Software Engineering</vt:lpstr>
      <vt:lpstr>Data Flow Diagram</vt:lpstr>
      <vt:lpstr>Data Flow Diagram</vt:lpstr>
      <vt:lpstr>Data Flow Diagram</vt:lpstr>
      <vt:lpstr>Data Flow Diagram</vt:lpstr>
      <vt:lpstr>Data Flow Diagram</vt:lpstr>
      <vt:lpstr>Data Flow Diagram</vt:lpstr>
      <vt:lpstr>Data Flow Diagram</vt:lpstr>
      <vt:lpstr>Data Flow Diagram</vt:lpstr>
      <vt:lpstr>Data Flow Diagram</vt:lpstr>
      <vt:lpstr>Data Flow Diagram</vt:lpstr>
      <vt:lpstr>Data Flow Diagram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rservando</dc:creator>
  <cp:lastModifiedBy>lenovo</cp:lastModifiedBy>
  <cp:revision>266</cp:revision>
  <cp:lastPrinted>1601-01-01T00:00:00Z</cp:lastPrinted>
  <dcterms:created xsi:type="dcterms:W3CDTF">2012-05-21T01:57:40Z</dcterms:created>
  <dcterms:modified xsi:type="dcterms:W3CDTF">2020-07-11T05:22:20Z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TC010690321033</vt:lpwstr>
  </property>
</Properties>
</file>